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
- https://kubernetes.io/docs/concepts/overview/components/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https://kubernetes.io/docs/home/
- https://kubernetes.io/docs/concepts/
- https://kubernetes.io/docs/setup/
- https://kubernetes.io/docs/reference/kubectl/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
- https://kubernetes.io/docs/concepts/overview/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https://kubernetes.io/docs/concepts/overview/components/
- https://kubernetes.io/docs/concepts/architecture/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https://kubernetes.io/docs/concepts/overview/components/
- https://kubernetes.io/docs/concepts/overview/kubernetes-api/
- https://kubernetes.io/docs/concepts/architecture/controller/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https://kubernetes.io/docs/concepts/overview/components/
- https://kubernetes.io/docs/concepts/architecture/nodes/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https://kubernetes.io/docs/concepts/architecture/controller/
- https://kubernetes.io/docs/concepts/overview/kubernetes-api/
- https://kubernetes.io/docs/concepts/overview/working-with-objects/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https://kubernetes.io/docs/concepts/overview/working-with-objects/
- https://kubernetes.io/docs/reference/glossary/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https://kubernetes.io/docs/concepts/services-networking/service/
- https://kubernetes.io/docs/concepts/services-networking/ingress/
- https://kubernetes.io/docs/concepts/services-networking/gateway/
- https://kubernetes.io/docs/concepts/services-networking/network-policies/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https://kubernetes.io/docs/concepts/storage/volumes/
- https://kubernetes.io/docs/concepts/storage/persistent-volumes/
- https://kubernetes.io/docs/concepts/workloads/controllers/statefulset/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https://kubernetes.io/docs/concepts/workloads/controllers/deployment/
- https://kubernetes.io/docs/concepts/workloads/controllers/statefulset/
- https://kubernetes.io/docs/concepts/workloads/controllers/daemonset/
- https://kubernetes.io/docs/concepts/workloads/controllers/job/
- https://kubernetes.io/docs/concepts/workloads/controllers/cron-jobs/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https://kubernetes.io/docs/concepts/configuration/manage-resources-containers/
- https://kubernetes.io/docs/concepts/workloads/autoscaling/horizontal-pod-autoscale/
- https://kubernetes.io/docs/concepts/scheduling-eviction/taint-and-toleration/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https://kubernetes.io/docs/concepts/security/
- https://kubernetes.io/docs/reference/access-authn-authz/rbac/
- https://kubernetes.io/docs/concepts/security/rbac-good-practices/
- https://kubernetes.io/docs/concepts/configuration/secret/
- https://kubernetes.io/docs/concepts/security/secrets-good-practices/
- https://kubernetes.io/docs/concepts/services-networking/network-policies/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https://kubernetes.io/docs/tasks/configure-pod-container/configure-liveness-readiness-startup-probes/
- https://kubernetes.io/docs/concepts/cluster-administration/logging/
- https://kubernetes.io/docs/concepts/cluster-administration/system-metrics/
- https://kubernetes.io/docs/reference/kubectl/quick-reference/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https://kubernetes.io/docs/setup/
- https://kubernetes.io/docs/tutorials/kubernetes-basics/create-cluster/cluster-intro/
- https://kubernetes.io/docs/reference/setup-tools/kubeadm/
- https://kubernetes.io/blog/2026/01/28/experimenting-gateway-api-with-kind/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https://kubernetes.io/docs/tutorials/kubernetes-basics/create-cluster/cluster-intro/
- https://kubernetes.io/docs/tutorials/hello-minikube/
- https://kubernetes.io/blog/2026/01/28/experimenting-gateway-api-with-kind/
- https://kubernetes.io/images/blog/2019-03-28-running-kubernetes-locally-on-linux-with-minikube/module_01_cluster.png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https://kubernetes.io/docs/reference/setup-tools/kubeadm/
- https://kubernetes.io/docs/setup/production-environment/tools/kubeadm/install-kubeadm/
- https://kubernetes.io/docs/setup/production-environment/tools/kubeadm/create-cluster-kubeadm/
- https://d33wubrfki0l68.cloudfront.net/e4a8ddb49f07de8b2c2dbbfc7c9bedcfe0816701/600b1/images/kubeadm-stacked-color.png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https://kubernetes.io/docs/reference/kubectl/
- https://kubernetes.io/docs/reference/kubectl/quick-reference/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https://kubernetes.io/docs/reference/kubectl/quick-reference/
- https://kubernetes.io/docs/reference/generated/kubectl/kubectl-commands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https://kubernetes.io/docs/reference/kubectl/quick-reference/
- https://kubernetes.io/docs/reference/generated/kubectl/kubectl-commands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https://kubernetes.io/docs/concepts/overview/working-with-objects/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https://kubernetes.io/docs/concepts/workloads/controllers/deployment/
- https://kubernetes.io/docs/concepts/services-networking/service/
- https://kubernetes.io/docs/concepts/services-networking/ingress/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https://kubernetes.io/docs/concepts/configuration/configmap/
- https://kubernetes.io/docs/concepts/configuration/secret/
- https://kubernetes.io/docs/tasks/configure-pod-container/configure-liveness-readiness-startup-probes/
- https://kubernetes.io/docs/concepts/configuration/manage-resources-containers/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https://kubernetes.io/docs/concepts/workloads/controllers/statefulset/
- https://kubernetes.io/docs/concepts/storage/persistent-volumes/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https://kubernetes.io/docs/concepts/workloads/controllers/job/
- https://kubernetes.io/docs/concepts/workloads/controllers/cron-jobs/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https://kubernetes.io/docs/tasks/extend-kubernetes/custom-resources/custom-resource-definitions/
- https://kubernetes.io/docs/concepts/extend-kubernetes/operator/
- https://kubernetes.io/docs/concepts/services-networking/gateway/
- https://kubernetes.io/blog/2021/04/22/evolving-kubernetes-networking-with-the-gateway-api/gateway-api-resources.png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https://kubernetes.io/docs/concepts/workloads/management/
- https://kubernetes.io/docs/tasks/manage-kubernetes-objects/kustomization/
- https://helm.sh/
- https://argo-cd.readthedocs.io/en/stable/
- https://fluxcd.io/
- https://prometheus.io/
- https://istio.io/latest/about/service-mesh/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
- https://kubernetes.io/docs/concepts/workloads/
- https://kubernetes.io/docs/concepts/workloads/controllers/job/
- https://kubernetes.io/docs/concepts/workloads/autoscaling/horizontal-pod-autoscale/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https://kubernetes.io/docs/concepts/security/rbac-good-practices/
- https://kubernetes.io/docs/concepts/security/secrets-good-practices/
- https://kubernetes.io/docs/concepts/services-networking/network-policies/
- https://kubernetes.io/docs/concepts/configuration/manage-resources-containers/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https://kubernetes.io/docs/home/
- https://kubernetes.io/docs/reference/kubectl/quick-reference/
- https://kubernetes.io/docs/concepts/overview/components/
- https://kubernetes.io/docs/setup/production-environment/tools/kubeadm/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960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Kubernetes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719072"/>
            <a:ext cx="48920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8E6FF"/>
                </a:solidFill>
              </a:rPr>
              <a:t>Apresentação completa: arquitetura, objetos, comandos, configuração inicial, implementações práticas, segurança, observabilidade e ecossistema compatível.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3154680"/>
            <a:ext cx="1508760" cy="256032"/>
          </a:xfrm>
          <a:prstGeom prst="roundRect">
            <a:avLst>
              <a:gd name="adj" fmla="val 14286"/>
            </a:avLst>
          </a:prstGeom>
          <a:solidFill>
            <a:srgbClr val="326CE5">
              <a:alpha val="92000"/>
            </a:srgbClr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195828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 oficial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59152" y="315468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2EA27E">
              <a:alpha val="92000"/>
            </a:srgbClr>
          </a:solidFill>
          <a:ln w="12700">
            <a:solidFill>
              <a:srgbClr val="2EA2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3195828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Visão prática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315468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D98E04">
              <a:alpha val="92000"/>
            </a:srgbClr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319582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pt-BR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373075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BFD5FF"/>
                </a:solidFill>
              </a:rPr>
              <a:t>Baseado principalmente em kubernetes.io e complementado por páginas oficiais de ferramentas do ecossistema Kubernetes para a seção de compatibilidade.</a:t>
            </a:r>
            <a:endParaRPr lang="en-US" sz="1320" dirty="0"/>
          </a:p>
        </p:txBody>
      </p:sp>
      <p:pic>
        <p:nvPicPr>
          <p:cNvPr id="11" name="Image 0" descr="/mnt/data/k8s_deck/assets/components-of-kuberne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035226"/>
            <a:ext cx="5623560" cy="25680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852160" y="594360"/>
            <a:ext cx="5806440" cy="5440680"/>
          </a:xfrm>
          <a:prstGeom prst="roundRect">
            <a:avLst>
              <a:gd name="adj" fmla="val 1345"/>
            </a:avLst>
          </a:prstGeom>
          <a:solidFill>
            <a:srgbClr val="0F2B4D">
              <a:alpha val="72000"/>
            </a:srgbClr>
          </a:solidFill>
          <a:ln w="12700">
            <a:solidFill>
              <a:srgbClr val="4B78B8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6080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 básico ao uso em produção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9FF"/>
                </a:solidFill>
              </a:rPr>
              <a:t>Conceitos, comandos e padrões de operação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411712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E4FF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da apresentação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0058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1133856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Fundamentos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1426464"/>
            <a:ext cx="47914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o que é Kubernetes, arquitetura, API, objetos, desired state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55080" y="10058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DFE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9672" y="1133856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Plataforma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9672" y="1426464"/>
            <a:ext cx="47914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rede, armazenamento, controladores, agendamento, autoscaling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26060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" y="2734056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Operação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" y="3026664"/>
            <a:ext cx="47914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instalação, configuração inicial, kubectl, troubleshooting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55080" y="26060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DFE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19672" y="2734056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Implementação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19672" y="3026664"/>
            <a:ext cx="47914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exemplos reais com Deployment, Service, Ingress, ConfigMap, Secret, StatefulSet, Job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85800" y="42062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0392" y="4334256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Extensão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" y="4626864"/>
            <a:ext cx="47914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CRDs, Operators, Gateway API e ferramentas compatíveis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55080" y="42062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DFE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4334256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Adoção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19672" y="4626864"/>
            <a:ext cx="47914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casos reais, boas práticas, erros comuns e roadmap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49808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728A"/>
                </a:solidFill>
              </a:rPr>
              <a:t>Leitura sugerida: primeiro entenda o modelo declarativo e os objetos; depois passe para instalação, operação e exemplos completos.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Kubernetes em 1 minuto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0972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225296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O que 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517904"/>
            <a:ext cx="3236976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Plataforma open source para automatizar deploy, scaling e gestão de aplicações containerizadas. Trabalha com configuração declarativa, API forte e loops de controle.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15968" y="10972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225296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Problemas que resolve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1517904"/>
            <a:ext cx="3236976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empacotamento consistente, rollout, self-healing, descoberta de serviço, balanceamento, gestão de segredos/configuração, execução batch e portabilidade entre ambientes.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73568" y="10972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1225296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Por que virou padrão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38160" y="1517904"/>
            <a:ext cx="3236976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ecossistema enorme, APIs extensíveis, abstrações estáveis, suporte em cloud/on-prem, maturidade operacional e aderência forte à CNCF.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58368" y="3611880"/>
            <a:ext cx="10972800" cy="2148840"/>
          </a:xfrm>
          <a:prstGeom prst="roundRect">
            <a:avLst>
              <a:gd name="adj" fmla="val 3404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739896"/>
            <a:ext cx="10643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Capacidades nativas mais importantes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032504"/>
            <a:ext cx="10643616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• rollouts e rollbacks graduais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• Service discovery e load balancing via Service/DNS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• self-healing com restart, reschedule e reconciliação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• horizontal scaling e integração com autoscaling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• segredos, config e storage orquestrado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• extensibilidade via CRD, Operator e APIs adicionais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 do cluster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2148840"/>
            <a:ext cx="1828800" cy="0"/>
          </a:xfrm>
          <a:prstGeom prst="line">
            <a:avLst/>
          </a:prstGeom>
          <a:noFill/>
          <a:ln w="2794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72400" y="2148840"/>
            <a:ext cx="-1828800" cy="0"/>
          </a:xfrm>
          <a:prstGeom prst="line">
            <a:avLst/>
          </a:prstGeom>
          <a:noFill/>
          <a:ln w="2794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3886200"/>
            <a:ext cx="1234440" cy="0"/>
          </a:xfrm>
          <a:prstGeom prst="line">
            <a:avLst/>
          </a:prstGeom>
          <a:noFill/>
          <a:ln w="25400">
            <a:solidFill>
              <a:srgbClr val="2EA27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098280" y="3886200"/>
            <a:ext cx="-1234440" cy="0"/>
          </a:xfrm>
          <a:prstGeom prst="line">
            <a:avLst/>
          </a:prstGeom>
          <a:noFill/>
          <a:ln w="25400">
            <a:solidFill>
              <a:srgbClr val="2EA27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" y="1234440"/>
            <a:ext cx="2240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6112" y="1362456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Usuário / CI / GitOps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" y="1655064"/>
            <a:ext cx="1911096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kubectl, pipelines, portais internos, controladores externos e ferramentas do ecossistema falam com o cluster pela API.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2880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1362456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Control plane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28032" y="1655064"/>
            <a:ext cx="2551176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API server, etcd, scheduler, controller-manager e opcionalmente cloud-controller-manager.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235440" y="1234440"/>
            <a:ext cx="2240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00032" y="1362456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Serviços externos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00032" y="1655064"/>
            <a:ext cx="1911096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load balancer, volumes, IAM, DNS, observabilidade, registry, KMS e integrações cloud/on-prem.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14400" y="4114800"/>
            <a:ext cx="3749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78992" y="4242816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Worker node 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4535424"/>
            <a:ext cx="3419856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kubelet + runtime + rede + Pods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Executa workloads agendados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498080" y="4114800"/>
            <a:ext cx="3749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62672" y="4242816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Worker node 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62672" y="4535424"/>
            <a:ext cx="3419856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mesmo modelo do node A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Escala horizontalmente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22960" y="61264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D728A"/>
                </a:solidFill>
              </a:rPr>
              <a:t>Fluxo mental: você declara estado desejado → o control plane reconcilia → os nodes executam Pods → Services e políticas organizam comunicação e exposição.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plane em detalhe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731520" cy="0"/>
          </a:xfrm>
          <a:prstGeom prst="line">
            <a:avLst/>
          </a:prstGeom>
          <a:noFill/>
          <a:ln w="2286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148840"/>
            <a:ext cx="731520" cy="0"/>
          </a:xfrm>
          <a:prstGeom prst="line">
            <a:avLst/>
          </a:prstGeom>
          <a:noFill/>
          <a:ln w="2286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040880" y="2148840"/>
            <a:ext cx="731520" cy="0"/>
          </a:xfrm>
          <a:prstGeom prst="line">
            <a:avLst/>
          </a:prstGeom>
          <a:noFill/>
          <a:ln w="2286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418320" y="2148840"/>
            <a:ext cx="731520" cy="0"/>
          </a:xfrm>
          <a:prstGeom prst="line">
            <a:avLst/>
          </a:prstGeom>
          <a:noFill/>
          <a:ln w="2286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1417320"/>
            <a:ext cx="1325880" cy="1874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87552" y="1545336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kube-apiserver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1837944"/>
            <a:ext cx="996696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5D728A"/>
                </a:solidFill>
              </a:rPr>
              <a:t>front-end HTTP/REST do cluster; autentica, valida e persiste objetos</a:t>
            </a:r>
            <a:endParaRPr lang="en-US" sz="131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1325880" cy="1874520"/>
          </a:xfrm>
          <a:prstGeom prst="roundRect">
            <a:avLst>
              <a:gd name="adj" fmla="val 5517"/>
            </a:avLst>
          </a:prstGeom>
          <a:solidFill>
            <a:srgbClr val="FFF9EE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64992" y="1545336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etcd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64992" y="1837944"/>
            <a:ext cx="996696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5D728A"/>
                </a:solidFill>
              </a:rPr>
              <a:t>banco chave-valor altamente disponível para estado do cluster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5577840" y="1417320"/>
            <a:ext cx="1325880" cy="1874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42432" y="1545336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scheduler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42432" y="1837944"/>
            <a:ext cx="996696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5D728A"/>
                </a:solidFill>
              </a:rPr>
              <a:t>seleciona nodes para Pods pendentes com base em recursos, afinidade e regras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7955280" y="1417320"/>
            <a:ext cx="1325880" cy="1874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19872" y="1545336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controller-manager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19872" y="1837944"/>
            <a:ext cx="996696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5D728A"/>
                </a:solidFill>
              </a:rPr>
              <a:t>executa loops de reconciliação: Deployment, Job, Node, ServiceAccount e outros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10058400" y="1417320"/>
            <a:ext cx="1325880" cy="1874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222992" y="1545336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cloud-controller-manager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22992" y="1837944"/>
            <a:ext cx="996696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5D728A"/>
                </a:solidFill>
              </a:rPr>
              <a:t>integra com APIs do provedor de nuvem: LB, rotas, volumes e nodes</a:t>
            </a:r>
            <a:endParaRPr lang="en-US" sz="1310" dirty="0"/>
          </a:p>
        </p:txBody>
      </p:sp>
      <p:sp>
        <p:nvSpPr>
          <p:cNvPr id="26" name="Shape 24"/>
          <p:cNvSpPr/>
          <p:nvPr/>
        </p:nvSpPr>
        <p:spPr>
          <a:xfrm>
            <a:off x="868680" y="3886200"/>
            <a:ext cx="10927080" cy="1508760"/>
          </a:xfrm>
          <a:prstGeom prst="roundRect">
            <a:avLst>
              <a:gd name="adj" fmla="val 4848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3272" y="4014216"/>
            <a:ext cx="10597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Como a decisão acontece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3272" y="4306824"/>
            <a:ext cx="1059789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1) objeto chega via API → 2) é persistido no etcd → 3) controllers observam diferenças entre spec e status → 4) scheduler decide placement → 5) kubelet e proxies nos nodes aplicam o estado de execução.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68680" y="58064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728A"/>
                </a:solidFill>
              </a:rPr>
              <a:t>Observação prática: tudo gira ao redor da API. Quase toda ferramenta “Kubernetes-compatible” interage com recursos e eventos expostos pelo API server.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Worker nodes em detalhe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2194560"/>
            <a:ext cx="1097280" cy="0"/>
          </a:xfrm>
          <a:prstGeom prst="line">
            <a:avLst/>
          </a:prstGeom>
          <a:noFill/>
          <a:ln w="2413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0" y="2194560"/>
            <a:ext cx="1097280" cy="0"/>
          </a:xfrm>
          <a:prstGeom prst="line">
            <a:avLst/>
          </a:prstGeom>
          <a:noFill/>
          <a:ln w="2413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0" y="2194560"/>
            <a:ext cx="1097280" cy="0"/>
          </a:xfrm>
          <a:prstGeom prst="line">
            <a:avLst/>
          </a:prstGeom>
          <a:noFill/>
          <a:ln w="2413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1417320"/>
            <a:ext cx="1645920" cy="19202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78992" y="1545336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kubelet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1837944"/>
            <a:ext cx="131673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agente do node; registra a máquina, lê especificações de Pod e garante execução saudável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657600" y="1417320"/>
            <a:ext cx="1645920" cy="19202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22192" y="1545336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runtime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22192" y="1837944"/>
            <a:ext cx="131673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containerd ou CRI-O via CRI; baixa imagens e executa containers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0" y="1417320"/>
            <a:ext cx="1645920" cy="19202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65392" y="1545336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rede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65392" y="1837944"/>
            <a:ext cx="131673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CNI + kube-proxy (ou equivalente do plugin) para Service, DNS e conectividade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44000" y="1417320"/>
            <a:ext cx="1645920" cy="19202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08592" y="1545336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Pods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08592" y="1837944"/>
            <a:ext cx="131673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menor unidade implantável; pode ter 1+ containers e volumes compartilhados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68680" y="37947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33272" y="3922776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Node = host de execução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3272" y="4215384"/>
            <a:ext cx="4791456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• pode ser VM ou máquina física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• precisa de runtime, kubelet e rede compatível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• recebe workloads conforme scheduler e políticas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172200" y="37947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36792" y="3922776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Responsabilidades operacionais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36792" y="4215384"/>
            <a:ext cx="4791456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• saúde do host, kernel, cgroups, disco e rede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• drivers especializados (GPU, storage, NIC)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• logs locais, observabilidade e drenagem segura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declarativo e loop de reconciliação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7280" y="2971800"/>
            <a:ext cx="182880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46120" y="2971800"/>
            <a:ext cx="182880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94960" y="2971800"/>
            <a:ext cx="182880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543800" y="2971800"/>
            <a:ext cx="182880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210312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" y="2231136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Manifesto / Helm / Kustomize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" y="2523744"/>
            <a:ext cx="145389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D728A"/>
                </a:solidFill>
              </a:rPr>
              <a:t>você declara spec desejada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2834640" y="210312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99232" y="2231136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API server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99232" y="2523744"/>
            <a:ext cx="145389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D728A"/>
                </a:solidFill>
              </a:rPr>
              <a:t>valida e grava estado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4983480" y="210312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EAF2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48072" y="2231136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Controllers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48072" y="2523744"/>
            <a:ext cx="145389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D728A"/>
                </a:solidFill>
              </a:rPr>
              <a:t>comparam spec x status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7132320" y="210312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96912" y="2231136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Scheduler + kubelet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96912" y="2523744"/>
            <a:ext cx="145389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D728A"/>
                </a:solidFill>
              </a:rPr>
              <a:t>alocam e executam</a:t>
            </a:r>
            <a:endParaRPr lang="en-US" sz="1270" dirty="0"/>
          </a:p>
        </p:txBody>
      </p:sp>
      <p:sp>
        <p:nvSpPr>
          <p:cNvPr id="23" name="Shape 21"/>
          <p:cNvSpPr/>
          <p:nvPr/>
        </p:nvSpPr>
        <p:spPr>
          <a:xfrm>
            <a:off x="9281160" y="210312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45752" y="2231136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Status / eventos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45752" y="2523744"/>
            <a:ext cx="145389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D728A"/>
                </a:solidFill>
              </a:rPr>
              <a:t>feedback contínuo para novo reconcile</a:t>
            </a:r>
            <a:endParaRPr lang="en-US" sz="1270" dirty="0"/>
          </a:p>
        </p:txBody>
      </p:sp>
      <p:sp>
        <p:nvSpPr>
          <p:cNvPr id="26" name="Shape 24"/>
          <p:cNvSpPr/>
          <p:nvPr/>
        </p:nvSpPr>
        <p:spPr>
          <a:xfrm>
            <a:off x="868680" y="429768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3272" y="4425696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Por que isso importa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3272" y="4718304"/>
            <a:ext cx="497433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Você quase nunca “manda executar”; você descreve um resultado. Kubernetes trabalha continuamente para aproximar o estado real do estado desejado.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9360" y="429768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73952" y="4425696"/>
            <a:ext cx="460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Implicação prática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3952" y="4718304"/>
            <a:ext cx="460857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Trocas de imagem, número de réplicas, portas, tolerations, volumes e políticas são mudanças de configuração — não scripts ad hoc no host.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Objetos fundamentais do dia a dia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691640" cy="347472"/>
          </a:xfrm>
          <a:prstGeom prst="rect">
            <a:avLst/>
          </a:prstGeom>
          <a:solidFill>
            <a:srgbClr val="326CE5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97864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Objeto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331720" y="1143000"/>
            <a:ext cx="3840480" cy="347472"/>
          </a:xfrm>
          <a:prstGeom prst="rect">
            <a:avLst/>
          </a:prstGeom>
          <a:solidFill>
            <a:srgbClr val="326CE5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119786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Função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200" y="1143000"/>
            <a:ext cx="5440680" cy="347472"/>
          </a:xfrm>
          <a:prstGeom prst="rect">
            <a:avLst/>
          </a:prstGeom>
          <a:solidFill>
            <a:srgbClr val="326CE5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197864"/>
            <a:ext cx="5294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Quando usar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1490472"/>
            <a:ext cx="1691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1545336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Namespace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2331720" y="1490472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04872" y="154533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isola ambientes e times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6172200" y="1490472"/>
            <a:ext cx="5440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545336"/>
            <a:ext cx="5294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multi-tenant, dev/hml/prod, limites e políticas</a:t>
            </a:r>
            <a:endParaRPr lang="en-US" sz="1430" dirty="0"/>
          </a:p>
        </p:txBody>
      </p:sp>
      <p:sp>
        <p:nvSpPr>
          <p:cNvPr id="19" name="Shape 17"/>
          <p:cNvSpPr/>
          <p:nvPr/>
        </p:nvSpPr>
        <p:spPr>
          <a:xfrm>
            <a:off x="640080" y="1911096"/>
            <a:ext cx="1691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196596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Label / Selector</a:t>
            </a:r>
            <a:endParaRPr lang="en-US" sz="1430" dirty="0"/>
          </a:p>
        </p:txBody>
      </p:sp>
      <p:sp>
        <p:nvSpPr>
          <p:cNvPr id="21" name="Shape 19"/>
          <p:cNvSpPr/>
          <p:nvPr/>
        </p:nvSpPr>
        <p:spPr>
          <a:xfrm>
            <a:off x="2331720" y="1911096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04872" y="1965960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rotulam e agrupam recursos</a:t>
            </a:r>
            <a:endParaRPr lang="en-US" sz="1430" dirty="0"/>
          </a:p>
        </p:txBody>
      </p:sp>
      <p:sp>
        <p:nvSpPr>
          <p:cNvPr id="23" name="Shape 21"/>
          <p:cNvSpPr/>
          <p:nvPr/>
        </p:nvSpPr>
        <p:spPr>
          <a:xfrm>
            <a:off x="6172200" y="1911096"/>
            <a:ext cx="5440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1965960"/>
            <a:ext cx="5294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seleção de Pods por Service, Deployments e políticas</a:t>
            </a:r>
            <a:endParaRPr lang="en-US" sz="1430" dirty="0"/>
          </a:p>
        </p:txBody>
      </p:sp>
      <p:sp>
        <p:nvSpPr>
          <p:cNvPr id="25" name="Shape 23"/>
          <p:cNvSpPr/>
          <p:nvPr/>
        </p:nvSpPr>
        <p:spPr>
          <a:xfrm>
            <a:off x="640080" y="2331720"/>
            <a:ext cx="1691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2386584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Pod</a:t>
            </a:r>
            <a:endParaRPr lang="en-US" sz="1430" dirty="0"/>
          </a:p>
        </p:txBody>
      </p:sp>
      <p:sp>
        <p:nvSpPr>
          <p:cNvPr id="27" name="Shape 25"/>
          <p:cNvSpPr/>
          <p:nvPr/>
        </p:nvSpPr>
        <p:spPr>
          <a:xfrm>
            <a:off x="2331720" y="2331720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04872" y="2386584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menor unidade implantável</a:t>
            </a:r>
            <a:endParaRPr lang="en-US" sz="1430" dirty="0"/>
          </a:p>
        </p:txBody>
      </p:sp>
      <p:sp>
        <p:nvSpPr>
          <p:cNvPr id="29" name="Shape 27"/>
          <p:cNvSpPr/>
          <p:nvPr/>
        </p:nvSpPr>
        <p:spPr>
          <a:xfrm>
            <a:off x="6172200" y="2331720"/>
            <a:ext cx="5440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2386584"/>
            <a:ext cx="5294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containers coesos que compartilham rede e volumes</a:t>
            </a:r>
            <a:endParaRPr lang="en-US" sz="1430" dirty="0"/>
          </a:p>
        </p:txBody>
      </p:sp>
      <p:sp>
        <p:nvSpPr>
          <p:cNvPr id="31" name="Shape 29"/>
          <p:cNvSpPr/>
          <p:nvPr/>
        </p:nvSpPr>
        <p:spPr>
          <a:xfrm>
            <a:off x="640080" y="2752344"/>
            <a:ext cx="1691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2807208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Deployment</a:t>
            </a:r>
            <a:endParaRPr lang="en-US" sz="1430" dirty="0"/>
          </a:p>
        </p:txBody>
      </p:sp>
      <p:sp>
        <p:nvSpPr>
          <p:cNvPr id="33" name="Shape 31"/>
          <p:cNvSpPr/>
          <p:nvPr/>
        </p:nvSpPr>
        <p:spPr>
          <a:xfrm>
            <a:off x="2331720" y="2752344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04872" y="2807208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gerencia Pods stateless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6172200" y="2752344"/>
            <a:ext cx="5440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5352" y="2807208"/>
            <a:ext cx="5294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web apps, APIs, workers sem identidade estável</a:t>
            </a:r>
            <a:endParaRPr lang="en-US" sz="1430" dirty="0"/>
          </a:p>
        </p:txBody>
      </p:sp>
      <p:sp>
        <p:nvSpPr>
          <p:cNvPr id="37" name="Shape 35"/>
          <p:cNvSpPr/>
          <p:nvPr/>
        </p:nvSpPr>
        <p:spPr>
          <a:xfrm>
            <a:off x="640080" y="3172968"/>
            <a:ext cx="1691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322783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Service</a:t>
            </a:r>
            <a:endParaRPr lang="en-US" sz="1430" dirty="0"/>
          </a:p>
        </p:txBody>
      </p:sp>
      <p:sp>
        <p:nvSpPr>
          <p:cNvPr id="39" name="Shape 37"/>
          <p:cNvSpPr/>
          <p:nvPr/>
        </p:nvSpPr>
        <p:spPr>
          <a:xfrm>
            <a:off x="2331720" y="3172968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04872" y="322783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IP/DNS estável + balanceamento</a:t>
            </a:r>
            <a:endParaRPr lang="en-US" sz="1430" dirty="0"/>
          </a:p>
        </p:txBody>
      </p:sp>
      <p:sp>
        <p:nvSpPr>
          <p:cNvPr id="41" name="Shape 39"/>
          <p:cNvSpPr/>
          <p:nvPr/>
        </p:nvSpPr>
        <p:spPr>
          <a:xfrm>
            <a:off x="6172200" y="3172968"/>
            <a:ext cx="5440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45352" y="3227832"/>
            <a:ext cx="5294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acesso interno entre componentes</a:t>
            </a:r>
            <a:endParaRPr lang="en-US" sz="1430" dirty="0"/>
          </a:p>
        </p:txBody>
      </p:sp>
      <p:sp>
        <p:nvSpPr>
          <p:cNvPr id="43" name="Shape 41"/>
          <p:cNvSpPr/>
          <p:nvPr/>
        </p:nvSpPr>
        <p:spPr>
          <a:xfrm>
            <a:off x="640080" y="3593592"/>
            <a:ext cx="1691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" y="3648456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Ingress / Gateway</a:t>
            </a:r>
            <a:endParaRPr lang="en-US" sz="1430" dirty="0"/>
          </a:p>
        </p:txBody>
      </p:sp>
      <p:sp>
        <p:nvSpPr>
          <p:cNvPr id="45" name="Shape 43"/>
          <p:cNvSpPr/>
          <p:nvPr/>
        </p:nvSpPr>
        <p:spPr>
          <a:xfrm>
            <a:off x="2331720" y="3593592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04872" y="364845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entrada HTTP(S) e roteamento</a:t>
            </a:r>
            <a:endParaRPr lang="en-US" sz="1430" dirty="0"/>
          </a:p>
        </p:txBody>
      </p:sp>
      <p:sp>
        <p:nvSpPr>
          <p:cNvPr id="47" name="Shape 45"/>
          <p:cNvSpPr/>
          <p:nvPr/>
        </p:nvSpPr>
        <p:spPr>
          <a:xfrm>
            <a:off x="6172200" y="3593592"/>
            <a:ext cx="5440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45352" y="3648456"/>
            <a:ext cx="5294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exposição north-south, domínios e TLS</a:t>
            </a:r>
            <a:endParaRPr lang="en-US" sz="1430" dirty="0"/>
          </a:p>
        </p:txBody>
      </p:sp>
      <p:sp>
        <p:nvSpPr>
          <p:cNvPr id="49" name="Shape 47"/>
          <p:cNvSpPr/>
          <p:nvPr/>
        </p:nvSpPr>
        <p:spPr>
          <a:xfrm>
            <a:off x="640080" y="4014216"/>
            <a:ext cx="1691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" y="406908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ConfigMap / Secret</a:t>
            </a:r>
            <a:endParaRPr lang="en-US" sz="1430" dirty="0"/>
          </a:p>
        </p:txBody>
      </p:sp>
      <p:sp>
        <p:nvSpPr>
          <p:cNvPr id="51" name="Shape 49"/>
          <p:cNvSpPr/>
          <p:nvPr/>
        </p:nvSpPr>
        <p:spPr>
          <a:xfrm>
            <a:off x="2331720" y="4014216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04872" y="4069080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configuração e segredos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6172200" y="4014216"/>
            <a:ext cx="5440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45352" y="4069080"/>
            <a:ext cx="5294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parametrização sem rebuild da imagem</a:t>
            </a:r>
            <a:endParaRPr lang="en-US" sz="1430" dirty="0"/>
          </a:p>
        </p:txBody>
      </p:sp>
      <p:sp>
        <p:nvSpPr>
          <p:cNvPr id="55" name="Shape 53"/>
          <p:cNvSpPr/>
          <p:nvPr/>
        </p:nvSpPr>
        <p:spPr>
          <a:xfrm>
            <a:off x="640080" y="4434840"/>
            <a:ext cx="1691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" y="4489704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PVC / PV</a:t>
            </a:r>
            <a:endParaRPr lang="en-US" sz="1430" dirty="0"/>
          </a:p>
        </p:txBody>
      </p:sp>
      <p:sp>
        <p:nvSpPr>
          <p:cNvPr id="57" name="Shape 55"/>
          <p:cNvSpPr/>
          <p:nvPr/>
        </p:nvSpPr>
        <p:spPr>
          <a:xfrm>
            <a:off x="2331720" y="4434840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04872" y="4489704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persistência desacoplada</a:t>
            </a:r>
            <a:endParaRPr lang="en-US" sz="1430" dirty="0"/>
          </a:p>
        </p:txBody>
      </p:sp>
      <p:sp>
        <p:nvSpPr>
          <p:cNvPr id="59" name="Shape 57"/>
          <p:cNvSpPr/>
          <p:nvPr/>
        </p:nvSpPr>
        <p:spPr>
          <a:xfrm>
            <a:off x="6172200" y="4434840"/>
            <a:ext cx="5440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45352" y="4489704"/>
            <a:ext cx="5294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6324F"/>
                </a:solidFill>
              </a:rPr>
              <a:t>bancos, filas, armazenamento de estado</a:t>
            </a:r>
            <a:endParaRPr lang="en-US" sz="1430" dirty="0"/>
          </a:p>
        </p:txBody>
      </p:sp>
      <p:sp>
        <p:nvSpPr>
          <p:cNvPr id="61" name="Text 59"/>
          <p:cNvSpPr/>
          <p:nvPr/>
        </p:nvSpPr>
        <p:spPr>
          <a:xfrm>
            <a:off x="749808" y="605332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728A"/>
                </a:solidFill>
              </a:rPr>
              <a:t>Todo manifesto Kubernetes precisa, no mínimo, de apiVersion, kind, metadata e spec.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rede: Pod → Service → Ingress/Gateway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00200" y="2377440"/>
            <a:ext cx="109728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94760" y="2377440"/>
            <a:ext cx="105156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52160" y="2377440"/>
            <a:ext cx="100584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909560" y="2377440"/>
            <a:ext cx="91440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1600200"/>
            <a:ext cx="146304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72821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Cliente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672" y="2020824"/>
            <a:ext cx="113385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browser, app mobile, serviço externo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743200" y="1600200"/>
            <a:ext cx="146304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07792" y="172821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Gateway / Ingress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07792" y="2020824"/>
            <a:ext cx="113385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TLS, host/path routing, regras de entrada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892040" y="1600200"/>
            <a:ext cx="146304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56632" y="172821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Service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56632" y="2020824"/>
            <a:ext cx="113385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IP e DNS estáveis; balanceia tráfego para endpoints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949440" y="1600200"/>
            <a:ext cx="146304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14032" y="172821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Pods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14032" y="2020824"/>
            <a:ext cx="113385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réplicas da app atendem a carga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915400" y="160020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79992" y="1728216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DNS + políticas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79992" y="2020824"/>
            <a:ext cx="159105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descoberta interna, NetworkPolicy e resolução de nomes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713232" y="38862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77824" y="401421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Service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7824" y="4306824"/>
            <a:ext cx="2962656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6324F"/>
                </a:solidFill>
              </a:rPr>
              <a:t>ClusterIP para acesso interno; NodePort e LoadBalancer para exposição; Service seleciona Pods via labels.</a:t>
            </a:r>
            <a:endParaRPr lang="en-US" sz="1530" dirty="0"/>
          </a:p>
        </p:txBody>
      </p:sp>
      <p:sp>
        <p:nvSpPr>
          <p:cNvPr id="29" name="Shape 27"/>
          <p:cNvSpPr/>
          <p:nvPr/>
        </p:nvSpPr>
        <p:spPr>
          <a:xfrm>
            <a:off x="4251960" y="38862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16552" y="401421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Ingress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16552" y="4306824"/>
            <a:ext cx="2962656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6324F"/>
                </a:solidFill>
              </a:rPr>
              <a:t>API tradicional para exposição HTTP(S); exige controller instalado no cluster.</a:t>
            </a:r>
            <a:endParaRPr lang="en-US" sz="1530" dirty="0"/>
          </a:p>
        </p:txBody>
      </p:sp>
      <p:sp>
        <p:nvSpPr>
          <p:cNvPr id="32" name="Shape 30"/>
          <p:cNvSpPr/>
          <p:nvPr/>
        </p:nvSpPr>
        <p:spPr>
          <a:xfrm>
            <a:off x="7790688" y="3886200"/>
            <a:ext cx="3456432" cy="1737360"/>
          </a:xfrm>
          <a:prstGeom prst="roundRect">
            <a:avLst>
              <a:gd name="adj" fmla="val 4211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955280" y="4014216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Gateway API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55280" y="4306824"/>
            <a:ext cx="3127248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6324F"/>
                </a:solidFill>
              </a:rPr>
              <a:t>modelo mais expressivo, orientado a papéis e com roteamento avançado; suportado por implementações compatíveis.</a:t>
            </a:r>
            <a:endParaRPr lang="en-US" sz="15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Armazenamento: Volumes, PVs, PVCs e StorageClass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31720" y="2331720"/>
            <a:ext cx="123444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17720" y="2331720"/>
            <a:ext cx="123444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03720" y="2331720"/>
            <a:ext cx="123444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1508760"/>
            <a:ext cx="1417320" cy="16002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1636776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Pod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1929384"/>
            <a:ext cx="108813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monta volumes e lê/escreve dados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743200" y="1508760"/>
            <a:ext cx="1417320" cy="16002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07792" y="1636776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PVC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07792" y="1929384"/>
            <a:ext cx="108813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pedido de capacidade / access mode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0" y="1508760"/>
            <a:ext cx="1417320" cy="16002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93792" y="1636776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93792" y="1929384"/>
            <a:ext cx="108813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recurso de storage disponível ao cluster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0" y="1508760"/>
            <a:ext cx="1417320" cy="16002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79792" y="1636776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StorageClass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79792" y="1929384"/>
            <a:ext cx="108813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perfil de provisionamento e política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0" y="1508760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91472" y="1636776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CSI driver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91472" y="1929384"/>
            <a:ext cx="172821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integra storage externo ao cluster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77240" y="38862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41832" y="4014216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Volumes em Pod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1832" y="4306824"/>
            <a:ext cx="3099816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úteis para dados temporários, arquivos de configuração, sidecars e compartilhamento local entre containers do mesmo Pod.</a:t>
            </a:r>
            <a:endParaRPr lang="en-US" sz="1520" dirty="0"/>
          </a:p>
        </p:txBody>
      </p:sp>
      <p:sp>
        <p:nvSpPr>
          <p:cNvPr id="28" name="Shape 26"/>
          <p:cNvSpPr/>
          <p:nvPr/>
        </p:nvSpPr>
        <p:spPr>
          <a:xfrm>
            <a:off x="4389120" y="38862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53712" y="4014216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Persistência real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53712" y="4306824"/>
            <a:ext cx="3099816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para estado durável, use PVC + PV. Em produção, quase sempre há provisionamento dinâmico via StorageClass.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8001000" y="388620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165592" y="4014216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Quando usar StatefulSet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65592" y="4306824"/>
            <a:ext cx="2779776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bancos, filas, caches persistentes e qualquer app que precise de identidade estável e volumes por réplica.</a:t>
            </a:r>
            <a:endParaRPr lang="en-US" sz="1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Controladores de workload e quando usar cada um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188720"/>
            <a:ext cx="155448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4358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FFFFFF"/>
                </a:solidFill>
              </a:rPr>
              <a:t>Controller</a:t>
            </a:r>
            <a:endParaRPr lang="en-US" sz="1460" dirty="0"/>
          </a:p>
        </p:txBody>
      </p:sp>
      <p:sp>
        <p:nvSpPr>
          <p:cNvPr id="9" name="Shape 7"/>
          <p:cNvSpPr/>
          <p:nvPr/>
        </p:nvSpPr>
        <p:spPr>
          <a:xfrm>
            <a:off x="2212848" y="1188720"/>
            <a:ext cx="292608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243584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FFFFFF"/>
                </a:solidFill>
              </a:rPr>
              <a:t>Semântica</a:t>
            </a:r>
            <a:endParaRPr lang="en-US" sz="1460" dirty="0"/>
          </a:p>
        </p:txBody>
      </p:sp>
      <p:sp>
        <p:nvSpPr>
          <p:cNvPr id="11" name="Shape 9"/>
          <p:cNvSpPr/>
          <p:nvPr/>
        </p:nvSpPr>
        <p:spPr>
          <a:xfrm>
            <a:off x="5138928" y="1188720"/>
            <a:ext cx="649224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243584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FFFFFF"/>
                </a:solidFill>
              </a:rPr>
              <a:t>Casos típicos</a:t>
            </a:r>
            <a:endParaRPr lang="en-US" sz="1460" dirty="0"/>
          </a:p>
        </p:txBody>
      </p:sp>
      <p:sp>
        <p:nvSpPr>
          <p:cNvPr id="13" name="Shape 11"/>
          <p:cNvSpPr/>
          <p:nvPr/>
        </p:nvSpPr>
        <p:spPr>
          <a:xfrm>
            <a:off x="658368" y="15544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0934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Deployment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2212848" y="155448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1609344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réplicas stateless + rollout/rollback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5138928" y="1554480"/>
            <a:ext cx="6492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609344"/>
            <a:ext cx="6345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APIs, frontends, workers HTTP, serviços idempotentes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658368" y="21031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15798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StatefulSet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2212848" y="210312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2157984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identidade estável + ordem + volume por réplica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5138928" y="2103120"/>
            <a:ext cx="6492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157984"/>
            <a:ext cx="6345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PostgreSQL, Kafka, Redis persistente, brokers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58368" y="265176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70662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DaemonSet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2212848" y="265176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2706624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1 Pod por node elegível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5138928" y="2651760"/>
            <a:ext cx="6492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706624"/>
            <a:ext cx="6345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agentes de log, CNI, monitoramento, segurança</a:t>
            </a:r>
            <a:endParaRPr lang="en-US" sz="1440" dirty="0"/>
          </a:p>
        </p:txBody>
      </p:sp>
      <p:sp>
        <p:nvSpPr>
          <p:cNvPr id="31" name="Shape 29"/>
          <p:cNvSpPr/>
          <p:nvPr/>
        </p:nvSpPr>
        <p:spPr>
          <a:xfrm>
            <a:off x="658368" y="3200400"/>
            <a:ext cx="1554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25526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Job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2212848" y="3200400"/>
            <a:ext cx="2926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255264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executa até completar</a:t>
            </a:r>
            <a:endParaRPr lang="en-US" sz="1440" dirty="0"/>
          </a:p>
        </p:txBody>
      </p:sp>
      <p:sp>
        <p:nvSpPr>
          <p:cNvPr id="35" name="Shape 33"/>
          <p:cNvSpPr/>
          <p:nvPr/>
        </p:nvSpPr>
        <p:spPr>
          <a:xfrm>
            <a:off x="5138928" y="3200400"/>
            <a:ext cx="6492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3255264"/>
            <a:ext cx="6345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migrações, ETL, tarefas batch, processamento pontual</a:t>
            </a:r>
            <a:endParaRPr lang="en-US" sz="1440" dirty="0"/>
          </a:p>
        </p:txBody>
      </p:sp>
      <p:sp>
        <p:nvSpPr>
          <p:cNvPr id="37" name="Shape 35"/>
          <p:cNvSpPr/>
          <p:nvPr/>
        </p:nvSpPr>
        <p:spPr>
          <a:xfrm>
            <a:off x="658368" y="3712464"/>
            <a:ext cx="1554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376732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CronJob</a:t>
            </a:r>
            <a:endParaRPr lang="en-US" sz="1440" dirty="0"/>
          </a:p>
        </p:txBody>
      </p:sp>
      <p:sp>
        <p:nvSpPr>
          <p:cNvPr id="39" name="Shape 37"/>
          <p:cNvSpPr/>
          <p:nvPr/>
        </p:nvSpPr>
        <p:spPr>
          <a:xfrm>
            <a:off x="2212848" y="3712464"/>
            <a:ext cx="2926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3767328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agenda Jobs periódicos</a:t>
            </a:r>
            <a:endParaRPr lang="en-US" sz="1440" dirty="0"/>
          </a:p>
        </p:txBody>
      </p:sp>
      <p:sp>
        <p:nvSpPr>
          <p:cNvPr id="41" name="Shape 39"/>
          <p:cNvSpPr/>
          <p:nvPr/>
        </p:nvSpPr>
        <p:spPr>
          <a:xfrm>
            <a:off x="5138928" y="3712464"/>
            <a:ext cx="6492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3767328"/>
            <a:ext cx="6345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backup, limpeza, geração de relatório, sincronizações</a:t>
            </a:r>
            <a:endParaRPr lang="en-US" sz="1440" dirty="0"/>
          </a:p>
        </p:txBody>
      </p:sp>
      <p:sp>
        <p:nvSpPr>
          <p:cNvPr id="43" name="Shape 41"/>
          <p:cNvSpPr/>
          <p:nvPr/>
        </p:nvSpPr>
        <p:spPr>
          <a:xfrm>
            <a:off x="658368" y="4224528"/>
            <a:ext cx="1554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427939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ReplicaSet</a:t>
            </a:r>
            <a:endParaRPr lang="en-US" sz="1440" dirty="0"/>
          </a:p>
        </p:txBody>
      </p:sp>
      <p:sp>
        <p:nvSpPr>
          <p:cNvPr id="45" name="Shape 43"/>
          <p:cNvSpPr/>
          <p:nvPr/>
        </p:nvSpPr>
        <p:spPr>
          <a:xfrm>
            <a:off x="2212848" y="4224528"/>
            <a:ext cx="2926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0" y="4279392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mantém nº de réplicas de Pods</a:t>
            </a:r>
            <a:endParaRPr lang="en-US" sz="1440" dirty="0"/>
          </a:p>
        </p:txBody>
      </p:sp>
      <p:sp>
        <p:nvSpPr>
          <p:cNvPr id="47" name="Shape 45"/>
          <p:cNvSpPr/>
          <p:nvPr/>
        </p:nvSpPr>
        <p:spPr>
          <a:xfrm>
            <a:off x="5138928" y="4224528"/>
            <a:ext cx="6492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0" y="4279392"/>
            <a:ext cx="6345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6324F"/>
                </a:solidFill>
              </a:rPr>
              <a:t>normalmente gerenciado pelo Deployment, não diretamente</a:t>
            </a:r>
            <a:endParaRPr lang="en-US" sz="1440" dirty="0"/>
          </a:p>
        </p:txBody>
      </p:sp>
      <p:sp>
        <p:nvSpPr>
          <p:cNvPr id="49" name="Shape 47"/>
          <p:cNvSpPr/>
          <p:nvPr/>
        </p:nvSpPr>
        <p:spPr>
          <a:xfrm>
            <a:off x="731520" y="507492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96112" y="5202936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Regra prática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96112" y="5495544"/>
            <a:ext cx="506577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Stateless → Deployment. Stateful → StatefulSet. Por-node → DaemonSet. Uma vez → Job. Recorrente → CronJob.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55080" y="507492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519672" y="5202936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Observação operacional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19672" y="5495544"/>
            <a:ext cx="465429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6324F"/>
                </a:solidFill>
              </a:rPr>
              <a:t>HPA escala Deployments e StatefulSets; não se aplica a DaemonSet. CronJob cria Jobs; Job cria Pods.</a:t>
            </a:r>
            <a:endParaRPr lang="en-US" sz="15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Agendamento, requests/limits e autoscaling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1430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271016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Scheduler decide placement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1563624"/>
            <a:ext cx="3099816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• CPU/memória disponíveis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• afinidade/anti-afinidade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• taints/tolerations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• topologia, políticas e locality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370832" y="11430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35424" y="1271016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Requests e limits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35424" y="1563624"/>
            <a:ext cx="3099816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• request = mínimo reservado para agendar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• limit = teto de consumo permitido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• baseiam QoS e ajudam estabilidade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28432" y="11430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93024" y="1271016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Autoscaling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93024" y="1563624"/>
            <a:ext cx="3099816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16324F"/>
                </a:solidFill>
              </a:rPr>
              <a:t>• HPA aumenta/diminui réplicas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16324F"/>
                </a:solidFill>
              </a:rPr>
              <a:t>• usa métricas como CPU, memória ou custom metrics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16324F"/>
                </a:solidFill>
              </a:rPr>
              <a:t>• complementa — não substitui — requests bem definidos</a:t>
            </a:r>
            <a:endParaRPr lang="en-US" sz="1510" dirty="0"/>
          </a:p>
        </p:txBody>
      </p:sp>
      <p:sp>
        <p:nvSpPr>
          <p:cNvPr id="16" name="Shape 14"/>
          <p:cNvSpPr/>
          <p:nvPr/>
        </p:nvSpPr>
        <p:spPr>
          <a:xfrm>
            <a:off x="749808" y="3611880"/>
            <a:ext cx="4892040" cy="1965960"/>
          </a:xfrm>
          <a:prstGeom prst="roundRect">
            <a:avLst>
              <a:gd name="adj" fmla="val 2791"/>
            </a:avLst>
          </a:prstGeom>
          <a:solidFill>
            <a:srgbClr val="0F243E"/>
          </a:solidFill>
          <a:ln w="12700">
            <a:solidFill>
              <a:srgbClr val="3150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703320"/>
            <a:ext cx="4599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8FF"/>
                </a:solidFill>
              </a:rPr>
              <a:t>Trecho típico de recursos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" y="3867912"/>
            <a:ext cx="4672584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"200m"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"256Mi"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limits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"500m"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"512Mi"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97880" y="361188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0F243E"/>
          </a:solidFill>
          <a:ln w="12700">
            <a:solidFill>
              <a:srgbClr val="3150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44184" y="3703320"/>
            <a:ext cx="5148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8FF"/>
                </a:solidFill>
              </a:rPr>
              <a:t>Trecho típico de HPA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07608" y="3867912"/>
            <a:ext cx="5221224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autoscaling/v2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HorizontalPodAutoscaler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minReplicas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maxReplicas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metrics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Resource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cpu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target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Utilization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averageUtilization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Segurança em camadas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170432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29844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Acesso à 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1591056"/>
            <a:ext cx="168249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TLS, autenticação, autorização e RBAC com menor privilégio.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926080" y="1170432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90672" y="129844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Workload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90672" y="1591056"/>
            <a:ext cx="168249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Pod Security, securityContext, usuários não-root, seccomp/AppArmor quando aplicável.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138928" y="1170432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129844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Rede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0" y="1591056"/>
            <a:ext cx="168249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NetworkPolicy para limitar fluxo entre Pods, namespaces e CIDRs.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51776" y="1170432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16368" y="129844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Segredos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16368" y="1591056"/>
            <a:ext cx="168249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Secret para dados confidenciais; preferir encryption at rest e acesso mínimo.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564624" y="1170432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29216" y="129844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Supply chain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29216" y="1591056"/>
            <a:ext cx="168249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imagens confiáveis, tags imutáveis, scanners e assinaturas.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77240" y="342900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1832" y="355701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Boas práticas mínimas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1832" y="3849624"/>
            <a:ext cx="483717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• não use cluster-admin por padrão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• crie ServiceAccounts específicas por app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• ative criptografia de Secrets em etcd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• controle tráfego lateral com NetworkPolicy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• restrinja capabilities e privilégios de container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6217920" y="3520440"/>
            <a:ext cx="4892040" cy="1828800"/>
          </a:xfrm>
          <a:prstGeom prst="roundRect">
            <a:avLst>
              <a:gd name="adj" fmla="val 3000"/>
            </a:avLst>
          </a:prstGeom>
          <a:solidFill>
            <a:srgbClr val="0F243E"/>
          </a:solidFill>
          <a:ln w="12700">
            <a:solidFill>
              <a:srgbClr val="3150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3611880"/>
            <a:ext cx="4599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8FF"/>
                </a:solidFill>
              </a:rPr>
              <a:t>Exemplos úteis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27648" y="3776472"/>
            <a:ext cx="4672584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auth can-i get secrets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Secret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db-creds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Opaque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Observabilidade e troubleshooting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09728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22529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Saúde de app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1517904"/>
            <a:ext cx="213969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liveness, readiness e startup probes para detectar falha, disponibilidade e tempo de bootstrap.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401568" y="109728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122529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Logs e eventos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517904"/>
            <a:ext cx="213969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kubectl logs, kubectl describe e kubectl events são a primeira linha de diagnóstico.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89904" y="109728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54496" y="122529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Métricas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54496" y="1517904"/>
            <a:ext cx="213969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kubectl top ajuda triagem rápida; stack real costuma usar Prometheus + dashboards.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778240" y="109728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42832" y="122529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Debug interativo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42832" y="1517904"/>
            <a:ext cx="213969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exec, port-forward, debug/ephemeral container e análise de YAML efetivo.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49808" y="3246120"/>
            <a:ext cx="5166360" cy="2148840"/>
          </a:xfrm>
          <a:prstGeom prst="roundRect">
            <a:avLst>
              <a:gd name="adj" fmla="val 2553"/>
            </a:avLst>
          </a:prstGeom>
          <a:solidFill>
            <a:srgbClr val="0F243E"/>
          </a:solidFill>
          <a:ln w="12700">
            <a:solidFill>
              <a:srgbClr val="3150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337560"/>
            <a:ext cx="4873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8FF"/>
                </a:solidFill>
              </a:rPr>
              <a:t>Comandos de triagem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" y="3502152"/>
            <a:ext cx="4946904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web-abc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deploy/web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deploy/web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 --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svc/web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44768" y="3246120"/>
            <a:ext cx="4983480" cy="2148840"/>
          </a:xfrm>
          <a:prstGeom prst="roundRect">
            <a:avLst>
              <a:gd name="adj" fmla="val 2553"/>
            </a:avLst>
          </a:prstGeom>
          <a:solidFill>
            <a:srgbClr val="0F243E"/>
          </a:solidFill>
          <a:ln w="12700">
            <a:solidFill>
              <a:srgbClr val="3150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3337560"/>
            <a:ext cx="4690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8FF"/>
                </a:solidFill>
              </a:rPr>
              <a:t>Mapa mental de sintomas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54496" y="3502152"/>
            <a:ext cx="4764024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sintomas comuns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CrashLoopBackOff  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 cai ao iniciar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ImagePullBackOff 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imagem/registry/credencial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          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falta de recursos/políticas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OOMKilled        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limite de memória baixo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Formas de instalar e usar Kubernetes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143000"/>
            <a:ext cx="178308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9786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Opção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2441448" y="1143000"/>
            <a:ext cx="205740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19786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Melhor para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4498848" y="1143000"/>
            <a:ext cx="324612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19786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Vantagens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7744968" y="1143000"/>
            <a:ext cx="388620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1197864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Limitações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658368" y="1508760"/>
            <a:ext cx="1783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563624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Managed Kubernetes (EKS/GKE/AKS/afins)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2441448" y="1508760"/>
            <a:ext cx="2057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563624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produção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4498848" y="1508760"/>
            <a:ext cx="3246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563624"/>
            <a:ext cx="3099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menos carga operacional no control plane, integrações prontas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7744968" y="1508760"/>
            <a:ext cx="3886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1563624"/>
            <a:ext cx="3739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lock-in parcial e abstrações do provedor</a:t>
            </a:r>
            <a:endParaRPr lang="en-US" sz="1380" dirty="0"/>
          </a:p>
        </p:txBody>
      </p:sp>
      <p:sp>
        <p:nvSpPr>
          <p:cNvPr id="23" name="Shape 21"/>
          <p:cNvSpPr/>
          <p:nvPr/>
        </p:nvSpPr>
        <p:spPr>
          <a:xfrm>
            <a:off x="658368" y="2130552"/>
            <a:ext cx="1783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185416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Minikube</a:t>
            </a:r>
            <a:endParaRPr lang="en-US" sz="1380" dirty="0"/>
          </a:p>
        </p:txBody>
      </p:sp>
      <p:sp>
        <p:nvSpPr>
          <p:cNvPr id="25" name="Shape 23"/>
          <p:cNvSpPr/>
          <p:nvPr/>
        </p:nvSpPr>
        <p:spPr>
          <a:xfrm>
            <a:off x="2441448" y="2130552"/>
            <a:ext cx="2057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2185416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aprendizado local</a:t>
            </a:r>
            <a:endParaRPr lang="en-US" sz="1380" dirty="0"/>
          </a:p>
        </p:txBody>
      </p:sp>
      <p:sp>
        <p:nvSpPr>
          <p:cNvPr id="27" name="Shape 25"/>
          <p:cNvSpPr/>
          <p:nvPr/>
        </p:nvSpPr>
        <p:spPr>
          <a:xfrm>
            <a:off x="4498848" y="2130552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185416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rápido, simples, 1 nó, ótimo para labs</a:t>
            </a:r>
            <a:endParaRPr lang="en-US" sz="1380" dirty="0"/>
          </a:p>
        </p:txBody>
      </p:sp>
      <p:sp>
        <p:nvSpPr>
          <p:cNvPr id="29" name="Shape 27"/>
          <p:cNvSpPr/>
          <p:nvPr/>
        </p:nvSpPr>
        <p:spPr>
          <a:xfrm>
            <a:off x="7744968" y="2130552"/>
            <a:ext cx="3886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2185416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não representa produção integralmente</a:t>
            </a:r>
            <a:endParaRPr lang="en-US" sz="1380" dirty="0"/>
          </a:p>
        </p:txBody>
      </p:sp>
      <p:sp>
        <p:nvSpPr>
          <p:cNvPr id="31" name="Shape 29"/>
          <p:cNvSpPr/>
          <p:nvPr/>
        </p:nvSpPr>
        <p:spPr>
          <a:xfrm>
            <a:off x="658368" y="2697480"/>
            <a:ext cx="1783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275234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kind</a:t>
            </a:r>
            <a:endParaRPr lang="en-US" sz="1380" dirty="0"/>
          </a:p>
        </p:txBody>
      </p:sp>
      <p:sp>
        <p:nvSpPr>
          <p:cNvPr id="33" name="Shape 31"/>
          <p:cNvSpPr/>
          <p:nvPr/>
        </p:nvSpPr>
        <p:spPr>
          <a:xfrm>
            <a:off x="2441448" y="2697480"/>
            <a:ext cx="2057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2752344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CI/dev/experimentos</a:t>
            </a:r>
            <a:endParaRPr lang="en-US" sz="1380" dirty="0"/>
          </a:p>
        </p:txBody>
      </p:sp>
      <p:sp>
        <p:nvSpPr>
          <p:cNvPr id="35" name="Shape 33"/>
          <p:cNvSpPr/>
          <p:nvPr/>
        </p:nvSpPr>
        <p:spPr>
          <a:xfrm>
            <a:off x="4498848" y="269748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2752344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clusters em Docker, excelente para teste e automação</a:t>
            </a:r>
            <a:endParaRPr lang="en-US" sz="1380" dirty="0"/>
          </a:p>
        </p:txBody>
      </p:sp>
      <p:sp>
        <p:nvSpPr>
          <p:cNvPr id="37" name="Shape 35"/>
          <p:cNvSpPr/>
          <p:nvPr/>
        </p:nvSpPr>
        <p:spPr>
          <a:xfrm>
            <a:off x="7744968" y="2697480"/>
            <a:ext cx="3886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18120" y="2752344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não é padrão de produção</a:t>
            </a:r>
            <a:endParaRPr lang="en-US" sz="1380" dirty="0"/>
          </a:p>
        </p:txBody>
      </p:sp>
      <p:sp>
        <p:nvSpPr>
          <p:cNvPr id="39" name="Shape 37"/>
          <p:cNvSpPr/>
          <p:nvPr/>
        </p:nvSpPr>
        <p:spPr>
          <a:xfrm>
            <a:off x="658368" y="3264408"/>
            <a:ext cx="1783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31927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kubeadm</a:t>
            </a:r>
            <a:endParaRPr lang="en-US" sz="1380" dirty="0"/>
          </a:p>
        </p:txBody>
      </p:sp>
      <p:sp>
        <p:nvSpPr>
          <p:cNvPr id="41" name="Shape 39"/>
          <p:cNvSpPr/>
          <p:nvPr/>
        </p:nvSpPr>
        <p:spPr>
          <a:xfrm>
            <a:off x="2441448" y="326440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14600" y="331927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cluster próprio</a:t>
            </a:r>
            <a:endParaRPr lang="en-US" sz="1380" dirty="0"/>
          </a:p>
        </p:txBody>
      </p:sp>
      <p:sp>
        <p:nvSpPr>
          <p:cNvPr id="43" name="Shape 41"/>
          <p:cNvSpPr/>
          <p:nvPr/>
        </p:nvSpPr>
        <p:spPr>
          <a:xfrm>
            <a:off x="4498848" y="3264408"/>
            <a:ext cx="3246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331927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bootstrap “best practice” e base flexível para on-prem/híbrido</a:t>
            </a:r>
            <a:endParaRPr lang="en-US" sz="1380" dirty="0"/>
          </a:p>
        </p:txBody>
      </p:sp>
      <p:sp>
        <p:nvSpPr>
          <p:cNvPr id="45" name="Shape 43"/>
          <p:cNvSpPr/>
          <p:nvPr/>
        </p:nvSpPr>
        <p:spPr>
          <a:xfrm>
            <a:off x="7744968" y="3264408"/>
            <a:ext cx="3886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18120" y="3319272"/>
            <a:ext cx="3739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você opera nodes, addons e HA</a:t>
            </a:r>
            <a:endParaRPr lang="en-US" sz="1380" dirty="0"/>
          </a:p>
        </p:txBody>
      </p:sp>
      <p:sp>
        <p:nvSpPr>
          <p:cNvPr id="47" name="Shape 45"/>
          <p:cNvSpPr/>
          <p:nvPr/>
        </p:nvSpPr>
        <p:spPr>
          <a:xfrm>
            <a:off x="658368" y="3922776"/>
            <a:ext cx="1783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39776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Distribuições/plataformas</a:t>
            </a:r>
            <a:endParaRPr lang="en-US" sz="1380" dirty="0"/>
          </a:p>
        </p:txBody>
      </p:sp>
      <p:sp>
        <p:nvSpPr>
          <p:cNvPr id="49" name="Shape 47"/>
          <p:cNvSpPr/>
          <p:nvPr/>
        </p:nvSpPr>
        <p:spPr>
          <a:xfrm>
            <a:off x="2441448" y="3922776"/>
            <a:ext cx="2057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14600" y="3977640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plataforma corporativa</a:t>
            </a:r>
            <a:endParaRPr lang="en-US" sz="1380" dirty="0"/>
          </a:p>
        </p:txBody>
      </p:sp>
      <p:sp>
        <p:nvSpPr>
          <p:cNvPr id="51" name="Shape 49"/>
          <p:cNvSpPr/>
          <p:nvPr/>
        </p:nvSpPr>
        <p:spPr>
          <a:xfrm>
            <a:off x="4498848" y="3922776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39776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curadoria, automação e governança</a:t>
            </a:r>
            <a:endParaRPr lang="en-US" sz="1380" dirty="0"/>
          </a:p>
        </p:txBody>
      </p:sp>
      <p:sp>
        <p:nvSpPr>
          <p:cNvPr id="53" name="Shape 51"/>
          <p:cNvSpPr/>
          <p:nvPr/>
        </p:nvSpPr>
        <p:spPr>
          <a:xfrm>
            <a:off x="7744968" y="3922776"/>
            <a:ext cx="3886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18120" y="3977640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camada extra para aprender/operar</a:t>
            </a:r>
            <a:endParaRPr lang="en-US" sz="1380" dirty="0"/>
          </a:p>
        </p:txBody>
      </p:sp>
      <p:sp>
        <p:nvSpPr>
          <p:cNvPr id="55" name="Shape 53"/>
          <p:cNvSpPr/>
          <p:nvPr/>
        </p:nvSpPr>
        <p:spPr>
          <a:xfrm>
            <a:off x="731520" y="52578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96112" y="5385816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Mensagem central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96112" y="5678424"/>
            <a:ext cx="479145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6324F"/>
                </a:solidFill>
              </a:rPr>
              <a:t>Kubernetes não é apenas “instalar cluster”; operar bem exige rede, storage, observabilidade, segurança, upgrades e backup.</a:t>
            </a:r>
            <a:endParaRPr lang="en-US" sz="1560" dirty="0"/>
          </a:p>
        </p:txBody>
      </p:sp>
      <p:sp>
        <p:nvSpPr>
          <p:cNvPr id="58" name="Shape 56"/>
          <p:cNvSpPr/>
          <p:nvPr/>
        </p:nvSpPr>
        <p:spPr>
          <a:xfrm>
            <a:off x="6172200" y="52578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336792" y="538581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Sequência recomendada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36792" y="5678424"/>
            <a:ext cx="47457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6324F"/>
                </a:solidFill>
              </a:rPr>
              <a:t>comece em Minikube/kind → padronize manifests → evolua para kubeadm ou serviço gerenciado quando houver requisitos reais.</a:t>
            </a:r>
            <a:endParaRPr lang="en-US" sz="15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Configuração inicial local: Minikube e kind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15</a:t>
            </a:r>
            <a:endParaRPr lang="en-US" sz="900" dirty="0"/>
          </a:p>
        </p:txBody>
      </p:sp>
      <p:pic>
        <p:nvPicPr>
          <p:cNvPr id="7" name="Image 0" descr="/mnt/data/k8s_deck/assets/minikube-clu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9762" y="1143000"/>
            <a:ext cx="3617036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09728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96112" y="1225296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Escolha rápida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6112" y="1517904"/>
            <a:ext cx="524865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324F"/>
                </a:solidFill>
              </a:rPr>
              <a:t>Minikube: aprendizado e primeira experiência. kind: testes automatizados, labs reprodutíveis e cenários multi-cluster/multi-node.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49808" y="2240280"/>
            <a:ext cx="5623560" cy="2240280"/>
          </a:xfrm>
          <a:prstGeom prst="roundRect">
            <a:avLst>
              <a:gd name="adj" fmla="val 2449"/>
            </a:avLst>
          </a:prstGeom>
          <a:solidFill>
            <a:srgbClr val="0F243E"/>
          </a:solidFill>
          <a:ln w="12700">
            <a:solidFill>
              <a:srgbClr val="31507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2331720"/>
            <a:ext cx="5330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8FF"/>
                </a:solidFill>
              </a:rPr>
              <a:t>Comandos iniciais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59536" y="2496312"/>
            <a:ext cx="5404104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Minikube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minikube start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--driver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deployment hello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--image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expose deployment hello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--type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minikube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hello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kind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create cluster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--name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cluster-info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4343400"/>
            <a:ext cx="4343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95744" y="447141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Boas práticas de laboratório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095744" y="4764024"/>
            <a:ext cx="401421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use namespaces, Kustomize, tags fixas e manifests pequenos; trate o cluster local como ambiente descartável e reproduzível.</a:t>
            </a:r>
            <a:endParaRPr lang="en-US" sz="15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Bootstrap de cluster com kubeadm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16</a:t>
            </a:r>
            <a:endParaRPr lang="en-US" sz="900" dirty="0"/>
          </a:p>
        </p:txBody>
      </p:sp>
      <p:pic>
        <p:nvPicPr>
          <p:cNvPr id="7" name="Image 0" descr="/mnt/data/k8s_deck/assets/kubeadm-stacked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1374" y="1051560"/>
            <a:ext cx="2162571" cy="2468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051560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96112" y="1179576"/>
            <a:ext cx="7260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O que o kubeadm faz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6112" y="1472184"/>
            <a:ext cx="72603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Fornece caminhos de bootstrap com kubeadm init e kubeadm join. Ele prepara um cluster mínimo e conforme boas práticas — mas não provisiona máquinas nem addons “nice-to-have”.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749808" y="2240280"/>
            <a:ext cx="7635240" cy="2423160"/>
          </a:xfrm>
          <a:prstGeom prst="roundRect">
            <a:avLst>
              <a:gd name="adj" fmla="val 2264"/>
            </a:avLst>
          </a:prstGeom>
          <a:solidFill>
            <a:srgbClr val="0F243E"/>
          </a:solidFill>
          <a:ln w="12700">
            <a:solidFill>
              <a:srgbClr val="31507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2331720"/>
            <a:ext cx="7342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8FF"/>
                </a:solidFill>
              </a:rPr>
              <a:t>Fluxo típico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59536" y="2496312"/>
            <a:ext cx="7415784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 todos os hosts: runtime + kubeadm + kubelet + kubectl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kubeadm config images pull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kubeadm init --pod-network-cidr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10.244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.0.0/16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$HOME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/.kube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/etc/kubernetes/admin.conf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$HOME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/.kube/config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$HOME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/.kube/config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aplicar um CNI compatível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manifesto-do-cni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obter join command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kubeadm token create --print-join-command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9808" y="498348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4400" y="5111496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Depois do init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5404104"/>
            <a:ext cx="332841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aplique CNI, valide nodes, adicione workers, configure ingress, storage, métricas, logging, backup de etcd e políticas.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636008" y="4983480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00600" y="5111496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Compatibilidade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800600" y="5404104"/>
            <a:ext cx="341985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6324F"/>
                </a:solidFill>
              </a:rPr>
              <a:t>kubeadm e kubelet possuem política de skew; joining nodes devem usar versão compatível com a usada para criar/atualizar o cluster.</a:t>
            </a:r>
            <a:endParaRPr lang="en-US" sz="14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kubectl: modelo mental de operação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40280" y="2331720"/>
            <a:ext cx="109728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331720"/>
            <a:ext cx="109728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086600" y="2331720"/>
            <a:ext cx="109728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1682496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Contexto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1975104"/>
            <a:ext cx="145389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qual cluster?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config use-context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154680" y="155448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9272" y="1682496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Namespace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9272" y="1975104"/>
            <a:ext cx="145389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onde atuar?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-n prod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577840" y="155448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42432" y="1682496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Recurso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42432" y="1975104"/>
            <a:ext cx="145389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o quê?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pod, deploy, svc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001000" y="155448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65592" y="1682496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Ação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65592" y="1975104"/>
            <a:ext cx="145389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get, describe, logs, apply, exec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14400" y="3931920"/>
            <a:ext cx="4709160" cy="1600200"/>
          </a:xfrm>
          <a:prstGeom prst="roundRect">
            <a:avLst>
              <a:gd name="adj" fmla="val 4571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4059936"/>
            <a:ext cx="4379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Pensamento prático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8992" y="4352544"/>
            <a:ext cx="437997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6324F"/>
                </a:solidFill>
              </a:rPr>
              <a:t>Toda operação com kubectl é uma combinação entre contexto + namespace + recurso + verbo. Se algo parece “não existir”, quase sempre o problema está em um desses quatro pontos.</a:t>
            </a:r>
            <a:endParaRPr lang="en-US" sz="1570" dirty="0"/>
          </a:p>
        </p:txBody>
      </p:sp>
      <p:sp>
        <p:nvSpPr>
          <p:cNvPr id="25" name="Shape 23"/>
          <p:cNvSpPr/>
          <p:nvPr/>
        </p:nvSpPr>
        <p:spPr>
          <a:xfrm>
            <a:off x="5989320" y="3794760"/>
            <a:ext cx="5166360" cy="1783080"/>
          </a:xfrm>
          <a:prstGeom prst="roundRect">
            <a:avLst>
              <a:gd name="adj" fmla="val 3077"/>
            </a:avLst>
          </a:prstGeom>
          <a:solidFill>
            <a:srgbClr val="0F243E"/>
          </a:solidFill>
          <a:ln w="12700">
            <a:solidFill>
              <a:srgbClr val="3150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5624" y="3886200"/>
            <a:ext cx="4873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8FF"/>
                </a:solidFill>
              </a:rPr>
              <a:t>Exemplo de navegação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99048" y="4050792"/>
            <a:ext cx="494690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get-contexts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use-context prod-eu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deploy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payments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api-7f8d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deploy/api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payments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kubectl — comandos essenciais 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182880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24358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FFFFF"/>
                </a:solidFill>
              </a:rPr>
              <a:t>Categoria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2542032" y="1188720"/>
            <a:ext cx="914400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15184" y="1243584"/>
            <a:ext cx="8997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FFFFF"/>
                </a:solidFill>
              </a:rPr>
              <a:t>Comandos úteis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713232" y="1554480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609344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Cluster / versão</a:t>
            </a:r>
            <a:endParaRPr lang="en-US" sz="1410" dirty="0"/>
          </a:p>
        </p:txBody>
      </p:sp>
      <p:sp>
        <p:nvSpPr>
          <p:cNvPr id="13" name="Shape 11"/>
          <p:cNvSpPr/>
          <p:nvPr/>
        </p:nvSpPr>
        <p:spPr>
          <a:xfrm>
            <a:off x="2542032" y="155448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1609344"/>
            <a:ext cx="8997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version</a:t>
            </a: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cluster-info</a:t>
            </a: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api-resources</a:t>
            </a:r>
            <a:endParaRPr lang="en-US" sz="1410" dirty="0"/>
          </a:p>
        </p:txBody>
      </p:sp>
      <p:sp>
        <p:nvSpPr>
          <p:cNvPr id="15" name="Shape 13"/>
          <p:cNvSpPr/>
          <p:nvPr/>
        </p:nvSpPr>
        <p:spPr>
          <a:xfrm>
            <a:off x="713232" y="2176272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231136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Contextos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2542032" y="2176272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2231136"/>
            <a:ext cx="8997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config get-contexts</a:t>
            </a: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config use-context &lt;ctx&gt;</a:t>
            </a: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config current-context</a:t>
            </a:r>
            <a:endParaRPr lang="en-US" sz="1410" dirty="0"/>
          </a:p>
        </p:txBody>
      </p:sp>
      <p:sp>
        <p:nvSpPr>
          <p:cNvPr id="19" name="Shape 17"/>
          <p:cNvSpPr/>
          <p:nvPr/>
        </p:nvSpPr>
        <p:spPr>
          <a:xfrm>
            <a:off x="713232" y="2798064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2852928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Namespaces</a:t>
            </a:r>
            <a:endParaRPr lang="en-US" sz="1410" dirty="0"/>
          </a:p>
        </p:txBody>
      </p:sp>
      <p:sp>
        <p:nvSpPr>
          <p:cNvPr id="21" name="Shape 19"/>
          <p:cNvSpPr/>
          <p:nvPr/>
        </p:nvSpPr>
        <p:spPr>
          <a:xfrm>
            <a:off x="2542032" y="2798064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15184" y="2852928"/>
            <a:ext cx="8997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get ns</a:t>
            </a: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create namespace dev</a:t>
            </a: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config set-context --current --namespace=dev</a:t>
            </a:r>
            <a:endParaRPr lang="en-US" sz="1410" dirty="0"/>
          </a:p>
        </p:txBody>
      </p:sp>
      <p:sp>
        <p:nvSpPr>
          <p:cNvPr id="23" name="Shape 21"/>
          <p:cNvSpPr/>
          <p:nvPr/>
        </p:nvSpPr>
        <p:spPr>
          <a:xfrm>
            <a:off x="713232" y="3419856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347472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Listagem</a:t>
            </a:r>
            <a:endParaRPr lang="en-US" sz="1410" dirty="0"/>
          </a:p>
        </p:txBody>
      </p:sp>
      <p:sp>
        <p:nvSpPr>
          <p:cNvPr id="25" name="Shape 23"/>
          <p:cNvSpPr/>
          <p:nvPr/>
        </p:nvSpPr>
        <p:spPr>
          <a:xfrm>
            <a:off x="2542032" y="3419856"/>
            <a:ext cx="9144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15184" y="3474720"/>
            <a:ext cx="8997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get pods -A -o wide</a:t>
            </a: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get svc,ingress -n prod</a:t>
            </a: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get events -n prod --sort-by=.metadata.creationTimestamp</a:t>
            </a:r>
            <a:endParaRPr lang="en-US" sz="1410" dirty="0"/>
          </a:p>
        </p:txBody>
      </p:sp>
      <p:sp>
        <p:nvSpPr>
          <p:cNvPr id="27" name="Shape 25"/>
          <p:cNvSpPr/>
          <p:nvPr/>
        </p:nvSpPr>
        <p:spPr>
          <a:xfrm>
            <a:off x="713232" y="4261104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315968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Explicação</a:t>
            </a:r>
            <a:endParaRPr lang="en-US" sz="1410" dirty="0"/>
          </a:p>
        </p:txBody>
      </p:sp>
      <p:sp>
        <p:nvSpPr>
          <p:cNvPr id="29" name="Shape 27"/>
          <p:cNvSpPr/>
          <p:nvPr/>
        </p:nvSpPr>
        <p:spPr>
          <a:xfrm>
            <a:off x="2542032" y="4261104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15184" y="4315968"/>
            <a:ext cx="8997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explain deployment.spec.template</a:t>
            </a: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explain service.spec.type</a:t>
            </a:r>
            <a:endParaRPr lang="en-US" sz="1410" dirty="0"/>
          </a:p>
        </p:txBody>
      </p:sp>
      <p:sp>
        <p:nvSpPr>
          <p:cNvPr id="31" name="Shape 29"/>
          <p:cNvSpPr/>
          <p:nvPr/>
        </p:nvSpPr>
        <p:spPr>
          <a:xfrm>
            <a:off x="713232" y="4882896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4937760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Permissões</a:t>
            </a:r>
            <a:endParaRPr lang="en-US" sz="1410" dirty="0"/>
          </a:p>
        </p:txBody>
      </p:sp>
      <p:sp>
        <p:nvSpPr>
          <p:cNvPr id="33" name="Shape 31"/>
          <p:cNvSpPr/>
          <p:nvPr/>
        </p:nvSpPr>
        <p:spPr>
          <a:xfrm>
            <a:off x="2542032" y="4882896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5184" y="4937760"/>
            <a:ext cx="8997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auth can-i get secrets -n prod</a:t>
            </a: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16324F"/>
                </a:solidFill>
              </a:rPr>
              <a:t>kubectl auth whoami</a:t>
            </a:r>
            <a:endParaRPr lang="en-US" sz="1410" dirty="0"/>
          </a:p>
        </p:txBody>
      </p:sp>
      <p:sp>
        <p:nvSpPr>
          <p:cNvPr id="35" name="Text 33"/>
          <p:cNvSpPr/>
          <p:nvPr/>
        </p:nvSpPr>
        <p:spPr>
          <a:xfrm>
            <a:off x="777240" y="61447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5D728A"/>
                </a:solidFill>
              </a:rPr>
              <a:t>Regra de ouro: use -n/--namespace explicitamente em produção e prefira kubectl explain antes de “copiar e colar” YAML desconhecido.</a:t>
            </a:r>
            <a:endParaRPr lang="en-US" sz="15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kubectl — comandos essenciais II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205740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24358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Categoria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2770632" y="1188720"/>
            <a:ext cx="891540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43784" y="1243584"/>
            <a:ext cx="876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Comandos úteis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713232" y="155448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609344"/>
            <a:ext cx="19110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Deploy e rollout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2770632" y="1554480"/>
            <a:ext cx="8915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43784" y="1609344"/>
            <a:ext cx="87690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apply -f app.yaml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diff -f app.yaml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rollout status deployment/web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rollout undo deployment/web</a:t>
            </a:r>
            <a:endParaRPr lang="en-US" sz="1380" dirty="0"/>
          </a:p>
        </p:txBody>
      </p:sp>
      <p:sp>
        <p:nvSpPr>
          <p:cNvPr id="15" name="Shape 13"/>
          <p:cNvSpPr/>
          <p:nvPr/>
        </p:nvSpPr>
        <p:spPr>
          <a:xfrm>
            <a:off x="713232" y="24231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478024"/>
            <a:ext cx="19110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Inspeção / debug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2770632" y="2423160"/>
            <a:ext cx="8915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43784" y="2478024"/>
            <a:ext cx="87690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describe pod web-abc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logs -f deploy/web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exec -it deploy/web -- sh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port-forward svc/web 8080:80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713232" y="3291840"/>
            <a:ext cx="2057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346704"/>
            <a:ext cx="191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Escala e imagem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2770632" y="3291840"/>
            <a:ext cx="8915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43784" y="3346704"/>
            <a:ext cx="8769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scale deployment/web --replicas=5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set image deployment/web app=repo:v2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top pod -A</a:t>
            </a:r>
            <a:endParaRPr lang="en-US" sz="1380" dirty="0"/>
          </a:p>
        </p:txBody>
      </p:sp>
      <p:sp>
        <p:nvSpPr>
          <p:cNvPr id="23" name="Shape 21"/>
          <p:cNvSpPr/>
          <p:nvPr/>
        </p:nvSpPr>
        <p:spPr>
          <a:xfrm>
            <a:off x="713232" y="4023360"/>
            <a:ext cx="2057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078224"/>
            <a:ext cx="191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Config e segredos</a:t>
            </a:r>
            <a:endParaRPr lang="en-US" sz="1380" dirty="0"/>
          </a:p>
        </p:txBody>
      </p:sp>
      <p:sp>
        <p:nvSpPr>
          <p:cNvPr id="25" name="Shape 23"/>
          <p:cNvSpPr/>
          <p:nvPr/>
        </p:nvSpPr>
        <p:spPr>
          <a:xfrm>
            <a:off x="2770632" y="4023360"/>
            <a:ext cx="8915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43784" y="4078224"/>
            <a:ext cx="8769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create configmap app --from-literal=MODE=prod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create secret generic db --from-literal=password=***</a:t>
            </a:r>
            <a:endParaRPr lang="en-US" sz="1380" dirty="0"/>
          </a:p>
        </p:txBody>
      </p:sp>
      <p:sp>
        <p:nvSpPr>
          <p:cNvPr id="27" name="Shape 25"/>
          <p:cNvSpPr/>
          <p:nvPr/>
        </p:nvSpPr>
        <p:spPr>
          <a:xfrm>
            <a:off x="713232" y="4754880"/>
            <a:ext cx="2057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809744"/>
            <a:ext cx="191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Operação de nodes</a:t>
            </a:r>
            <a:endParaRPr lang="en-US" sz="1380" dirty="0"/>
          </a:p>
        </p:txBody>
      </p:sp>
      <p:sp>
        <p:nvSpPr>
          <p:cNvPr id="29" name="Shape 27"/>
          <p:cNvSpPr/>
          <p:nvPr/>
        </p:nvSpPr>
        <p:spPr>
          <a:xfrm>
            <a:off x="2770632" y="4754880"/>
            <a:ext cx="8915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43784" y="4809744"/>
            <a:ext cx="8769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cordon node01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drain node01 --ignore-daemonsets --delete-emptydir-data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6324F"/>
                </a:solidFill>
              </a:rPr>
              <a:t>kubectl uncordon node01</a:t>
            </a:r>
            <a:endParaRPr lang="en-US" sz="1380" dirty="0"/>
          </a:p>
        </p:txBody>
      </p:sp>
      <p:sp>
        <p:nvSpPr>
          <p:cNvPr id="31" name="Shape 29"/>
          <p:cNvSpPr/>
          <p:nvPr/>
        </p:nvSpPr>
        <p:spPr>
          <a:xfrm>
            <a:off x="749808" y="5788152"/>
            <a:ext cx="10972800" cy="594360"/>
          </a:xfrm>
          <a:prstGeom prst="roundRect">
            <a:avLst>
              <a:gd name="adj" fmla="val 12308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5916168"/>
            <a:ext cx="10643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Observação importante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6208776"/>
            <a:ext cx="10643616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6324F"/>
                </a:solidFill>
              </a:rPr>
              <a:t>A referência completa de kubectl é enorme. Nesta apresentação, a ênfase está nos comandos operacionais de maior valor para o dia a dia.</a:t>
            </a:r>
            <a:endParaRPr lang="en-US" sz="15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Anatomia de um manifesto YAML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234440"/>
            <a:ext cx="6537960" cy="4800600"/>
          </a:xfrm>
          <a:prstGeom prst="roundRect">
            <a:avLst>
              <a:gd name="adj" fmla="val 1143"/>
            </a:avLst>
          </a:prstGeom>
          <a:solidFill>
            <a:srgbClr val="0F243E"/>
          </a:solidFill>
          <a:ln w="12700">
            <a:solidFill>
              <a:srgbClr val="3150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325880"/>
            <a:ext cx="6245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8FF"/>
                </a:solidFill>
              </a:rPr>
              <a:t>Exemplo mínimo e útil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" y="1490472"/>
            <a:ext cx="6318504" cy="4434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apps/v1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Deployment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demo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nginx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nginx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1.27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35240" y="13716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99832" y="1499616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apiVersion + kind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99832" y="1792224"/>
            <a:ext cx="332841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definem qual API e qual tipo de objeto será criado.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35240" y="24688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99832" y="2596896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metadata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99832" y="2889504"/>
            <a:ext cx="332841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nome, namespace, labels, annotations e identidade do recurso.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35240" y="356616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99832" y="3694176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spec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99832" y="3986784"/>
            <a:ext cx="332841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estado desejado; o conteúdo muda conforme o tipo do objeto.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35240" y="466344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99832" y="4791456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selector/template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99832" y="5084064"/>
            <a:ext cx="332841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no Deployment, dizem quais Pods pertencem ao workload e como criá-los.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1 — aplicação stateless fim a fim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234440"/>
            <a:ext cx="6583680" cy="4343400"/>
          </a:xfrm>
          <a:prstGeom prst="roundRect">
            <a:avLst>
              <a:gd name="adj" fmla="val 1263"/>
            </a:avLst>
          </a:prstGeom>
          <a:solidFill>
            <a:srgbClr val="0F243E"/>
          </a:solidFill>
          <a:ln w="12700">
            <a:solidFill>
              <a:srgbClr val="3150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325880"/>
            <a:ext cx="6291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8FF"/>
                </a:solidFill>
              </a:rPr>
              <a:t>Manifesto resumido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" y="1490472"/>
            <a:ext cx="6364224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apps/v1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Deployment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matchLabels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ghcr.io/exemplo/api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networking.k8s.io/v1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Ingress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api.exemplo.local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0" y="13258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45552" y="1453896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Fluxo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45552" y="1746504"/>
            <a:ext cx="31912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6324F"/>
                </a:solidFill>
              </a:rPr>
              <a:t>cliente → ingress → service → pods do deployment</a:t>
            </a:r>
            <a:endParaRPr lang="en-US" sz="1540" dirty="0"/>
          </a:p>
        </p:txBody>
      </p:sp>
      <p:sp>
        <p:nvSpPr>
          <p:cNvPr id="13" name="Shape 11"/>
          <p:cNvSpPr/>
          <p:nvPr/>
        </p:nvSpPr>
        <p:spPr>
          <a:xfrm>
            <a:off x="7680960" y="26060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45552" y="2734056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Comandos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45552" y="3026664"/>
            <a:ext cx="31912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6324F"/>
                </a:solidFill>
              </a:rPr>
              <a:t>kubectl apply -f app.yaml</a:t>
            </a: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16324F"/>
                </a:solidFill>
              </a:rPr>
              <a:t>kubectl rollout status deploy/api</a:t>
            </a:r>
            <a:endParaRPr lang="en-US" sz="1470" dirty="0"/>
          </a:p>
        </p:txBody>
      </p:sp>
      <p:sp>
        <p:nvSpPr>
          <p:cNvPr id="16" name="Shape 14"/>
          <p:cNvSpPr/>
          <p:nvPr/>
        </p:nvSpPr>
        <p:spPr>
          <a:xfrm>
            <a:off x="7680960" y="38862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45552" y="4014216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Escala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45552" y="4306824"/>
            <a:ext cx="31912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6324F"/>
                </a:solidFill>
              </a:rPr>
              <a:t>kubectl scale deployment/api --replicas=5</a:t>
            </a:r>
            <a:endParaRPr lang="en-US" sz="1470" dirty="0"/>
          </a:p>
        </p:txBody>
      </p:sp>
      <p:sp>
        <p:nvSpPr>
          <p:cNvPr id="19" name="Shape 17"/>
          <p:cNvSpPr/>
          <p:nvPr/>
        </p:nvSpPr>
        <p:spPr>
          <a:xfrm>
            <a:off x="7680960" y="516636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45552" y="5294376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Uso real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45552" y="5586984"/>
            <a:ext cx="3191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6324F"/>
                </a:solidFill>
              </a:rPr>
              <a:t>APIs, frontends e microserviços sem estado persistente local.</a:t>
            </a:r>
            <a:endParaRPr lang="en-US" sz="14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2 — ConfigMap, Secret, probes e recursos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234440"/>
            <a:ext cx="6629400" cy="4389120"/>
          </a:xfrm>
          <a:prstGeom prst="roundRect">
            <a:avLst>
              <a:gd name="adj" fmla="val 1250"/>
            </a:avLst>
          </a:prstGeom>
          <a:solidFill>
            <a:srgbClr val="0F243E"/>
          </a:solidFill>
          <a:ln w="12700">
            <a:solidFill>
              <a:srgbClr val="3150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325880"/>
            <a:ext cx="6336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8FF"/>
                </a:solidFill>
              </a:rPr>
              <a:t>Trecho de Pod spec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" y="1490472"/>
            <a:ext cx="6409944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envFrom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configMapRef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secretRef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"200m"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"256Mi"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limits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"500m"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"512Mi"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readinessProbe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httpGet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/healthz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initialDelaySeconds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livenessProbe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httpGet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/livez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99248" y="137160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0" y="1499616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ConfigMap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1792224"/>
            <a:ext cx="314553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90" dirty="0">
                <a:solidFill>
                  <a:srgbClr val="16324F"/>
                </a:solidFill>
              </a:rPr>
              <a:t>configuração não sensível, desacoplada da imagem.</a:t>
            </a:r>
            <a:endParaRPr lang="en-US" sz="1490" dirty="0"/>
          </a:p>
        </p:txBody>
      </p:sp>
      <p:sp>
        <p:nvSpPr>
          <p:cNvPr id="13" name="Shape 11"/>
          <p:cNvSpPr/>
          <p:nvPr/>
        </p:nvSpPr>
        <p:spPr>
          <a:xfrm>
            <a:off x="7699248" y="246888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0" y="2596896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Secret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63840" y="2889504"/>
            <a:ext cx="314553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6324F"/>
                </a:solidFill>
              </a:rPr>
              <a:t>credenciais e dados confidenciais; proteger com RBAC e encryption at rest.</a:t>
            </a:r>
            <a:endParaRPr lang="en-US" sz="1470" dirty="0"/>
          </a:p>
        </p:txBody>
      </p:sp>
      <p:sp>
        <p:nvSpPr>
          <p:cNvPr id="16" name="Shape 14"/>
          <p:cNvSpPr/>
          <p:nvPr/>
        </p:nvSpPr>
        <p:spPr>
          <a:xfrm>
            <a:off x="7699248" y="356616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0" y="3694176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Readiness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63840" y="3986784"/>
            <a:ext cx="314553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6324F"/>
                </a:solidFill>
              </a:rPr>
              <a:t>controla entrada no balanceamento: tráfego só quando estiver pronto.</a:t>
            </a:r>
            <a:endParaRPr lang="en-US" sz="1480" dirty="0"/>
          </a:p>
        </p:txBody>
      </p:sp>
      <p:sp>
        <p:nvSpPr>
          <p:cNvPr id="19" name="Shape 17"/>
          <p:cNvSpPr/>
          <p:nvPr/>
        </p:nvSpPr>
        <p:spPr>
          <a:xfrm>
            <a:off x="7699248" y="466344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63840" y="4791456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Liveness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63840" y="5084064"/>
            <a:ext cx="314553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6324F"/>
                </a:solidFill>
              </a:rPr>
              <a:t>reinicia container travado; não substitui observabilidade nem SLO.</a:t>
            </a:r>
            <a:endParaRPr lang="en-US" sz="14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3 — StatefulSet com persistência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234440"/>
            <a:ext cx="6355080" cy="4572000"/>
          </a:xfrm>
          <a:prstGeom prst="roundRect">
            <a:avLst>
              <a:gd name="adj" fmla="val 1200"/>
            </a:avLst>
          </a:prstGeom>
          <a:solidFill>
            <a:srgbClr val="0F243E"/>
          </a:solidFill>
          <a:ln w="12700">
            <a:solidFill>
              <a:srgbClr val="3150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325880"/>
            <a:ext cx="6062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8FF"/>
                </a:solidFill>
              </a:rPr>
              <a:t>Trecho representativo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" y="1490472"/>
            <a:ext cx="6135624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apps/v1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StatefulSet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postgres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postgres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matchLabels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postgres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postgres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postgres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postgres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volumeMounts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mountPath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/var/lib/postgresql/data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volumeClaimTemplates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accessModes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ReadWriteOnce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resources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20Gi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60920" y="132588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25512" y="1453896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Identidade estável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25512" y="1746504"/>
            <a:ext cx="337413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cada réplica tem nome previsível e volume próprio.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25603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25512" y="2688336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Rede previsível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25512" y="2980944"/>
            <a:ext cx="337413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bom para bancos e sistemas que dependem de peers bem definidos.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60920" y="379476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25512" y="3922776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Cuidado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25512" y="4215384"/>
            <a:ext cx="337413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6324F"/>
                </a:solidFill>
              </a:rPr>
              <a:t>estado em Kubernetes exige backup, upgrade planejado e storage confiável.</a:t>
            </a:r>
            <a:endParaRPr lang="en-US" sz="1480" dirty="0"/>
          </a:p>
        </p:txBody>
      </p:sp>
      <p:sp>
        <p:nvSpPr>
          <p:cNvPr id="19" name="Shape 17"/>
          <p:cNvSpPr/>
          <p:nvPr/>
        </p:nvSpPr>
        <p:spPr>
          <a:xfrm>
            <a:off x="7360920" y="5029200"/>
            <a:ext cx="3703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25512" y="5157216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Uso real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25512" y="5449824"/>
            <a:ext cx="337413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6324F"/>
                </a:solidFill>
              </a:rPr>
              <a:t>bancos, brokers, filas, caches persistentes.</a:t>
            </a:r>
            <a:endParaRPr lang="en-US" sz="14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4 — Job e CronJob para batch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32588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0F243E"/>
          </a:solidFill>
          <a:ln w="12700">
            <a:solidFill>
              <a:srgbClr val="3150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17320"/>
            <a:ext cx="5056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8FF"/>
                </a:solidFill>
              </a:rPr>
              <a:t>Job pontual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" y="1581912"/>
            <a:ext cx="5129784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batch/v1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Job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restartPolicy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Never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migrate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ghcr.io/exemplo/api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"./migrate"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1325880"/>
            <a:ext cx="4983480" cy="4206240"/>
          </a:xfrm>
          <a:prstGeom prst="roundRect">
            <a:avLst>
              <a:gd name="adj" fmla="val 1304"/>
            </a:avLst>
          </a:prstGeom>
          <a:solidFill>
            <a:srgbClr val="0F243E"/>
          </a:solidFill>
          <a:ln w="12700">
            <a:solidFill>
              <a:srgbClr val="3150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417320"/>
            <a:ext cx="4690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8FF"/>
                </a:solidFill>
              </a:rPr>
              <a:t>CronJob periódico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64808" y="1581912"/>
            <a:ext cx="4764024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batch/v1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CronJob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backup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nightly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 2 * * *"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jobTemplate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template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restartPolicy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OnFailure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containers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backup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ghcr.io/exemplo/backup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71500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87552" y="5843016"/>
            <a:ext cx="10643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Quando usar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7552" y="6135624"/>
            <a:ext cx="10643616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Job para tarefas únicas/reprocessamentos/migrações. CronJob para backup, sync, limpeza e relatórios recorrentes.</a:t>
            </a:r>
            <a:endParaRPr lang="en-US" sz="15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Extensibilidade: CRDs, Operators e Gateway API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2423160"/>
            <a:ext cx="914400" cy="0"/>
          </a:xfrm>
          <a:prstGeom prst="line">
            <a:avLst/>
          </a:prstGeom>
          <a:noFill/>
          <a:ln w="2413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94760" y="2423160"/>
            <a:ext cx="914400" cy="0"/>
          </a:xfrm>
          <a:prstGeom prst="line">
            <a:avLst/>
          </a:prstGeom>
          <a:noFill/>
          <a:ln w="2413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169164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181965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2112264"/>
            <a:ext cx="104241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define um novo tipo de recurso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2743200" y="169164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07792" y="181965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Custom Resource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07792" y="2112264"/>
            <a:ext cx="104241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instância declarativa do novo tipo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19472" y="181965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Operator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9472" y="2112264"/>
            <a:ext cx="104241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728A"/>
                </a:solidFill>
              </a:rPr>
              <a:t>controller que reconcilia e automatiza domínio específico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9808" y="37947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922776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Onde isso brilha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215384"/>
            <a:ext cx="506577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6324F"/>
                </a:solidFill>
              </a:rPr>
              <a:t>bancos gerenciados, mensageria, stacks observability, automação de certificado, política, apps complexas e plataformas internas.</a:t>
            </a:r>
            <a:endParaRPr lang="en-US" sz="1530" dirty="0"/>
          </a:p>
        </p:txBody>
      </p:sp>
      <p:pic>
        <p:nvPicPr>
          <p:cNvPr id="21" name="Image 0" descr="/mnt/data/k8s_deck/assets/gateway-api-re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404418"/>
            <a:ext cx="4572000" cy="272328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601968" y="457200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766560" y="4700016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Gateway API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766560" y="4992624"/>
            <a:ext cx="428853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6324F"/>
                </a:solidFill>
              </a:rPr>
              <a:t>família de APIs mais expressiva que Ingress para tráfego avançado; organiza GatewayClass, Gateway e HTTPRoute com modelo orientado a papéis.</a:t>
            </a:r>
            <a:endParaRPr lang="en-US" sz="14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Ferramentas compatíveis e ecossistema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1430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DFE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27101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Empacotamento / config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1563624"/>
            <a:ext cx="47457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D728A"/>
                </a:solidFill>
              </a:rPr>
              <a:t>Helm, Kustomize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5D728A"/>
                </a:solidFill>
              </a:rPr>
              <a:t>instalar apps prontas e customizar manifests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6291072" y="11430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127101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GitOps / CD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55664" y="1563624"/>
            <a:ext cx="47457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D728A"/>
                </a:solidFill>
              </a:rPr>
              <a:t>Argo CD, Flux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5D728A"/>
                </a:solidFill>
              </a:rPr>
              <a:t>sincronizar estado do cluster a partir do Git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13232" y="27432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DFE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" y="287121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Observabilidade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7824" y="3163824"/>
            <a:ext cx="47457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D728A"/>
                </a:solidFill>
              </a:rPr>
              <a:t>Prometheus, Grafana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5D728A"/>
                </a:solidFill>
              </a:rPr>
              <a:t>métricas, alertas e dashboards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6291072" y="27432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55664" y="287121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Rede / tráfego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5664" y="3163824"/>
            <a:ext cx="47457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D728A"/>
                </a:solidFill>
              </a:rPr>
              <a:t>Ingress controller, Gateway API, Istio, Linkerd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5D728A"/>
                </a:solidFill>
              </a:rPr>
              <a:t>entrada, roteamento, mTLS e traffic shaping</a:t>
            </a:r>
            <a:endParaRPr lang="en-US" sz="1430" dirty="0"/>
          </a:p>
        </p:txBody>
      </p:sp>
      <p:sp>
        <p:nvSpPr>
          <p:cNvPr id="19" name="Shape 17"/>
          <p:cNvSpPr/>
          <p:nvPr/>
        </p:nvSpPr>
        <p:spPr>
          <a:xfrm>
            <a:off x="713232" y="43434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DFE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7824" y="447141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Política / segurança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" y="4764024"/>
            <a:ext cx="47457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D728A"/>
                </a:solidFill>
              </a:rPr>
              <a:t>cert-manager, OPA Gatekeeper, Kyverno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5D728A"/>
                </a:solidFill>
              </a:rPr>
              <a:t>TLS, policy as code, validações</a:t>
            </a:r>
            <a:endParaRPr lang="en-US" sz="1430" dirty="0"/>
          </a:p>
        </p:txBody>
      </p:sp>
      <p:sp>
        <p:nvSpPr>
          <p:cNvPr id="22" name="Shape 20"/>
          <p:cNvSpPr/>
          <p:nvPr/>
        </p:nvSpPr>
        <p:spPr>
          <a:xfrm>
            <a:off x="6291072" y="43434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55664" y="447141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Segredos / integração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55664" y="4764024"/>
            <a:ext cx="47457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D728A"/>
                </a:solidFill>
              </a:rPr>
              <a:t>External Secrets, CSI drivers, operadores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5D728A"/>
                </a:solidFill>
              </a:rPr>
              <a:t>integração com KMS, vaults e sistemas externos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749808" y="61447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5D728A"/>
                </a:solidFill>
              </a:rPr>
              <a:t>Observação: essas ferramentas não são “o Kubernetes em si”; elas ampliam packaging, entrega, visibilidade, segurança e operação sobre a API do cluster.</a:t>
            </a:r>
            <a:endParaRPr lang="en-US" sz="15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Principais formas de uso em contextos reais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REAL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1430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27101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SaaS / microserviços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1563624"/>
            <a:ext cx="2322576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• Deployments, Services, Ingress/Gateway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• HPA, observabilidade e GitOps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• alta frequência de release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3611880" y="11430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76472" y="127101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Dados / IA / ML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76472" y="1563624"/>
            <a:ext cx="2322576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• Jobs e pipelines batch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• agendamento com recursos especializados (GPU)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• serviços de inferência e workers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10528" y="11430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27101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Processamento batch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1563624"/>
            <a:ext cx="2322576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• CronJob para rotinas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• retries controlados e paralelismo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• bom para ETL, relatórios e limpeza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409176" y="114300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73768" y="1271016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Híbrido / edge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73768" y="1563624"/>
            <a:ext cx="1728216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6324F"/>
                </a:solidFill>
              </a:rPr>
              <a:t>• padronização entre DC e cloud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6324F"/>
                </a:solidFill>
              </a:rPr>
              <a:t>• controle de deployment em vários ambientes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6324F"/>
                </a:solidFill>
              </a:rPr>
              <a:t>• operações consistentes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49808" y="379476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3922776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Quando Kubernetes faz muito sentido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215384"/>
            <a:ext cx="4974336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6324F"/>
                </a:solidFill>
              </a:rPr>
              <a:t>muitos serviços, necessidade de autoscaling, portabilidade, automação forte de rollout e times de plataforma/DevOps/SRE já estruturados.</a:t>
            </a:r>
            <a:endParaRPr lang="en-US" sz="1540" dirty="0"/>
          </a:p>
        </p:txBody>
      </p:sp>
      <p:sp>
        <p:nvSpPr>
          <p:cNvPr id="22" name="Shape 20"/>
          <p:cNvSpPr/>
          <p:nvPr/>
        </p:nvSpPr>
        <p:spPr>
          <a:xfrm>
            <a:off x="6263640" y="379476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28232" y="3922776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Quando talvez seja demais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28232" y="4215384"/>
            <a:ext cx="4654296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6324F"/>
                </a:solidFill>
              </a:rPr>
              <a:t>sistemas muito pequenos, sem necessidade de alta frequência de deploy, sem time para operar platform engineering e sem ganhos claros de automação.</a:t>
            </a:r>
            <a:endParaRPr lang="en-US" sz="15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Boas práticas e erros comuns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REAL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D3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28A"/>
                </a:solidFill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170432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DDE8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298448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Boas práticas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591056"/>
            <a:ext cx="4974336" cy="3968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16324F"/>
                </a:solidFill>
              </a:rPr>
              <a:t>• use namespaces, labels padronizadas e manifests pequenos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16324F"/>
                </a:solidFill>
              </a:rPr>
              <a:t>• defina requests/limits e probes desde o início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16324F"/>
                </a:solidFill>
              </a:rPr>
              <a:t>• separe ConfigMap de Secret; habilite encryption at rest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16324F"/>
                </a:solidFill>
              </a:rPr>
              <a:t>• prefira imagens versionadas e imutáveis — evite latest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16324F"/>
                </a:solidFill>
              </a:rPr>
              <a:t>• adote Kustomize/Helm/GitOps para consistência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16324F"/>
                </a:solidFill>
              </a:rPr>
              <a:t>• tenha observabilidade, backup de etcd e plano de upgrade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16324F"/>
                </a:solidFill>
              </a:rPr>
              <a:t>• aplique RBAC de menor privilégio e NetworkPolicy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6263640" y="1170432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3970">
            <a:solidFill>
              <a:srgbClr val="D3DD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1298448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Erros comuns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1591056"/>
            <a:ext cx="4882896" cy="3968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• colocar tudo no namespace default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• rodar apps sem limites, probes e métricas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• dar cluster-admin a usuários e workloads sem necessidade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• subir banco crítico sem entender storage e backup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• introduzir service mesh/GitOps/políticas cedo demais sem dominar o básico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• debugar no host em vez de corrigir manifests e automação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• copiar YAML de internet sem entender selectors, portas e permissões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Roteiro de adoção e próximos passos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738360" y="356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F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ENCERRAMENTO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804672"/>
            <a:ext cx="11064240" cy="0"/>
          </a:xfrm>
          <a:prstGeom prst="line">
            <a:avLst/>
          </a:prstGeom>
          <a:noFill/>
          <a:ln w="15240">
            <a:solidFill>
              <a:srgbClr val="36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8428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E4FF"/>
                </a:solidFill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48840" y="1554480"/>
            <a:ext cx="914400" cy="0"/>
          </a:xfrm>
          <a:prstGeom prst="line">
            <a:avLst/>
          </a:prstGeom>
          <a:noFill/>
          <a:ln w="22860">
            <a:solidFill>
              <a:srgbClr val="7FB2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" y="132588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27589C"/>
          </a:solidFill>
          <a:ln w="13970">
            <a:solidFill>
              <a:srgbClr val="D3DD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453896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1746504"/>
            <a:ext cx="76809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1. Aprender localmente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2560320"/>
            <a:ext cx="914400" cy="0"/>
          </a:xfrm>
          <a:prstGeom prst="line">
            <a:avLst/>
          </a:prstGeom>
          <a:noFill/>
          <a:ln w="22860">
            <a:solidFill>
              <a:srgbClr val="7FB2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233172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163C70"/>
          </a:solidFill>
          <a:ln w="13970">
            <a:solidFill>
              <a:srgbClr val="D3DD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459736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2752344"/>
            <a:ext cx="76809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2. Padronizar manifests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3566160"/>
            <a:ext cx="914400" cy="0"/>
          </a:xfrm>
          <a:prstGeom prst="line">
            <a:avLst/>
          </a:prstGeom>
          <a:noFill/>
          <a:ln w="22860">
            <a:solidFill>
              <a:srgbClr val="7FB2F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333756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27589C"/>
          </a:solidFill>
          <a:ln w="13970">
            <a:solidFill>
              <a:srgbClr val="D3DD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465576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" y="3758184"/>
            <a:ext cx="76809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3. Operar em staging/prod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48840" y="4572000"/>
            <a:ext cx="914400" cy="0"/>
          </a:xfrm>
          <a:prstGeom prst="line">
            <a:avLst/>
          </a:prstGeom>
          <a:noFill/>
          <a:ln w="22860">
            <a:solidFill>
              <a:srgbClr val="7FB2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2960" y="434340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163C70"/>
          </a:solidFill>
          <a:ln w="13970">
            <a:solidFill>
              <a:srgbClr val="D3D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471416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7552" y="4764024"/>
            <a:ext cx="76809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4. Evoluir para plataforma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31720" y="1188720"/>
            <a:ext cx="3108960" cy="749808"/>
          </a:xfrm>
          <a:prstGeom prst="roundRect">
            <a:avLst>
              <a:gd name="adj" fmla="val 9756"/>
            </a:avLst>
          </a:prstGeom>
          <a:solidFill>
            <a:srgbClr val="17345D"/>
          </a:solidFill>
          <a:ln w="13970">
            <a:solidFill>
              <a:srgbClr val="3E67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1316736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Local first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96312" y="1609344"/>
            <a:ext cx="27797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6E6FF"/>
                </a:solidFill>
              </a:rPr>
              <a:t>Minikube/kind, kubectl, YAML, namespaces, Services, Deployments</a:t>
            </a:r>
            <a:endParaRPr lang="en-US" sz="1380" dirty="0"/>
          </a:p>
        </p:txBody>
      </p:sp>
      <p:sp>
        <p:nvSpPr>
          <p:cNvPr id="25" name="Shape 23"/>
          <p:cNvSpPr/>
          <p:nvPr/>
        </p:nvSpPr>
        <p:spPr>
          <a:xfrm>
            <a:off x="2331720" y="2194560"/>
            <a:ext cx="3108960" cy="749808"/>
          </a:xfrm>
          <a:prstGeom prst="roundRect">
            <a:avLst>
              <a:gd name="adj" fmla="val 9756"/>
            </a:avLst>
          </a:prstGeom>
          <a:solidFill>
            <a:srgbClr val="17345D"/>
          </a:solidFill>
          <a:ln w="13970">
            <a:solidFill>
              <a:srgbClr val="3E67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96312" y="2322576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Consistência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496312" y="2615184"/>
            <a:ext cx="27797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6E6FF"/>
                </a:solidFill>
              </a:rPr>
              <a:t>Kustomize/Helm, tags fixas, requests/limits, probes, revisão de manifests</a:t>
            </a:r>
            <a:endParaRPr lang="en-US" sz="1380" dirty="0"/>
          </a:p>
        </p:txBody>
      </p:sp>
      <p:sp>
        <p:nvSpPr>
          <p:cNvPr id="28" name="Shape 26"/>
          <p:cNvSpPr/>
          <p:nvPr/>
        </p:nvSpPr>
        <p:spPr>
          <a:xfrm>
            <a:off x="2331720" y="3200400"/>
            <a:ext cx="3108960" cy="749808"/>
          </a:xfrm>
          <a:prstGeom prst="roundRect">
            <a:avLst>
              <a:gd name="adj" fmla="val 9756"/>
            </a:avLst>
          </a:prstGeom>
          <a:solidFill>
            <a:srgbClr val="17345D"/>
          </a:solidFill>
          <a:ln w="13970">
            <a:solidFill>
              <a:srgbClr val="3E67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96312" y="3328416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Operação confiável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496312" y="3621024"/>
            <a:ext cx="27797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6E6FF"/>
                </a:solidFill>
              </a:rPr>
              <a:t>observabilidade, RBAC, Secrets, upgrades, backups, GitOps</a:t>
            </a:r>
            <a:endParaRPr lang="en-US" sz="1380" dirty="0"/>
          </a:p>
        </p:txBody>
      </p:sp>
      <p:sp>
        <p:nvSpPr>
          <p:cNvPr id="31" name="Shape 29"/>
          <p:cNvSpPr/>
          <p:nvPr/>
        </p:nvSpPr>
        <p:spPr>
          <a:xfrm>
            <a:off x="2331720" y="4206240"/>
            <a:ext cx="3108960" cy="749808"/>
          </a:xfrm>
          <a:prstGeom prst="roundRect">
            <a:avLst>
              <a:gd name="adj" fmla="val 9756"/>
            </a:avLst>
          </a:prstGeom>
          <a:solidFill>
            <a:srgbClr val="17345D"/>
          </a:solidFill>
          <a:ln w="13970">
            <a:solidFill>
              <a:srgbClr val="3E67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96312" y="4334256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Escala organizacional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496312" y="4626864"/>
            <a:ext cx="27797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6E6FF"/>
                </a:solidFill>
              </a:rPr>
              <a:t>políticas, operators, clusters gerenciados, platform engineering</a:t>
            </a:r>
            <a:endParaRPr lang="en-US" sz="1380" dirty="0"/>
          </a:p>
        </p:txBody>
      </p:sp>
      <p:sp>
        <p:nvSpPr>
          <p:cNvPr id="34" name="Shape 32"/>
          <p:cNvSpPr/>
          <p:nvPr/>
        </p:nvSpPr>
        <p:spPr>
          <a:xfrm>
            <a:off x="5897880" y="1325880"/>
            <a:ext cx="5166360" cy="2011680"/>
          </a:xfrm>
          <a:prstGeom prst="roundRect">
            <a:avLst>
              <a:gd name="adj" fmla="val 3636"/>
            </a:avLst>
          </a:prstGeom>
          <a:solidFill>
            <a:srgbClr val="0F2C50"/>
          </a:solidFill>
          <a:ln w="13970">
            <a:solidFill>
              <a:srgbClr val="3E67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62472" y="145389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Próximos estudos recomendados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62472" y="1746504"/>
            <a:ext cx="4837176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DDE9FF"/>
                </a:solidFill>
              </a:rPr>
              <a:t>• leia a quick reference de kubectl e a documentação de objetos que você realmente usa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DDE9FF"/>
                </a:solidFill>
              </a:rPr>
              <a:t>• monte um lab com Deployment + Service + Ingress + ConfigMap + Secret + HPA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DDE9FF"/>
                </a:solidFill>
              </a:rPr>
              <a:t>• depois explore StatefulSet, CRD/Operator e Gateway API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DDE9FF"/>
                </a:solidFill>
              </a:rPr>
              <a:t>• por fim, adote stack de observabilidade e entrega declarativa</a:t>
            </a:r>
            <a:endParaRPr lang="en-US" sz="1510" dirty="0"/>
          </a:p>
        </p:txBody>
      </p:sp>
      <p:sp>
        <p:nvSpPr>
          <p:cNvPr id="37" name="Shape 35"/>
          <p:cNvSpPr/>
          <p:nvPr/>
        </p:nvSpPr>
        <p:spPr>
          <a:xfrm>
            <a:off x="5897880" y="379476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0F2C50"/>
          </a:solidFill>
          <a:ln w="13970">
            <a:solidFill>
              <a:srgbClr val="3E67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62472" y="392277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Referência oficial indispensável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62472" y="4215384"/>
            <a:ext cx="483717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DDE9FF"/>
                </a:solidFill>
              </a:rPr>
              <a:t>kubernetes.io/docs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DDE9FF"/>
                </a:solidFill>
              </a:rPr>
              <a:t>reference/kubectl/quick-reference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DDE9FF"/>
                </a:solidFill>
              </a:rPr>
              <a:t>concepts/overview/components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DDE9FF"/>
                </a:solidFill>
              </a:rPr>
              <a:t>setup/production-environment/tools/kubeadm</a:t>
            </a:r>
            <a:endParaRPr lang="en-US" sz="15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— guia completo</dc:title>
  <dc:subject>Apresentação completa sobre Kubernetes</dc:subject>
  <dc:creator>OpenAI</dc:creator>
  <cp:lastModifiedBy>OpenAI</cp:lastModifiedBy>
  <cp:revision>1</cp:revision>
  <dcterms:created xsi:type="dcterms:W3CDTF">2026-04-17T22:34:00Z</dcterms:created>
  <dcterms:modified xsi:type="dcterms:W3CDTF">2026-04-17T22:34:00Z</dcterms:modified>
</cp:coreProperties>
</file>