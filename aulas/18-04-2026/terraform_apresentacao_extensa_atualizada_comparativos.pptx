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32"/>
    <p:sldId id="282" r:id="rId33"/>
    <p:sldId id="283" r:id="rId34"/>
    <p:sldId id="284" r:id="rId35"/>
    <p:sldId id="285" r:id="rId36"/>
    <p:sldId id="286" r:id="rId37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31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“What is Terraform?” https://developer.hashicorp.com/terraform/intro
- Claims: HashiCorp Developer, “Terraform Documentation” https://developer.hashicorp.com/terraform/docs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Conteúdo estruturado pelo autor para fins didáticos.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Terraform 1.0 Launch Keynote (primeira versão em 2014 e foco inicial em múltiplos provedores) https://www.hashicorp.com/en/resources/terraform-1-0-launch-keynote
- Claims: HashiCorp Developer, “What is Terraform?” https://developer.hashicorp.com/terraform/intro
- Claims: HashiCorp Developer, “Terraform Documentation” https://developer.hashicorp.com/terraform/docs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Terraform 1.0 Launch Keynote (origem em 2014 e foco inicial) https://www.hashicorp.com/en/resources/terraform-1-0-launch-keynote
- Claims: HashiCorp, “Announcing Terraform 1.0 General Availability” https://www.hashicorp.com/en/blog/announcing-hashicorp-terraform-1-0-general-availability
- Claims: HashiCorp, “A Tour of Terraform 0.12” https://www.hashicorp.com/en/resources/a-tour-of-terraform-0-12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“terraform plan command” https://developer.hashicorp.com/terraform/cli/commands/plan
- Claims: HashiCorp Developer, “State” https://developer.hashicorp.com/terraform/language/state
- Claims: HashiCorp Developer, “What is Terraform?” https://developer.hashicorp.com/terraform/intro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“terraform init command” https://developer.hashicorp.com/terraform/cli/commands/init
- Claims: HashiCorp Developer, “terraform plan command” https://developer.hashicorp.com/terraform/cli/commands/plan
- Claims: HashiCorp Developer, “terraform apply command” https://developer.hashicorp.com/terraform/cli/commands/apply
- Claims: HashiCorp Developer, “State” https://developer.hashicorp.com/terraform/language/state
- Claims: HashiCorp Developer, “Dependency Graph” https://developer.hashicorp.com/terraform/internals/graph
- Claims: HashiCorp Developer, “What is Terraform?” https://developer.hashicorp.com/terraform/intro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“Providers” https://developer.hashicorp.com/terraform/language/providers
- Claims: HashiCorp Developer, “State Storage and Locking” https://developer.hashicorp.com/terraform/language/state/backends
- Claims: HashiCorp Developer, “State” https://developer.hashicorp.com/terraform/language/state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“Install Terraform” https://developer.hashicorp.com/terraform/tutorials/aws-get-started/install-cli
- Claims: HashiCorp Developer, “Install” https://developer.hashicorp.com/terraform/install
- Claims: HashiCorp Developer, “terraform init command” https://developer.hashicorp.com/terraform/cli/commands/init
- Claims: Terraform Registry, AWS provider docs (credenciais por variáveis de ambiente) https://registry.terraform.io/providers/hashicorp/aws/latest/docs
- Claims: Terraform Registry, AzureRM authentication guides https://registry.terraform.io/providers/hashicorp/azurerm/latest/docs/guides/azure_cli
- Claims: Terraform Registry, Google provider reference (ADC recomendado no workstation) https://registry.terraform.io/providers/hashicorp/google/latest/docs/guides/provider_reference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“Provider Requirements” https://developer.hashicorp.com/terraform/language/providers/requirements
- Claims: HashiCorp Developer, “Use input variables to add module arguments” https://developer.hashicorp.com/terraform/language/values/variables
- Claims: HashiCorp Developer, “Manage values in modules” https://developer.hashicorp.com/terraform/language/values
- Claims: HashiCorp Developer, “Dependency lock file” https://developer.hashicorp.com/terraform/language/files/dependency-lock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“Provider Requirements” https://developer.hashicorp.com/terraform/language/providers/requirements
- Claims: HashiCorp Developer, “Providers” https://developer.hashicorp.com/terraform/language/providers
- Claims: HashiCorp Developer, “Syntax” https://developer.hashicorp.com/terraform/language/syntax/configuration
- Claims: HashiCorp Developer, “Query infrastructure data” https://developer.hashicorp.com/terraform/language/data-sources
- Claims: HashiCorp Developer, Azure tutorial (resource type prefix mapeia para provider) https://developer.hashicorp.com/terraform/tutorials/azure-get-started/azure-build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“Use input variables to add module arguments” https://developer.hashicorp.com/terraform/language/values/variables
- Claims: HashiCorp Developer, “Use locals to reuse expressions” https://developer.hashicorp.com/terraform/language/values/locals
- Claims: HashiCorp Developer, “Manage values in modules” https://developer.hashicorp.com/terraform/language/values
- Claims: HashiCorp Developer, “Create resource dependencies” https://developer.hashicorp.com/terraform/tutorials/configuration-language/dependencies
- Claims: HashiCorp Developer, “lifecycle meta-argument reference” https://developer.hashicorp.com/terraform/language/meta-arguments/lifecycle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“Write and modify Terraform configuration from the CLI” https://developer.hashicorp.com/terraform/cli/code
- Claims: HashiCorp Developer, “terraform fmt command” https://developer.hashicorp.com/terraform/cli/commands/fmt
- Claims: HashiCorp Developer, “terraform validate command” https://developer.hashicorp.com/terraform/cli/commands/validate
- Claims: HashiCorp Developer, “terraform init command” https://developer.hashicorp.com/terraform/cli/commands/init
- Claims: HashiCorp Developer, “terraform plan command” https://developer.hashicorp.com/terraform/cli/commands/plan
- Claims: HashiCorp Developer, “terraform apply command” https://developer.hashicorp.com/terraform/cli/commands/apply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“terraform init command” https://developer.hashicorp.com/terraform/cli/commands/init
- Claims: HashiCorp Developer, “terraform apply command” https://developer.hashicorp.com/terraform/cli/commands/apply
- Examples authored for didactic purposes by the assistant; they are based on Terraform language conventions and common provider patterns.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“Create infrastructure” (AWS tutorial) https://developer.hashicorp.com/terraform/tutorials/aws-get-started/aws-create
- Claims: Terraform Registry, AWS provider docs https://registry.terraform.io/providers/hashicorp/aws/latest/docs
- Claims: HashiCorp Developer, “Provider Requirements” https://developer.hashicorp.com/terraform/language/providers/requirements
- Example authored for didactic purposes by the assistant following current AWS provider conventions.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“terraform validate command” https://developer.hashicorp.com/terraform/cli/commands/validate
- Claims: HashiCorp Developer, “terraform plan command” https://developer.hashicorp.com/terraform/cli/commands/plan
- Claims: Terraform Registry, AWS provider docs https://registry.terraform.io/providers/hashicorp/aws/latest/docs
- Example intentionally broken for didactic purposes by the assistant.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Azure tutorial https://developer.hashicorp.com/terraform/tutorials/azure-get-started/azure-build
- Claims: Terraform Registry, AzureRM provider docs https://registry.terraform.io/providers/hashicorp/azurerm/latest/docs
- Example authored for didactic purposes by the assistant following current AzureRM conventions.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“terraform validate command” https://developer.hashicorp.com/terraform/cli/commands/validate
- Claims: Terraform Registry, AzureRM provider docs https://registry.terraform.io/providers/hashicorp/azurerm/latest/docs
- Example intentionally broken for didactic purposes by the assistant.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Terraform Registry, Google provider reference (ADC recomendado em workstation) https://registry.terraform.io/providers/hashicorp/google/latest/docs/guides/provider_reference
- Claims: Terraform Registry, Google provider docs https://registry.terraform.io/providers/hashicorp/google/latest/docs
- Example authored for didactic purposes by the assistant following common Google provider conventions.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“terraform validate command” https://developer.hashicorp.com/terraform/cli/commands/validate
- Claims: Terraform Registry, Google provider docs https://registry.terraform.io/providers/hashicorp/google/latest/docs
- Example intentionally broken for didactic purposes by the assistant.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“State” https://developer.hashicorp.com/terraform/language/state
- Claims: HashiCorp Developer, “State Locking” https://developer.hashicorp.com/terraform/language/state/locking
- Claims: HashiCorp Developer, “State Storage and Locking” https://developer.hashicorp.com/terraform/language/state/backends
- Claims: HashiCorp Developer, “Backend Type: s3” https://developer.hashicorp.com/terraform/language/backend/s3
- Claims: HashiCorp Developer, “Backend Type: azurerm” https://developer.hashicorp.com/terraform/language/backend/azurerm
- Claims: HashiCorp Developer, “Backend Type: gcs” https://developer.hashicorp.com/terraform/language/backend/gcs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“Use modules in your configuration” https://developer.hashicorp.com/terraform/language/modules/configuration
- Claims: HashiCorp Developer, “Creating Modules” https://developer.hashicorp.com/terraform/language/modules/develop
- Claims: HashiCorp Developer, “Workspaces” https://developer.hashicorp.com/terraform/language/state/workspaces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“terraform validate command” https://developer.hashicorp.com/terraform/cli/commands/validate
- Claims: HashiCorp Developer, “terraform init command” https://developer.hashicorp.com/terraform/cli/commands/init
- Claims: HashiCorp Developer, “terraform plan command” https://developer.hashicorp.com/terraform/cli/commands/plan
- Claims: HashiCorp Developer, “State Locking” https://developer.hashicorp.com/terraform/language/state/locking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“Style Guide” https://developer.hashicorp.com/terraform/language/style
- Claims: HashiCorp Developer, “Provider Requirements” https://developer.hashicorp.com/terraform/language/providers/requirements
- Claims: HashiCorp Developer, “State Storage and Locking” https://developer.hashicorp.com/terraform/language/state/backends
- Claims: HashiCorp Developer, “State Locking” https://developer.hashicorp.com/terraform/language/state/locking
- Claims: HashiCorp Developer, “Perform post-apply operations using provisioners” https://developer.hashicorp.com/terraform/language/provisioners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Claims: HashiCorp Developer, “terraform plan command” (uso de -out e revisão) https://developer.hashicorp.com/terraform/cli/commands/plan
- Claims: HashiCorp Developer, “terraform apply command” (aplicar plano salvo e automação) https://developer.hashicorp.com/terraform/cli/commands/apply
- Claims: HashiCorp Developer, “State Storage and Locking” https://developer.hashicorp.com/terraform/language/state/backends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Resumo autoral construído a partir das referências oficiais citadas ao longo do material.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869680" y="1143000"/>
            <a:ext cx="594360" cy="594360"/>
          </a:xfrm>
          <a:prstGeom prst="hexagon">
            <a:avLst/>
          </a:prstGeom>
          <a:solidFill>
            <a:srgbClr val="7B42F6"/>
          </a:solidFill>
          <a:ln w="1270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73768" y="1143000"/>
            <a:ext cx="594360" cy="594360"/>
          </a:xfrm>
          <a:prstGeom prst="hexagon">
            <a:avLst/>
          </a:prstGeom>
          <a:solidFill>
            <a:srgbClr val="8D63F8"/>
          </a:solidFill>
          <a:ln w="12700">
            <a:solidFill>
              <a:srgbClr val="8D63F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221724" y="1856232"/>
            <a:ext cx="594360" cy="594360"/>
          </a:xfrm>
          <a:prstGeom prst="hexagon">
            <a:avLst/>
          </a:prstGeom>
          <a:solidFill>
            <a:srgbClr val="6C38DA"/>
          </a:solidFill>
          <a:ln w="12700">
            <a:solidFill>
              <a:srgbClr val="6C38D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925812" y="1856232"/>
            <a:ext cx="594360" cy="594360"/>
          </a:xfrm>
          <a:prstGeom prst="hexagon">
            <a:avLst/>
          </a:prstGeom>
          <a:solidFill>
            <a:srgbClr val="A98C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73768" y="2569464"/>
            <a:ext cx="594360" cy="594360"/>
          </a:xfrm>
          <a:prstGeom prst="hexagon">
            <a:avLst/>
          </a:prstGeom>
          <a:solidFill>
            <a:srgbClr val="7B42F6"/>
          </a:solidFill>
          <a:ln w="1270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1430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História, conceitos e utilização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 nas grandes nuvens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extenso para apresentação: por que o Terraform surgiu, como ele opera como IaC, sintaxe-base completa do fluxo prático, uso local, execução em AWS, Azure e GCP, comparação entre scripts corretos e incorretos, além de boas práticas operacionais.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224528"/>
            <a:ext cx="521208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4370832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Foco: CLI, HCL, fluxo init/plan/apply, estado, módulos, backends remotos e multi-cloud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apresentação foi organizada para sair do contexto histórico e chegar ao uso real em produção.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17320" y="1709928"/>
            <a:ext cx="50292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554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5740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Terraform surgiu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0" y="15453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problema operacional à proposta de IaC declarativa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17320" y="2395728"/>
            <a:ext cx="50292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2402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2221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Terraform funciona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22311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providers, grafo de dependências, plan, apply e state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17320" y="3081528"/>
            <a:ext cx="50292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2926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2907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Instalação e sintaxe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0" y="29169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CLI, estrutura de projeto, blocos essenciais e comandos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17320" y="3767328"/>
            <a:ext cx="50292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3611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57400" y="3593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local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0" y="36027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funcional e exemplo com erro para leitura comparativa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17320" y="4453128"/>
            <a:ext cx="50292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42976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57400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AWS, Azure e GCP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42885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corretos, scripts incorretos, autenticação e backends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417320" y="5138928"/>
            <a:ext cx="50292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77240" y="4983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057400" y="4965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em equipe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49743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módulos, backends remotos, CI/CD, erros comuns e boas práticas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Terraform foi criado?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origem do Terraform está no problema real de operar infraestrutura heterogênea, repetitiva e difícil de versionar.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ECEEF3"/>
          </a:solidFill>
          <a:ln w="1016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44475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ECEEF3"/>
          </a:solidFill>
          <a:ln w="1016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91072" y="144475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Terraform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scripts shell, APIs e consoles diferentes para cada provedor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mudanças difíceis de revisar e reproduzir entre ambientes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dependências entre recursos tratadas de forma manual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drift frequente: o ambiente real diverge do que a equipe imagina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baixa rastreabilidade: pouca clareza sobre “quem mudou o quê”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23560" y="2148840"/>
            <a:ext cx="777240" cy="0"/>
          </a:xfrm>
          <a:prstGeom prst="line">
            <a:avLst/>
          </a:prstGeom>
          <a:noFill/>
          <a:ln w="20320">
            <a:solidFill>
              <a:srgbClr val="A98C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23560" y="2990088"/>
            <a:ext cx="777240" cy="0"/>
          </a:xfrm>
          <a:prstGeom prst="line">
            <a:avLst/>
          </a:prstGeom>
          <a:noFill/>
          <a:ln w="20320">
            <a:solidFill>
              <a:srgbClr val="A98C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623560" y="3831336"/>
            <a:ext cx="777240" cy="0"/>
          </a:xfrm>
          <a:prstGeom prst="line">
            <a:avLst/>
          </a:prstGeom>
          <a:noFill/>
          <a:ln w="20320">
            <a:solidFill>
              <a:srgbClr val="A98C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46520" y="1783080"/>
            <a:ext cx="2057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185623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declarativa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2624328"/>
            <a:ext cx="2057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37960" y="269748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(instalados no init)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46520" y="3465576"/>
            <a:ext cx="2057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37960" y="3538728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/ Apply / State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0" y="1645920"/>
            <a:ext cx="1920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35440" y="17190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2578608"/>
            <a:ext cx="1920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235440" y="26517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0" y="3511296"/>
            <a:ext cx="1920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235440" y="358444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2121408"/>
            <a:ext cx="594360" cy="-146304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503920" y="2770632"/>
            <a:ext cx="594360" cy="13716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503920" y="3438144"/>
            <a:ext cx="594360" cy="402336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263640" y="4572000"/>
            <a:ext cx="4892040" cy="1097280"/>
          </a:xfrm>
          <a:prstGeom prst="roundRect">
            <a:avLst>
              <a:gd name="adj" fmla="val 5000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73368" y="4645152"/>
            <a:ext cx="467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 central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73368" y="4828032"/>
            <a:ext cx="46725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de escrever passos imperativos para cada nuvem, a equipe declara o estado desejado e o Terraform calcula a ordem de criação, alteração ou destruição.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tempo resumida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 suficientes para entender a evolução da ferramenta sem entrar em detalhes históricos excessivos.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3246120"/>
            <a:ext cx="10058400" cy="0"/>
          </a:xfrm>
          <a:prstGeom prst="line">
            <a:avLst/>
          </a:prstGeom>
          <a:noFill/>
          <a:ln w="254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3081528"/>
            <a:ext cx="329184" cy="329184"/>
          </a:xfrm>
          <a:prstGeom prst="ellipse">
            <a:avLst/>
          </a:prstGeom>
          <a:solidFill>
            <a:srgbClr val="7B42F6"/>
          </a:solidFill>
          <a:ln w="1270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560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261872" y="2697480"/>
            <a:ext cx="0" cy="384048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4360" y="3675888"/>
            <a:ext cx="1353312" cy="1325880"/>
          </a:xfrm>
          <a:prstGeom prst="roundRect">
            <a:avLst>
              <a:gd name="adj" fmla="val 4138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4088" y="374904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versão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3931920"/>
            <a:ext cx="11338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HashiCorp lança a primeira versão do Terraform com suporte inicial a AWS e DigitalOcean.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71800" y="3081528"/>
            <a:ext cx="329184" cy="329184"/>
          </a:xfrm>
          <a:prstGeom prst="ellipse">
            <a:avLst/>
          </a:prstGeom>
          <a:solidFill>
            <a:srgbClr val="A98C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834640" y="2560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2014–2017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36392" y="2697480"/>
            <a:ext cx="0" cy="384048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468880" y="3675888"/>
            <a:ext cx="1353312" cy="1325880"/>
          </a:xfrm>
          <a:prstGeom prst="roundRect">
            <a:avLst>
              <a:gd name="adj" fmla="val 4138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578608" y="374904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de providers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78608" y="3931920"/>
            <a:ext cx="11338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multi-cloud passa a ganhar força com mais provedores e recursos.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0" y="3081528"/>
            <a:ext cx="329184" cy="329184"/>
          </a:xfrm>
          <a:prstGeom prst="ellipse">
            <a:avLst/>
          </a:prstGeom>
          <a:solidFill>
            <a:srgbClr val="A98C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92040" y="2560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93792" y="2697480"/>
            <a:ext cx="0" cy="384048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26280" y="3675888"/>
            <a:ext cx="1353312" cy="1325880"/>
          </a:xfrm>
          <a:prstGeom prst="roundRect">
            <a:avLst>
              <a:gd name="adj" fmla="val 4138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636008" y="374904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0.12 / HCL mais madura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6008" y="3931920"/>
            <a:ext cx="11338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linguagem se torna mais expressiva e amigável para estruturas e expressões.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78040" y="3081528"/>
            <a:ext cx="329184" cy="329184"/>
          </a:xfrm>
          <a:prstGeom prst="ellipse">
            <a:avLst/>
          </a:prstGeom>
          <a:solidFill>
            <a:srgbClr val="A98C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040880" y="2560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42632" y="2697480"/>
            <a:ext cx="0" cy="384048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675120" y="3675888"/>
            <a:ext cx="1353312" cy="1325880"/>
          </a:xfrm>
          <a:prstGeom prst="roundRect">
            <a:avLst>
              <a:gd name="adj" fmla="val 4138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784848" y="374904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1.0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84848" y="3931920"/>
            <a:ext cx="11338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ferramenta entra numa fase de estabilidade de workflows e compatibilidade.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326880" y="3081528"/>
            <a:ext cx="329184" cy="329184"/>
          </a:xfrm>
          <a:prstGeom prst="ellipse">
            <a:avLst/>
          </a:prstGeom>
          <a:solidFill>
            <a:srgbClr val="A98C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189720" y="2560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491472" y="2697480"/>
            <a:ext cx="0" cy="384048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823960" y="3675888"/>
            <a:ext cx="1353312" cy="1325880"/>
          </a:xfrm>
          <a:prstGeom prst="roundRect">
            <a:avLst>
              <a:gd name="adj" fmla="val 4138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933688" y="374904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amplo em IaC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33688" y="3931920"/>
            <a:ext cx="11338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é referência em automação declarativa para cloud e recursos on-prem / SaaS.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Terraform influencia o dia a dia de uma equipe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não é só “criar recurso”: é padronizar mudança, revisão e recuperação operacional.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0749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77824" y="1664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Versionamento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7824" y="188366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descrita em arquivos legíveis, fáceis de revisar em Git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749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01384" y="1664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Previsibilidade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01384" y="188366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plan mostra o delta antes de tocar nos recursos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50749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7824" y="30815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77824" y="330098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padrão é reaproveitado em dev, teste, homologação e produção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2971800"/>
            <a:ext cx="50749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01384" y="30815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01384" y="330098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 código explicam a topologia gerenciada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389120"/>
            <a:ext cx="50749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77824" y="4498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drift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77824" y="471830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evidencia diferenças entre configuração, estado e ambiente real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389120"/>
            <a:ext cx="50749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01384" y="4498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01384" y="471830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grafo permite paralelismo quando não há dependência entre recursos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Terraform funciona internamente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ferramenta lê a configuração, instala providers, monta um grafo de dependências, compara com o estado e chama as APIs necessárias.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48840" y="2240280"/>
            <a:ext cx="731520" cy="0"/>
          </a:xfrm>
          <a:prstGeom prst="line">
            <a:avLst/>
          </a:prstGeom>
          <a:noFill/>
          <a:ln w="20320">
            <a:solidFill>
              <a:srgbClr val="A98C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0" y="2240280"/>
            <a:ext cx="731520" cy="0"/>
          </a:xfrm>
          <a:prstGeom prst="line">
            <a:avLst/>
          </a:prstGeom>
          <a:noFill/>
          <a:ln w="20320">
            <a:solidFill>
              <a:srgbClr val="A98C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040880" y="2240280"/>
            <a:ext cx="731520" cy="0"/>
          </a:xfrm>
          <a:prstGeom prst="line">
            <a:avLst/>
          </a:prstGeom>
          <a:noFill/>
          <a:ln w="20320">
            <a:solidFill>
              <a:srgbClr val="A98C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464040" y="2240280"/>
            <a:ext cx="731520" cy="0"/>
          </a:xfrm>
          <a:prstGeom prst="line">
            <a:avLst/>
          </a:prstGeom>
          <a:noFill/>
          <a:ln w="20320">
            <a:solidFill>
              <a:srgbClr val="A98C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897880" y="3063240"/>
            <a:ext cx="0" cy="86868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178308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1856232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HCL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(root module)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80360" y="1783080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971800" y="1856232"/>
            <a:ext cx="1508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terraform init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+ módulos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303520" y="17830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94960" y="1856232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plan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de state + APIs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0" y="1783080"/>
            <a:ext cx="16916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63840" y="1856232"/>
            <a:ext cx="1508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grafo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95560" y="1783080"/>
            <a:ext cx="1143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287000" y="1856232"/>
            <a:ext cx="960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apply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/ altera / destrói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51960" y="3977640"/>
            <a:ext cx="3291840" cy="822960"/>
          </a:xfrm>
          <a:prstGeom prst="roundRect">
            <a:avLst>
              <a:gd name="adj" fmla="val 5556"/>
            </a:avLst>
          </a:prstGeom>
          <a:solidFill>
            <a:srgbClr val="F4F0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343400" y="405079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atualizado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(terraform.tfstate ou backend remoto)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5074920"/>
            <a:ext cx="4709160" cy="841248"/>
          </a:xfrm>
          <a:prstGeom prst="roundRect">
            <a:avLst>
              <a:gd name="adj" fmla="val 6522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2688" y="5148072"/>
            <a:ext cx="4489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importante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5330952"/>
            <a:ext cx="4489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é declarativo: você descreve o resultado desejado. A sequência exata das operações é decidida pelo próprio Terraform a partir do grafo e das dependências.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06440" y="507492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916168" y="5148072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plan faz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16168" y="5330952"/>
            <a:ext cx="5221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 a visão de estado, compara o código com o que já existe e propõe as ações necessárias. O plan, sozinho, não muda nada.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local → nuvens e outros alvos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Terraform roda onde a CLI está instalada; quem conversa com a nuvem são os providers usando credenciais e APIs.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23160" y="2743200"/>
            <a:ext cx="1417320" cy="0"/>
          </a:xfrm>
          <a:prstGeom prst="line">
            <a:avLst/>
          </a:prstGeom>
          <a:noFill/>
          <a:ln w="20320">
            <a:solidFill>
              <a:srgbClr val="A98C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60720" y="2011680"/>
            <a:ext cx="1783080" cy="-237744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760720" y="2743200"/>
            <a:ext cx="1783080" cy="164592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760720" y="3474720"/>
            <a:ext cx="1783080" cy="68580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80560" y="3657600"/>
            <a:ext cx="0" cy="91440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224028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F4F0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313432"/>
            <a:ext cx="1417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notebook / runner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+ arquivos .tf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0" y="2148840"/>
            <a:ext cx="19202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931920" y="2221992"/>
            <a:ext cx="1737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Core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• validate • plan • apply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43800" y="1444752"/>
            <a:ext cx="1508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635240" y="151790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43800" y="2578608"/>
            <a:ext cx="1508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635240" y="265176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43800" y="3831336"/>
            <a:ext cx="1508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635240" y="390448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55480" y="2578608"/>
            <a:ext cx="1783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646920" y="265176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/ on-prem / SaaS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0" y="461772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566160" y="469087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backend remoto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 mesmo workflow da CLI serve para recursos locais e para grandes nuvens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 provedor exige autenticação própria, mas a experiência de plan/apply é uniforme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 equipe, é preferível guardar state fora do notebook usando backend remoto com lock</a:t>
            </a:r>
            <a:endParaRPr lang="en-US" sz="1330" dirty="0"/>
          </a:p>
        </p:txBody>
      </p:sp>
      <p:sp>
        <p:nvSpPr>
          <p:cNvPr id="27" name="Text 24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Instalação do Terraform CLI e pré-requisitos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Instale a CLI, valide a versão e prepare a autenticação do provedor que será usado.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44475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ECEEF3"/>
          </a:solidFill>
          <a:ln w="1016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0392" y="147218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737360"/>
            <a:ext cx="3200400" cy="1417320"/>
          </a:xfrm>
          <a:prstGeom prst="roundRect">
            <a:avLst>
              <a:gd name="adj" fmla="val 3871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1737360"/>
            <a:ext cx="73152" cy="141732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41832" y="2029968"/>
            <a:ext cx="29443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tap hashicorp/tap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hashicorp/tap/terraform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-version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44475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ECEEF3"/>
          </a:solidFill>
          <a:ln w="1016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53712" y="147218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73736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80560" y="1737360"/>
            <a:ext cx="73152" cy="141732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45152" y="2029968"/>
            <a:ext cx="29900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choco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terraform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-version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1444752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ECEEF3"/>
          </a:solidFill>
          <a:ln w="1016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57032" y="147218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/ manual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83880" y="173736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83880" y="1737360"/>
            <a:ext cx="73152" cy="141732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48472" y="2029968"/>
            <a:ext cx="29900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https://releases.hashicorp.com/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unzip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terraform_*.zip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terraform /usr/local/bin/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-version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22960" y="37033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32688" y="3776472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da instalação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959352"/>
            <a:ext cx="3621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crie uma pasta do projeto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escreva seus arquivos .tf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execute terraform init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valide com terraform validate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revise com terraform plan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aplique com terraform apply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3703320"/>
            <a:ext cx="6355080" cy="1417320"/>
          </a:xfrm>
          <a:prstGeom prst="roundRect">
            <a:avLst>
              <a:gd name="adj" fmla="val 3871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01768" y="3776472"/>
            <a:ext cx="6135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básica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01768" y="3959352"/>
            <a:ext cx="61356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variáveis AWS_ACCESS_KEY_ID / AWS_SECRET_ACCESS_KEY ou perfil CLI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Azure: Azure CLI, Service Principal ou Managed Identity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GCP: gcloud auth application-default login (ADC) ou credencial de serviço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5394960"/>
            <a:ext cx="10424160" cy="640080"/>
          </a:xfrm>
          <a:prstGeom prst="roundRect">
            <a:avLst>
              <a:gd name="adj" fmla="val 8571"/>
            </a:avLst>
          </a:prstGeom>
          <a:solidFill>
            <a:srgbClr val="FFF7E8"/>
          </a:solidFill>
          <a:ln w="12700">
            <a:solidFill>
              <a:srgbClr val="F1C27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32688" y="5468112"/>
            <a:ext cx="10204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7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5650992"/>
            <a:ext cx="10204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 é uma peça separada dos providers. Ao rodar terraform init, o Terraform baixa os plugins exigidos pela configuração.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mínima de um projeto Terraform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arquivos por responsabilidade reduz confusão, facilita revisão e melhora reuso.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017520" cy="3474720"/>
          </a:xfrm>
          <a:prstGeom prst="roundRect">
            <a:avLst>
              <a:gd name="adj" fmla="val 1818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600200"/>
            <a:ext cx="73152" cy="347472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16733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pasta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1892808"/>
            <a:ext cx="276148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versions.tf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providers.tf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main.tf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variables.tf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outputs.tf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terraform.tfvars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.terraform.lock.hcl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16642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versions.tf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15000" y="1664208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 required_providers e, se necessário, backend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1947672"/>
            <a:ext cx="6858000" cy="0"/>
          </a:xfrm>
          <a:prstGeom prst="line">
            <a:avLst/>
          </a:prstGeom>
          <a:noFill/>
          <a:ln w="10160">
            <a:solidFill>
              <a:srgbClr val="ECEEF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97680" y="21396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providers.tf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15000" y="2139696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provider, região, assinatura, projeto etc.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97680" y="2423160"/>
            <a:ext cx="6858000" cy="0"/>
          </a:xfrm>
          <a:prstGeom prst="line">
            <a:avLst/>
          </a:prstGeom>
          <a:noFill/>
          <a:ln w="10160">
            <a:solidFill>
              <a:srgbClr val="ECEEF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0" y="261518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715000" y="2615184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contém resources, data sources, módulos e dependências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97680" y="2898648"/>
            <a:ext cx="6858000" cy="0"/>
          </a:xfrm>
          <a:prstGeom prst="line">
            <a:avLst/>
          </a:prstGeom>
          <a:noFill/>
          <a:ln w="10160">
            <a:solidFill>
              <a:srgbClr val="ECEEF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97680" y="30906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variables.tf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715000" y="3090672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entradas tipadas e valores padrão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3374136"/>
            <a:ext cx="6858000" cy="0"/>
          </a:xfrm>
          <a:prstGeom prst="line">
            <a:avLst/>
          </a:prstGeom>
          <a:noFill/>
          <a:ln w="10160">
            <a:solidFill>
              <a:srgbClr val="ECEEF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297680" y="35661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outputs.tf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715000" y="356616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expõe IDs, URLs, nomes e valores úteis após o apply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9624"/>
            <a:ext cx="6858000" cy="0"/>
          </a:xfrm>
          <a:prstGeom prst="line">
            <a:avLst/>
          </a:prstGeom>
          <a:noFill/>
          <a:ln w="10160">
            <a:solidFill>
              <a:srgbClr val="ECEEF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297680" y="40416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terraform.tfvars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15000" y="4041648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atribui valores sem alterar o código-fonte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97680" y="4325112"/>
            <a:ext cx="6858000" cy="0"/>
          </a:xfrm>
          <a:prstGeom prst="line">
            <a:avLst/>
          </a:prstGeom>
          <a:noFill/>
          <a:ln w="10160">
            <a:solidFill>
              <a:srgbClr val="ECEEF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297680" y="45171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.terraform.lock.hcl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715000" y="4517136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versões selecionadas dos providers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297680" y="4800600"/>
            <a:ext cx="6858000" cy="0"/>
          </a:xfrm>
          <a:prstGeom prst="line">
            <a:avLst/>
          </a:prstGeom>
          <a:noFill/>
          <a:ln w="10160">
            <a:solidFill>
              <a:srgbClr val="ECEEF3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297680" y="5166360"/>
            <a:ext cx="6766560" cy="822960"/>
          </a:xfrm>
          <a:prstGeom prst="roundRect">
            <a:avLst>
              <a:gd name="adj" fmla="val 6667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407408" y="5239512"/>
            <a:ext cx="6547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prática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07408" y="5422392"/>
            <a:ext cx="6547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.tf no mesmo diretório raiz pertencem ao mesmo root module. O Terraform os lê em conjunto, não como scripts isolados.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essencial I: blocos fundamentais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Esses blocos formam a base de quase toda configuração real em Terraform.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166360" cy="4251960"/>
          </a:xfrm>
          <a:prstGeom prst="roundRect">
            <a:avLst>
              <a:gd name="adj" fmla="val 1290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600200"/>
            <a:ext cx="73152" cy="425196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167335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enxuto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1892808"/>
            <a:ext cx="4910328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required_providers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"hashicorp/aws"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"~&gt; 6.0"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"aws"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var.aws_region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"aws_s3_bucket"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"logs"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var.bucket_name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"aws_caller_identity"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"current"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0" y="16916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`terraform {}`: declara providers, versões, backend e outras definições de alto nível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`provider` : configura como falar com um sistema remoto (região, projeto, assinatura, endpoints, credenciais por ambiente etc.)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`resource` : descreve um objeto que o Terraform deve criar, alterar ou destruir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`data` : consulta algo já existente para usar como entrada em outros recursos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 identificador completo segue o padrão `tipo.nome`, por exemplo `aws_s3_bucket.logs`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355080" y="5074920"/>
            <a:ext cx="4800600" cy="685800"/>
          </a:xfrm>
          <a:prstGeom prst="roundRect">
            <a:avLst>
              <a:gd name="adj" fmla="val 8000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64808" y="5148072"/>
            <a:ext cx="4581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 tipo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64808" y="5330952"/>
            <a:ext cx="45811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`azurerm_resource_group.rg`, o prefixo `azurerm` aponta para o provider. Em `google_storage_bucket.dados`, o prefixo `google` faz o mesmo papel.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essencial II: variáveis, locals, outputs e controle de ciclo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Esses elementos deixam o código flexível, reutilizável e mais fácil de operar em ambientes diferentes.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892040" cy="4434840"/>
          </a:xfrm>
          <a:prstGeom prst="roundRect">
            <a:avLst>
              <a:gd name="adj" fmla="val 1237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572768"/>
            <a:ext cx="73152" cy="443484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164592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Blocos de apoio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1865376"/>
            <a:ext cx="4636008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"env"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"dev"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bucket_name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"tf-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-logs"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"aws_s3_bucket"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"logs"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local.bucket_name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prevent_destroy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"bucket_arn"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aws_s3_bucket.logs.arn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0" y="1719072"/>
            <a:ext cx="50749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`variable` define a interface de entrada do módulo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`locals` evita repetição de expressões e melhora legibilidade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`output` expõe valores úteis depois do apply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`depends_on` força dependência explícita quando o Terraform não consegue inferi-la sozinho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`lifecycle` altera regras operacionais como destruição, substituição e ignorar mudanças específicas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080760" y="4983480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90488" y="505663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leitura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90488" y="5239512"/>
            <a:ext cx="4764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maioria dos casos o Terraform infere dependências automaticamente. Use depends_on apenas quando a relação não estiver clara no próprio código.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essenciais do fluxo de trabalho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do Terraform está tanto na linguagem quanto no ritual operacional da CLI.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920240" y="2743200"/>
            <a:ext cx="22860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22402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313432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315468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 a formatação canônica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32004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240280" y="22402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331720" y="2313432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21992" y="315468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providers, módulos e prepara backend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937760" y="2743200"/>
            <a:ext cx="41148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794760" y="22402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886200" y="2313432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76472" y="315468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a configuração localmente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583680" y="2743200"/>
            <a:ext cx="41148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40680" y="22402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532120" y="2313432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22392" y="315468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o delta pretendido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8229600" y="2743200"/>
            <a:ext cx="41148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086600" y="22402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178040" y="2313432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68312" y="315468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 o plano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9875520" y="2743200"/>
            <a:ext cx="41148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732520" y="22402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823960" y="2313432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show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14232" y="315468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inspeciona resultados e planos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10378440" y="22402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469880" y="2313432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360152" y="315468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recursos gerenciados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868680" y="457200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68680" y="4572000"/>
            <a:ext cx="73152" cy="123444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33272" y="46451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sequência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33272" y="4864608"/>
            <a:ext cx="38587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-out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plano.tfplan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plano.tfplan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49240" y="4526280"/>
            <a:ext cx="5760720" cy="1234440"/>
          </a:xfrm>
          <a:prstGeom prst="roundRect">
            <a:avLst>
              <a:gd name="adj" fmla="val 4444"/>
            </a:avLst>
          </a:prstGeom>
          <a:solidFill>
            <a:srgbClr val="FFF7E8"/>
          </a:solidFill>
          <a:ln w="12700">
            <a:solidFill>
              <a:srgbClr val="F1C27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458968" y="4599432"/>
            <a:ext cx="5541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7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validar significa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58968" y="4782312"/>
            <a:ext cx="554126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`terraform validate` verifica se a configuração é válida; ele não testa se a API da nuvem aceitará todas as chamadas. Para isso, plan/apply e permissões corretas continuam sendo essenciais.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local: script funcionando × script com problema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ir para a nuvem, é útil praticar com um provider local e entender como o erro aparece.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627632"/>
            <a:ext cx="5394960" cy="3794760"/>
          </a:xfrm>
          <a:prstGeom prst="roundRect">
            <a:avLst>
              <a:gd name="adj" fmla="val 1446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379476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41832" y="170078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41832" y="1920240"/>
            <a:ext cx="513892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0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required_providers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"hashicorp/local"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"~&gt; 2.5"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"hashicorp/random"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"~&gt; 3.6"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"random_pet"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"terraform"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"local_file"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"manifesto"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random_pet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"Execução local concluída"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1627632"/>
            <a:ext cx="4983480" cy="3794760"/>
          </a:xfrm>
          <a:prstGeom prst="roundRect">
            <a:avLst>
              <a:gd name="adj" fmla="val 1446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55080" y="1627632"/>
            <a:ext cx="73152" cy="379476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19672" y="1700784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funciona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19672" y="1920240"/>
            <a:ext cx="472744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"local_file"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"manifesto"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/saida/arquivo.txt"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contents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"valor incorreto"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"arquivo"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local_file.manifesto.path</a:t>
            </a:r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22960" y="5623560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32688" y="5696712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5879592"/>
            <a:ext cx="43982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init + apply, o Terraform cria um arquivo no diretório do módulo e expõe o nome via output.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5623560"/>
            <a:ext cx="5532120" cy="502920"/>
          </a:xfrm>
          <a:prstGeom prst="roundRect">
            <a:avLst>
              <a:gd name="adj" fmla="val 10909"/>
            </a:avLst>
          </a:prstGeom>
          <a:solidFill>
            <a:srgbClr val="FDECEC"/>
          </a:solidFill>
          <a:ln w="12700">
            <a:solidFill>
              <a:srgbClr val="F3B5B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870448" y="5696712"/>
            <a:ext cx="5312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visíveis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70448" y="5879592"/>
            <a:ext cx="53126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`contents` não é argumento válido para local_file; o output também referencia um atributo inexistente (`path`).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exemplo funcionando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exemplo pequeno, porém realista, para criar um bucket S3 com versionamento.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6126480" cy="4526280"/>
          </a:xfrm>
          <a:prstGeom prst="roundRect">
            <a:avLst>
              <a:gd name="adj" fmla="val 1212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49808" y="1572768"/>
            <a:ext cx="73152" cy="452628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64592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865376"/>
            <a:ext cx="5870448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required_providers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"hashicorp/aws"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"~&gt; 6.0"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"aws_region" 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"us-east-1"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"bucket_name"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"aws"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var.aws_region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"aws_s3_bucket"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"logs"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var.bucket_name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"aws_s3_bucket_versioning"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"logs"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aws_s3_bucket.logs.id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versioning_configuration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"Enabled"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"bucket_arn"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aws_s3_bucket.logs.arn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90" dirty="0"/>
          </a:p>
        </p:txBody>
      </p:sp>
      <p:sp>
        <p:nvSpPr>
          <p:cNvPr id="10" name="Shape 8"/>
          <p:cNvSpPr/>
          <p:nvPr/>
        </p:nvSpPr>
        <p:spPr>
          <a:xfrm>
            <a:off x="7178040" y="1755648"/>
            <a:ext cx="4160520" cy="1783080"/>
          </a:xfrm>
          <a:prstGeom prst="roundRect">
            <a:avLst>
              <a:gd name="adj" fmla="val 3077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78040" y="1755648"/>
            <a:ext cx="73152" cy="178308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42632" y="182880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42632" y="2048256"/>
            <a:ext cx="390448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AWS_ACCESS_KEY_ID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AWS_SECRET_ACCESS_KEY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-var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"bucket_name=meu-bucket-unico-123"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-var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"bucket_name=meu-bucket-unico-123"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178040" y="3767328"/>
            <a:ext cx="4160520" cy="960120"/>
          </a:xfrm>
          <a:prstGeom prst="roundRect">
            <a:avLst>
              <a:gd name="adj" fmla="val 5714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87768" y="3840480"/>
            <a:ext cx="3941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observar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87768" y="4023360"/>
            <a:ext cx="39410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name precisa ser único globalmente no S3. O provider usa a região declarada e as credenciais do ambiente para chamar a API da AWS.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8040" y="4956048"/>
            <a:ext cx="4160520" cy="841248"/>
          </a:xfrm>
          <a:prstGeom prst="roundRect">
            <a:avLst>
              <a:gd name="adj" fmla="val 6522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87768" y="5029200"/>
            <a:ext cx="3941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útil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87768" y="5212080"/>
            <a:ext cx="3941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output `bucket_arn` ajuda a integrar esse código com módulos posteriores, CI/CD ou documentação gerada automaticamente.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exemplo com erro e como diagnosticar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que “parecem certos” podem falhar por detalhes de provider, argumento ou naming.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5074920" cy="3886200"/>
          </a:xfrm>
          <a:prstGeom prst="roundRect">
            <a:avLst>
              <a:gd name="adj" fmla="val 1412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737360"/>
            <a:ext cx="73152" cy="38862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181051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incorreto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2029968"/>
            <a:ext cx="4818888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required_providers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"hashicorp/aws"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"~&gt; 6.0"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"aws"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var.aws_region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"aws_s3_bucket"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"logs"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var.bucket_name</a:t>
            </a:r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263640" y="182880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`regions` está errado; o argumento correto do provider é `region`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`aws_s3_bucket` usa `bucket`, não `name`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`var.aws_region` ou `var.bucket_name` não existirem, o validate já acusará o problema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mesmo com sintaxe válida, credenciais insuficientes ou bucket repetido podem falhar no plan/apply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4434840"/>
            <a:ext cx="4526280" cy="1097280"/>
          </a:xfrm>
          <a:prstGeom prst="roundRect">
            <a:avLst>
              <a:gd name="adj" fmla="val 5000"/>
            </a:avLst>
          </a:prstGeom>
          <a:solidFill>
            <a:srgbClr val="FFF7E8"/>
          </a:solidFill>
          <a:ln w="12700">
            <a:solidFill>
              <a:srgbClr val="F1C27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19088" y="4507992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7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 recomendada de diagnóstico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19088" y="4690872"/>
            <a:ext cx="4306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terraform fmt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terraform validate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terraform plan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revisar mensagem da AWS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conferir nomes únicos, permissões e região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5806440"/>
            <a:ext cx="10241280" cy="384048"/>
          </a:xfrm>
          <a:prstGeom prst="roundRect">
            <a:avLst>
              <a:gd name="adj" fmla="val 14286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78408" y="5879592"/>
            <a:ext cx="10021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rápida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78408" y="6062472"/>
            <a:ext cx="10021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script correto, o provider define a região corretamente e o resource usa o atributo esperado pela AWS provider schema.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Azure: exemplo funcionando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um Resource Group e uma Storage Account com o provider AzureRM.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9808" y="1591056"/>
            <a:ext cx="6355080" cy="4526280"/>
          </a:xfrm>
          <a:prstGeom prst="roundRect">
            <a:avLst>
              <a:gd name="adj" fmla="val 1212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49808" y="1591056"/>
            <a:ext cx="73152" cy="452628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66420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883664"/>
            <a:ext cx="6099048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required_providers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"hashicorp/azurerm"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"~&gt; 4.0"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"subscription_id"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"location"       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"East US"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"azurerm"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subscription_id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var.subscription_id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"azurerm_resource_group"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"rg"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"rg-tf-demo"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var.location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"azurerm_storage_account"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"st"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"sttfdemo12345"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resource_group_name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azurerm_resource_group.rg.name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azurerm_resource_group.rg.location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account_tier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"Standard"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account_replication_type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"LRS"</a:t>
            </a:r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9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7315200" y="1783080"/>
            <a:ext cx="3840480" cy="1847088"/>
          </a:xfrm>
          <a:prstGeom prst="roundRect">
            <a:avLst>
              <a:gd name="adj" fmla="val 2970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0" y="1783080"/>
            <a:ext cx="73152" cy="1847088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79792" y="18562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79792" y="2075688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login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ARM_SUBSCRIPTION_ID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-var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"subscription_id=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$ARM_SUBSCRIPTION_ID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-var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"subscription_id=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$ARM_SUBSCRIPTION_ID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3877056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24928" y="3950208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central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24928" y="4133088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Resource Group é uma base lógica para muitos recursos no Azure. No Terraform, ele também vira referência clara para nomes e localização.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0" y="4983480"/>
            <a:ext cx="3840480" cy="841248"/>
          </a:xfrm>
          <a:prstGeom prst="roundRect">
            <a:avLst>
              <a:gd name="adj" fmla="val 6522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24928" y="5056632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comum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24928" y="5239512"/>
            <a:ext cx="3621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times, prefira nomes parametrizados por ambiente e use valores de subscription / tenant vindos do pipeline ou do ambiente local.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Azure: exemplo com erro e como diagnosticar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Pequenos desvios no provider ou nas variáveis costumam gerar falhas antes mesmo de tocar a API do Azure.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4983480" cy="3520440"/>
          </a:xfrm>
          <a:prstGeom prst="roundRect">
            <a:avLst>
              <a:gd name="adj" fmla="val 1558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1783080"/>
            <a:ext cx="73152" cy="35204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33272" y="185623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incorreto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33272" y="2075688"/>
            <a:ext cx="4727448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"azurerm" </a:t>
            </a:r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subscription_id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var.subscription_id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"azurerm_resource_group"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"rg"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"rg-tf-demo"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var.region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18288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`feature {}` está incorreto; o bloco esperado é `features {}`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`var.region` não foi declarado, portanto o Terraform não sabe de onde virá esse valor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mesmo corrigindo isso, permissões insuficientes no Azure podem causar erro posterior no plan/apply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quando o nome de storage account não atende regras globais do Azure, o apply também falha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6309360" y="4526280"/>
            <a:ext cx="4663440" cy="868680"/>
          </a:xfrm>
          <a:prstGeom prst="roundRect">
            <a:avLst>
              <a:gd name="adj" fmla="val 6316"/>
            </a:avLst>
          </a:prstGeom>
          <a:solidFill>
            <a:srgbClr val="FFF7E8"/>
          </a:solidFill>
          <a:ln w="12700">
            <a:solidFill>
              <a:srgbClr val="F1C27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19088" y="4599432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7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rápido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19088" y="4782312"/>
            <a:ext cx="44439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fmt e validate pegam boa parte dos erros de estrutura; plan e apply mostram problemas de credencial, assinatura, naming e políticas da plataforma.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5623560"/>
            <a:ext cx="10058400" cy="475488"/>
          </a:xfrm>
          <a:prstGeom prst="roundRect">
            <a:avLst>
              <a:gd name="adj" fmla="val 11538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78408" y="5696712"/>
            <a:ext cx="9838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Comparando com o script correto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78408" y="5879592"/>
            <a:ext cx="9838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exemplo funcional, o provider foi configurado corretamente e os recursos referenciam atributos existentes do Resource Group.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GCP: exemplo funcionando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exemplo simples usando o provider Google para criar um bucket no Cloud Storage.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9808" y="1591056"/>
            <a:ext cx="6217920" cy="4526280"/>
          </a:xfrm>
          <a:prstGeom prst="roundRect">
            <a:avLst>
              <a:gd name="adj" fmla="val 1212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49808" y="1591056"/>
            <a:ext cx="73152" cy="452628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66420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883664"/>
            <a:ext cx="5961888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required_providers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"hashicorp/google"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"~&gt; 7.0"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"project_id"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"bucket_name"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"region"    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"us-central1"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"google"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var.project_id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var.region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"google_storage_bucket"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"dados"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var.bucket_name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"US"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uniform_bucket_level_access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"bucket_url"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google_storage_bucket.dados.url</a:t>
            </a:r>
            <a:pPr indent="0" marL="0">
              <a:buNone/>
            </a:pPr>
            <a:r>
              <a:rPr lang="en-US" sz="9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90" dirty="0"/>
          </a:p>
        </p:txBody>
      </p:sp>
      <p:sp>
        <p:nvSpPr>
          <p:cNvPr id="10" name="Shape 8"/>
          <p:cNvSpPr/>
          <p:nvPr/>
        </p:nvSpPr>
        <p:spPr>
          <a:xfrm>
            <a:off x="7178040" y="1737360"/>
            <a:ext cx="4069080" cy="1901952"/>
          </a:xfrm>
          <a:prstGeom prst="roundRect">
            <a:avLst>
              <a:gd name="adj" fmla="val 2885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78040" y="1737360"/>
            <a:ext cx="73152" cy="1901952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42632" y="181051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42632" y="2029968"/>
            <a:ext cx="381304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auth application-default login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GOOGLE_CLOUD_PROJECT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"meu-projeto"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-var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"project_id=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$GOOGLE_CLOUD_PROJECT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-var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"bucket_name=tf-demo-123"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-var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"project_id=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$GOOGLE_CLOUD_PROJECT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-var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"bucket_name=tf-demo-123"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78040" y="388620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87768" y="395935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importante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87768" y="4142232"/>
            <a:ext cx="38496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workstation, o fluxo mais comum é usar Application Default Credentials (ADC). O provider lê o projeto e a autenticação do ambiente.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8040" y="5010912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87768" y="5084064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prático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87768" y="5266944"/>
            <a:ext cx="3849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como `bucket_url` ajudam a integrar o recurso criado com pipelines, scripts de bootstrap e documentação operacional.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GCP: exemplo com erro e como diagnosticar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Google provider, erros comuns envolvem nome de recurso, projeto, localização e atributos errados.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1783080"/>
            <a:ext cx="73152" cy="356616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33272" y="185623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incorreto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33272" y="2075688"/>
            <a:ext cx="4727448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"google"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var.project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var.region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"google_storage_buckets"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"dados"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var.bucket_name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63640" y="1828800"/>
            <a:ext cx="4709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`var.project` não existe se a variável declarada for `project_id`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`google_storage_buckets` está no plural; o resource correto é `google_storage_bucket`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`locations` não é o argumento esperado para esse resource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nomes de bucket também precisam ser válidos e únicos dentro das regras da plataforma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309360" y="4434840"/>
            <a:ext cx="4663440" cy="868680"/>
          </a:xfrm>
          <a:prstGeom prst="roundRect">
            <a:avLst>
              <a:gd name="adj" fmla="val 6316"/>
            </a:avLst>
          </a:prstGeom>
          <a:solidFill>
            <a:srgbClr val="FFF7E8"/>
          </a:solidFill>
          <a:ln w="12700">
            <a:solidFill>
              <a:srgbClr val="F1C27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19088" y="4507992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7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 de leitura do erro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19088" y="4690872"/>
            <a:ext cx="44439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veja o validate para erros estruturais. Depois use plan/apply para problemas de credencial, quota, naming e políticas do projeto GCP.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5623560"/>
            <a:ext cx="10058400" cy="475488"/>
          </a:xfrm>
          <a:prstGeom prst="roundRect">
            <a:avLst>
              <a:gd name="adj" fmla="val 11538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78408" y="5696712"/>
            <a:ext cx="9838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Comparando com o script correto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78408" y="5879592"/>
            <a:ext cx="9838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exemplo funcional, o provider recebe `project_id`, o resource tem o nome certo e a localização foi escrita no atributo esperado.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Backends remotos e state locking nas nuvens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mais de uma pessoa ou pipeline opera a mesma infraestrutura, backend remoto deixa de ser luxo e vira requisito operacional.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31720" y="2331720"/>
            <a:ext cx="141732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331720" y="3840480"/>
            <a:ext cx="141732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68680" y="1828800"/>
            <a:ext cx="1463040" cy="868680"/>
          </a:xfrm>
          <a:prstGeom prst="roundRect">
            <a:avLst>
              <a:gd name="adj" fmla="val 5263"/>
            </a:avLst>
          </a:prstGeom>
          <a:solidFill>
            <a:srgbClr val="F4F0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901952"/>
            <a:ext cx="1280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CLI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(local ou CI)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94760" y="1600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886200" y="1673352"/>
            <a:ext cx="18288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remoto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lock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337560"/>
            <a:ext cx="14630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3410712"/>
            <a:ext cx="1280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AWS / Azure / GCP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481328"/>
            <a:ext cx="1691640" cy="1920240"/>
          </a:xfrm>
          <a:prstGeom prst="roundRect">
            <a:avLst>
              <a:gd name="adj" fmla="val 3243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63640" y="1481328"/>
            <a:ext cx="73152" cy="192024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28232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/ S3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1773936"/>
            <a:ext cx="143560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"s3"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"tf-state-prod"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"network/terraform.tfstate"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"us-east-1"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use_lockfile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110728" y="1481328"/>
            <a:ext cx="1691640" cy="1920240"/>
          </a:xfrm>
          <a:prstGeom prst="roundRect">
            <a:avLst>
              <a:gd name="adj" fmla="val 3243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10728" y="1481328"/>
            <a:ext cx="73152" cy="192024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Blob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75320" y="1773936"/>
            <a:ext cx="143560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8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"azurerm"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resource_group_name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"rg-tf-state"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storage_account_name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"sttfstateprod"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container_name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"tfstate"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"prod.tfstate"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9966960" y="1481328"/>
            <a:ext cx="1508760" cy="1920240"/>
          </a:xfrm>
          <a:prstGeom prst="roundRect">
            <a:avLst>
              <a:gd name="adj" fmla="val 3636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966960" y="1481328"/>
            <a:ext cx="73152" cy="192024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131552" y="15544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131552" y="1773936"/>
            <a:ext cx="125272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"gcs"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"tf-state-prod"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"network"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172200" y="379476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local é aceitável apenas em estudo individual ou laboratório muito simples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backends remotos armazenam o state fora do notebook e podem oferecer locking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S3, Azure Blob e GCS possuem opções próprias de versionamento / recuperação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o lock falhar, o Terraform interrompe a operação em vez de arriscar corromper o state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Módulos, reutilização e separação por ambientes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que o básico funciona, o próximo passo é parar de copiar e colar código.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3383280" cy="3886200"/>
          </a:xfrm>
          <a:prstGeom prst="roundRect">
            <a:avLst>
              <a:gd name="adj" fmla="val 1622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645920"/>
            <a:ext cx="73152" cy="3886200"/>
          </a:xfrm>
          <a:prstGeom prst="rect">
            <a:avLst/>
          </a:prstGeom>
          <a:solidFill>
            <a:srgbClr val="D9DCE3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17190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sugerida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1938528"/>
            <a:ext cx="3127248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storage/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main.tf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variables.tf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outputs.tf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environments/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dev/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main.tf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prod/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main.tf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2971800" cy="1554480"/>
          </a:xfrm>
          <a:prstGeom prst="roundRect">
            <a:avLst>
              <a:gd name="adj" fmla="val 3529"/>
            </a:avLst>
          </a:prstGeom>
          <a:solidFill>
            <a:srgbClr val="1F2430"/>
          </a:solidFill>
          <a:ln w="12700">
            <a:solidFill>
              <a:srgbClr val="3A435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63440" y="1828800"/>
            <a:ext cx="73152" cy="155448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28032" y="19019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de módulo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28032" y="2121408"/>
            <a:ext cx="2715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"storage" </a:t>
            </a:r>
            <a:pPr indent="0" marL="0">
              <a:buNone/>
            </a:pPr>
            <a:r>
              <a:rPr lang="en-US" sz="11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"../../modules/storage"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bucket_name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var.bucket_name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buNone/>
            </a:pPr>
            <a:r>
              <a:rPr lang="en-US" sz="11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var.env</a:t>
            </a:r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4572000" y="370332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módulo = conjunto reutilizável de recursos com interface de entrada e saída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 root module integra módulos, define providers, backend e valores de ambiente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 e prod podem compartilhar o mesmo módulo, mudando apenas variáveis, naming e políticas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módulos evitam duplicação, facilitam revisão e reduzem divergência entre ambientes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4572000" y="5394960"/>
            <a:ext cx="6400800" cy="658368"/>
          </a:xfrm>
          <a:prstGeom prst="roundRect">
            <a:avLst>
              <a:gd name="adj" fmla="val 8333"/>
            </a:avLst>
          </a:prstGeom>
          <a:solidFill>
            <a:srgbClr val="FFF7E8"/>
          </a:solidFill>
          <a:ln w="12700">
            <a:solidFill>
              <a:srgbClr val="F1C27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81728" y="5468112"/>
            <a:ext cx="6181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7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prática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81728" y="5650992"/>
            <a:ext cx="6181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devem abstrair padrões arquiteturais, não esconder tudo. Se o consumidor não entende o que o módulo cria, a abstração ficou pesada demais.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e como reconhecer o tipo do problema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erro de sintaxe, erro de provider, erro de credencial e erro de state acelera muito a análise.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2468880" cy="306324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86968" y="1965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/ schema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aparece: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fmt / validate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905256" y="2926080"/>
            <a:ext cx="221284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nomes de blocos errados, argumentos inexistentes, variáveis não declaradas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3657600" y="1828800"/>
            <a:ext cx="2468880" cy="306324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67328" y="1965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aparece: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/ apply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3785616" y="2926080"/>
            <a:ext cx="221284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chaves ausentes, perfil errado, subscription / project incorretos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537960" y="1828800"/>
            <a:ext cx="2468880" cy="306324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47688" y="1965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state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aparece: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/ apply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665976" y="2926080"/>
            <a:ext cx="221284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travado, backend mal configurado, conflito entre operadores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9418320" y="1828800"/>
            <a:ext cx="2468880" cy="306324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528048" y="1965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55548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aparece: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/ apply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9546336" y="2926080"/>
            <a:ext cx="221284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global já usado, quota, política corporativa, recurso não disponível na região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822960" y="530352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2688" y="5376672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simples de triagem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5559552"/>
            <a:ext cx="3621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leia a mensagem inteira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veja em que comando ocorreu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compare com um script funcional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corrija uma hipótese por vez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rode plan novamente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5303520"/>
            <a:ext cx="6126480" cy="685800"/>
          </a:xfrm>
          <a:prstGeom prst="roundRect">
            <a:avLst>
              <a:gd name="adj" fmla="val 8000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01768" y="5376672"/>
            <a:ext cx="5907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 operacional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01768" y="5559552"/>
            <a:ext cx="5907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possível, mantenha exemplos pequenos e conhecidos para comparar. A comparação entre script bom e script ruim reduz o tempo de diagnóstico de iniciantes.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 para uso real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adoção madura do Terraform depende mais de disciplina operacional do que de truques de sintaxe.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664208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versione o código em Git e exija revisão do plan antes do apply em produção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backend remoto com locking e versionamento do state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declare versões de providers e registre o .terraform.lock.hcl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parametrize por ambiente com variables / tfvars, sem duplicar projetos inteiros sem necessidade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rode terraform fmt e terraform validate antes de commit; complemente com lint e policy quando aplicável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credenciais de menor privilégio possível; em CI/CD, prefira identidades dedicadas e auditáveis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importe ou modele recursos existentes antes de “tomá-los” manualmente para o state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evite provisioners como primeira escolha; prefira recursos nativos do provider e automações externas bem definidas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3749040" cy="1143000"/>
          </a:xfrm>
          <a:prstGeom prst="roundRect">
            <a:avLst>
              <a:gd name="adj" fmla="val 4800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96328" y="1947672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do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96328" y="2130552"/>
            <a:ext cx="35295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ambiente importante deve ser reproduzível a partir do repositório, do backend e das credenciais corretas — não da memória de quem criou primeiro.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86600" y="3310128"/>
            <a:ext cx="3749040" cy="1143000"/>
          </a:xfrm>
          <a:prstGeom prst="roundRect">
            <a:avLst>
              <a:gd name="adj" fmla="val 4800"/>
            </a:avLst>
          </a:prstGeom>
          <a:solidFill>
            <a:srgbClr val="FDECEC"/>
          </a:solidFill>
          <a:ln w="12700">
            <a:solidFill>
              <a:srgbClr val="F3B5B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96328" y="338328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96328" y="3566160"/>
            <a:ext cx="35295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local compartilhado por e-mail, alterações manuais sem reconciliação, versionamento frouxo de providers e applies diretos sem revisão.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86600" y="4736592"/>
            <a:ext cx="3749040" cy="1078992"/>
          </a:xfrm>
          <a:prstGeom prst="roundRect">
            <a:avLst>
              <a:gd name="adj" fmla="val 5085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96328" y="4809744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operacional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96328" y="4992624"/>
            <a:ext cx="3529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funciona melhor quando é parte do processo de engenharia: PR, validação, plan, aprovação, apply, observabilidade e documentação.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equipe e CI/CD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uso mais seguro em produção costuma separar quem escreve da etapa que realmente aplica.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57400" y="2788920"/>
            <a:ext cx="77724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343400" y="2788920"/>
            <a:ext cx="82296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75120" y="2788920"/>
            <a:ext cx="82296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006840" y="2788920"/>
            <a:ext cx="822960" cy="0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233172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404872"/>
            <a:ext cx="1005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.escreve .tf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233172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26080" y="2404872"/>
            <a:ext cx="13258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66360" y="2240280"/>
            <a:ext cx="1508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A98C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57800" y="2313432"/>
            <a:ext cx="1325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fmt + validate + plan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98080" y="233172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589520" y="2404872"/>
            <a:ext cx="13258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829800" y="2240280"/>
            <a:ext cx="1508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921240" y="2313432"/>
            <a:ext cx="1325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/ runner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166360" y="411480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57800" y="4187952"/>
            <a:ext cx="1783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remoto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+ lock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61320" y="3310128"/>
            <a:ext cx="-4389120" cy="758952"/>
          </a:xfrm>
          <a:prstGeom prst="line">
            <a:avLst/>
          </a:prstGeom>
          <a:noFill/>
          <a:ln w="20320">
            <a:solidFill>
              <a:srgbClr val="D9DC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8680" y="5257800"/>
            <a:ext cx="4800600" cy="749808"/>
          </a:xfrm>
          <a:prstGeom prst="roundRect">
            <a:avLst>
              <a:gd name="adj" fmla="val 7317"/>
            </a:avLst>
          </a:prstGeom>
          <a:solidFill>
            <a:srgbClr val="EAF6EF"/>
          </a:solidFill>
          <a:ln w="12700">
            <a:solidFill>
              <a:srgbClr val="A8D5B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78408" y="5330952"/>
            <a:ext cx="4581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separar plan de apply?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5513832"/>
            <a:ext cx="4581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 vira artefato de revisão: a equipe enxerga o impacto antes da mudança. Em automação, salvar e aplicar um plano reduz ambiguidades no pipeline.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525780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EEF5FF"/>
          </a:solidFill>
          <a:ln w="12700">
            <a:solidFill>
              <a:srgbClr val="B8D5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099048" y="5330952"/>
            <a:ext cx="4992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operacional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9048" y="5513832"/>
            <a:ext cx="4992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mudança ad hoc, mais previsibilidade, auditoria mais simples e menor dependência do laptop de uma pessoa específica.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914400" cy="27432"/>
          </a:xfrm>
          <a:prstGeom prst="rect">
            <a:avLst/>
          </a:prstGeom>
          <a:solidFill>
            <a:srgbClr val="7B4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93192"/>
            <a:ext cx="31546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950" b="0">
                <a:solidFill>
                  <a:srgbClr val="5F6368"/>
                </a:solidFill>
                <a:latin typeface="Arial"/>
              </a:rPr>
              <a:t>Terraform • história • sintaxe • execução • multi-cloud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01955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2000" b="1">
                <a:solidFill>
                  <a:srgbClr val="171717"/>
                </a:solidFill>
                <a:latin typeface="Arial"/>
              </a:rPr>
              <a:t>Terraform em contexto com Ansible, Chef, Helm e outras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024128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1130">
                <a:solidFill>
                  <a:srgbClr val="5F6368"/>
                </a:solidFill>
                <a:latin typeface="Arial"/>
              </a:rPr>
              <a:t>Nesta seção, o foco deixa de ser apenas a sintaxe e passa para a lógica operacional: quem cria infraestrutura, quem configura hosts, quem empacota aplicações e quem mantém estado.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50">
                <a:solidFill>
                  <a:srgbClr val="5F6368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4406" bIns="84406"/>
          <a:lstStyle/>
          <a:p>
            <a:pPr algn="l"/>
            <a:r>
              <a:rPr sz="2200" b="0">
                <a:solidFill>
                  <a:srgbClr val="171717"/>
                </a:solidFill>
                <a:latin typeface="Arial"/>
              </a:rPr>
              <a:t>Terraform não é “melhor em tudo”.
Ele é mais forte quando o problema é modelar infraestrutura como estado desejado, gerar plano e aplicar mudanças reproduzíveis em APIs de nuvem.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3246120" cy="1417320"/>
          </a:xfrm>
          <a:prstGeom prst="roundRect">
            <a:avLst/>
          </a:prstGeom>
          <a:solidFill>
            <a:srgbClr val="F0E9FF"/>
          </a:solidFill>
          <a:ln w="12700">
            <a:solidFill>
              <a:srgbClr val="D6C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02152"/>
            <a:ext cx="30632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1. Provisionamento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703320"/>
            <a:ext cx="3063239" cy="1088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171717"/>
                </a:solidFill>
                <a:latin typeface="Arial"/>
              </a:rPr>
              <a:t>Criação e alteração de VPCs, subnets, VMs, buckets, IAM, bancos, clusters e recursos gerenciados por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429000"/>
            <a:ext cx="3246120" cy="1417320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B6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502152"/>
            <a:ext cx="30632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2. Configuração pós-provisionamento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703320"/>
            <a:ext cx="3063239" cy="1088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171717"/>
                </a:solidFill>
                <a:latin typeface="Arial"/>
              </a:rPr>
              <a:t>Instalação de pacotes, arquivos, usuários, serviços, hardening e ajustes dentro de sistemas operacionais.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429000"/>
            <a:ext cx="3246120" cy="141732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BB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502152"/>
            <a:ext cx="30632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3. Empacotamento e deploy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703320"/>
            <a:ext cx="3063239" cy="1088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171717"/>
                </a:solidFill>
                <a:latin typeface="Arial"/>
              </a:rPr>
              <a:t>Entrega de aplicações, releases e manifests em plataformas específicas, sobretudo em Kubernetes.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01952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4406" bIns="84406"/>
          <a:lstStyle/>
          <a:p>
            <a:pPr algn="l"/>
            <a:r>
              <a:rPr sz="1600" b="0">
                <a:solidFill>
                  <a:srgbClr val="171717"/>
                </a:solidFill>
                <a:latin typeface="Arial"/>
              </a:rPr>
              <a:t>Regra prática:
• Terraform → infraestrutura-base e dependências entre recursos.
• Ansible/Chef → configuração operacional dos hosts.
• Helm → aplicações dentro do cluster Kubernetes.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914400" cy="27432"/>
          </a:xfrm>
          <a:prstGeom prst="rect">
            <a:avLst/>
          </a:prstGeom>
          <a:solidFill>
            <a:srgbClr val="7B4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93192"/>
            <a:ext cx="31546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950" b="0">
                <a:solidFill>
                  <a:srgbClr val="5F6368"/>
                </a:solidFill>
                <a:latin typeface="Arial"/>
              </a:rPr>
              <a:t>Terraform • história • sintaxe • execução • multi-cloud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01955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2100" b="1">
                <a:solidFill>
                  <a:srgbClr val="171717"/>
                </a:solidFill>
                <a:latin typeface="Arial"/>
              </a:rPr>
              <a:t>Mapa rápido: onde cada ferramenta se encaixa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024128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1130">
                <a:solidFill>
                  <a:srgbClr val="5F6368"/>
                </a:solidFill>
                <a:latin typeface="Arial"/>
              </a:rPr>
              <a:t>O comparativo abaixo privilegia modo de funcionamento, estado, escopo e limite natural de cada ferramenta.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50">
                <a:solidFill>
                  <a:srgbClr val="5F6368"/>
                </a:solidFill>
                <a:latin typeface="Arial"/>
              </a:rP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788920"/>
                <a:gridCol w="1234440"/>
                <a:gridCol w="2057400"/>
                <a:gridCol w="365760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171717"/>
                          </a:solidFill>
                          <a:latin typeface="Arial"/>
                        </a:rPr>
                        <a:t>Ferramenta</a:t>
                      </a:r>
                    </a:p>
                  </a:txBody>
                  <a:tcPr anchor="ctr">
                    <a:solidFill>
                      <a:srgbClr val="F0E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171717"/>
                          </a:solidFill>
                          <a:latin typeface="Arial"/>
                        </a:rPr>
                        <a:t>Como opera</a:t>
                      </a:r>
                    </a:p>
                  </a:txBody>
                  <a:tcPr anchor="ctr">
                    <a:solidFill>
                      <a:srgbClr val="F0E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171717"/>
                          </a:solidFill>
                          <a:latin typeface="Arial"/>
                        </a:rPr>
                        <a:t>State / memória</a:t>
                      </a:r>
                    </a:p>
                  </a:txBody>
                  <a:tcPr anchor="ctr">
                    <a:solidFill>
                      <a:srgbClr val="F0E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171717"/>
                          </a:solidFill>
                          <a:latin typeface="Arial"/>
                        </a:rPr>
                        <a:t>Encaixe ideal</a:t>
                      </a:r>
                    </a:p>
                  </a:txBody>
                  <a:tcPr anchor="ctr">
                    <a:solidFill>
                      <a:srgbClr val="F0E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171717"/>
                          </a:solidFill>
                          <a:latin typeface="Arial"/>
                        </a:rPr>
                        <a:t>Onde perde força</a:t>
                      </a:r>
                    </a:p>
                  </a:txBody>
                  <a:tcPr anchor="ctr">
                    <a:solidFill>
                      <a:srgbClr val="F0E9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7B42F6"/>
                          </a:solidFill>
                          <a:latin typeface="Arial"/>
                        </a:rPr>
                        <a:t>Terraform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Lê HCL, monta grafo, gera plan e chama APIs via providers.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171717"/>
                          </a:solidFill>
                          <a:latin typeface="Arial"/>
                        </a:rPr>
                        <a:t>Sim: tfstate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Infraestrutura multi-cloud e dependências entre recursos.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Configuração detalhada dentro do host e ciclo de app no cluster.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7B42F6"/>
                          </a:solidFill>
                          <a:latin typeface="Arial"/>
                        </a:rPr>
                        <a:t>Ansible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Control node envia módulos/playbooks por SSH ou WinRM.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171717"/>
                          </a:solidFill>
                          <a:latin typeface="Arial"/>
                        </a:rPr>
                        <a:t>Não como tfstate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SO, middleware, pacotes, arquivos e orquestração operacional.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Topologia cloud complexa e gestão de dependências infra em larga escala.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7B42F6"/>
                          </a:solidFill>
                          <a:latin typeface="Arial"/>
                        </a:rPr>
                        <a:t>Chef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Chef Server distribui políticas; chef-client converge receitas no nó.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171717"/>
                          </a:solidFill>
                          <a:latin typeface="Arial"/>
                        </a:rPr>
                        <a:t>No agente / nó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Frotas grandes com baseline contínuo e compliance.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Provisionamento multi-cloud com plan tão legível quanto o Terraform.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7B42F6"/>
                          </a:solidFill>
                          <a:latin typeface="Arial"/>
                        </a:rPr>
                        <a:t>Helm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Empacota manifests K8s em charts e instala releases.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171717"/>
                          </a:solidFill>
                          <a:latin typeface="Arial"/>
                        </a:rPr>
                        <a:t>Histórico de release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Deploy e upgrade de aplicações em Kubernetes.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Criação de VPC, IAM, bancos, redes e recursos fora do cluster.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7B42F6"/>
                          </a:solidFill>
                          <a:latin typeface="Arial"/>
                        </a:rPr>
                        <a:t>Pulumi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Usa linguagens gerais e SDKs; engine planeja e aplica.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171717"/>
                          </a:solidFill>
                          <a:latin typeface="Arial"/>
                        </a:rPr>
                        <a:t>Sim: state do stack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IaC com Python, TS, Go, C#, Java ou YAML.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Quando o time prefere uma DSL declarativa simples como HCL.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7B42F6"/>
                          </a:solidFill>
                          <a:latin typeface="Arial"/>
                        </a:rPr>
                        <a:t>CloudFormation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Templates descrevem stacks gerenciadas pela AWS.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171717"/>
                          </a:solidFill>
                          <a:latin typeface="Arial"/>
                        </a:rPr>
                        <a:t>Sim: stack AWS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Ambientes somente AWS com integração nativa.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>
                          <a:solidFill>
                            <a:srgbClr val="171717"/>
                          </a:solidFill>
                          <a:latin typeface="Arial"/>
                        </a:rPr>
                        <a:t>Cenários multi-cloud e portabilidade entre provedores.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989320"/>
            <a:ext cx="10972800" cy="411480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B6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250" b="0">
                <a:solidFill>
                  <a:srgbClr val="171717"/>
                </a:solidFill>
                <a:latin typeface="Arial"/>
              </a:rPr>
              <a:t>Leitura importante: essas ferramentas até se sobrepõem em algumas tarefas, mas em produção elas costumam ser complementares, não excludentes.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914400" cy="27432"/>
          </a:xfrm>
          <a:prstGeom prst="rect">
            <a:avLst/>
          </a:prstGeom>
          <a:solidFill>
            <a:srgbClr val="7B4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93192"/>
            <a:ext cx="31546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950" b="0">
                <a:solidFill>
                  <a:srgbClr val="5F6368"/>
                </a:solidFill>
                <a:latin typeface="Arial"/>
              </a:rPr>
              <a:t>Terraform • história • sintaxe • execução • multi-cloud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01955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2000" b="1">
                <a:solidFill>
                  <a:srgbClr val="171717"/>
                </a:solidFill>
                <a:latin typeface="Arial"/>
              </a:rPr>
              <a:t>Terraform × Ansible: provisão de infra versus configuração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024128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1130">
                <a:solidFill>
                  <a:srgbClr val="5F6368"/>
                </a:solidFill>
                <a:latin typeface="Arial"/>
              </a:rPr>
              <a:t>A comparação mais comum é enganosa quando ignora o momento em que cada ferramenta atua no fluxo.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50">
                <a:solidFill>
                  <a:srgbClr val="5F6368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148840" cy="1005840"/>
          </a:xfrm>
          <a:prstGeom prst="roundRect">
            <a:avLst/>
          </a:prstGeom>
          <a:solidFill>
            <a:srgbClr val="F0E9FF"/>
          </a:solidFill>
          <a:ln w="12700">
            <a:solidFill>
              <a:srgbClr val="D6C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56231"/>
            <a:ext cx="196596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Terraform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1965960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50" b="0">
                <a:solidFill>
                  <a:srgbClr val="171717"/>
                </a:solidFill>
                <a:latin typeface="Arial"/>
              </a:rPr>
              <a:t>Escreve HCL e usa providers para criar ou alterar recursos via APIs.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44368" y="2121408"/>
            <a:ext cx="502920" cy="274320"/>
          </a:xfrm>
          <a:prstGeom prst="rightArrow">
            <a:avLst/>
          </a:prstGeom>
          <a:solidFill>
            <a:srgbClr val="DFD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78308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856231"/>
            <a:ext cx="219456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Cloud APIs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2057400"/>
            <a:ext cx="2194560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20" b="0">
                <a:solidFill>
                  <a:srgbClr val="171717"/>
                </a:solidFill>
                <a:latin typeface="Arial"/>
              </a:rPr>
              <a:t>AWS, Azure, GCP, DNS, bancos, load balancers, redes e IAM.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3328" y="2121408"/>
            <a:ext cx="502920" cy="274320"/>
          </a:xfrm>
          <a:prstGeom prst="rightArrow">
            <a:avLst/>
          </a:prstGeom>
          <a:solidFill>
            <a:srgbClr val="DFD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1783080"/>
            <a:ext cx="21945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856231"/>
            <a:ext cx="201167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Resultado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057400"/>
            <a:ext cx="2011679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50" b="0">
                <a:solidFill>
                  <a:srgbClr val="171717"/>
                </a:solidFill>
                <a:latin typeface="Arial"/>
              </a:rPr>
              <a:t>VMs, VPCs, subnets, buckets, bancos, clusters.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74519"/>
            <a:ext cx="2514600" cy="82296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BB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0338" bIns="70338"/>
          <a:lstStyle/>
          <a:p>
            <a:pPr algn="l"/>
            <a:r>
              <a:rPr sz="1350" b="0">
                <a:solidFill>
                  <a:srgbClr val="171717"/>
                </a:solidFill>
                <a:latin typeface="Arial"/>
              </a:rPr>
              <a:t>Depois que as VMs existem, começa outro problema: configurar o que roda dentro delas.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91840"/>
            <a:ext cx="2148840" cy="1005840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B6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64992"/>
            <a:ext cx="196596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Ansible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566160"/>
            <a:ext cx="1965960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50" b="0">
                <a:solidFill>
                  <a:srgbClr val="171717"/>
                </a:solidFill>
                <a:latin typeface="Arial"/>
              </a:rPr>
              <a:t>Playbooks saem do control node e são executados por SSH ou WinRM.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44368" y="3630168"/>
            <a:ext cx="502920" cy="274320"/>
          </a:xfrm>
          <a:prstGeom prst="rightArrow">
            <a:avLst/>
          </a:prstGeom>
          <a:solidFill>
            <a:srgbClr val="DFD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0440" y="329184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3364992"/>
            <a:ext cx="219456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Hosts gerenciados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3566160"/>
            <a:ext cx="2194560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20" b="0">
                <a:solidFill>
                  <a:srgbClr val="171717"/>
                </a:solidFill>
                <a:latin typeface="Arial"/>
              </a:rPr>
              <a:t>Linux/Windows já provisionados, equipamentos de rede ou appliances.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53328" y="3630168"/>
            <a:ext cx="502920" cy="274320"/>
          </a:xfrm>
          <a:prstGeom prst="rightArrow">
            <a:avLst/>
          </a:prstGeom>
          <a:solidFill>
            <a:srgbClr val="DFD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0" y="3291840"/>
            <a:ext cx="21945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364992"/>
            <a:ext cx="201167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Resultado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566160"/>
            <a:ext cx="2011679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50" b="0">
                <a:solidFill>
                  <a:srgbClr val="171717"/>
                </a:solidFill>
                <a:latin typeface="Arial"/>
              </a:rPr>
              <a:t>Pacotes, serviços, usuários, arquivos, middleware e hardening.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2953512"/>
            <a:ext cx="233172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050" b="1">
                <a:solidFill>
                  <a:srgbClr val="5F6368"/>
                </a:solidFill>
                <a:latin typeface="Arial"/>
              </a:rPr>
              <a:t>Exemplo mínimo Ansible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3154680"/>
            <a:ext cx="2331720" cy="1325880"/>
          </a:xfrm>
          <a:prstGeom prst="roundRect">
            <a:avLst/>
          </a:prstGeom>
          <a:solidFill>
            <a:srgbClr val="1C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/>
            <a:r>
              <a:rPr sz="1100">
                <a:solidFill>
                  <a:srgbClr val="FFFFFF"/>
                </a:solidFill>
                <a:latin typeface="Consolas"/>
              </a:rPr>
              <a:t>- hosts: web
  tasks:
    - apt:
        name: nginx
        state: present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89204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965192"/>
            <a:ext cx="23774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Fonte de verdade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166359"/>
            <a:ext cx="2377439" cy="7680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20" b="0">
                <a:solidFill>
                  <a:srgbClr val="171717"/>
                </a:solidFill>
                <a:latin typeface="Arial"/>
              </a:rPr>
              <a:t>Terraform depende de state; Ansible reconcilia pelo resultado de cada tarefa.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489204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4965192"/>
            <a:ext cx="23774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Modelo de conexão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5166359"/>
            <a:ext cx="2377439" cy="7680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20" b="0">
                <a:solidFill>
                  <a:srgbClr val="171717"/>
                </a:solidFill>
                <a:latin typeface="Arial"/>
              </a:rPr>
              <a:t>Terraform conversa com APIs; Ansible conversa com nós ou dispositivos.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489204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965192"/>
            <a:ext cx="23774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Melhor uso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166359"/>
            <a:ext cx="2377439" cy="7680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20" b="0">
                <a:solidFill>
                  <a:srgbClr val="171717"/>
                </a:solidFill>
                <a:latin typeface="Arial"/>
              </a:rPr>
              <a:t>Terraform cria a base. Ansible prepara o sistema operacional e o software.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5400" y="4892040"/>
            <a:ext cx="2560320" cy="109728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BB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4965192"/>
            <a:ext cx="23774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Anti-padrão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6840" y="5166359"/>
            <a:ext cx="2377439" cy="7680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171717"/>
                </a:solidFill>
                <a:latin typeface="Arial"/>
              </a:rPr>
              <a:t>Tentar usar apenas Ansible para toda a modelagem de nuvem ou só Terraform para todo o pós-provisionamento.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914400" cy="27432"/>
          </a:xfrm>
          <a:prstGeom prst="rect">
            <a:avLst/>
          </a:prstGeom>
          <a:solidFill>
            <a:srgbClr val="7B4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93192"/>
            <a:ext cx="31546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950" b="0">
                <a:solidFill>
                  <a:srgbClr val="5F6368"/>
                </a:solidFill>
                <a:latin typeface="Arial"/>
              </a:rPr>
              <a:t>Terraform • história • sintaxe • execução • multi-cloud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01955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2000" b="1">
                <a:solidFill>
                  <a:srgbClr val="171717"/>
                </a:solidFill>
                <a:latin typeface="Arial"/>
              </a:rPr>
              <a:t>Terraform × Chef: topologia cloud versus convergência no host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024128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1130">
                <a:solidFill>
                  <a:srgbClr val="5F6368"/>
                </a:solidFill>
                <a:latin typeface="Arial"/>
              </a:rPr>
              <a:t>Chef resolve um problema mais próximo da configuração governada de servidores, normalmente com agente residente.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50">
                <a:solidFill>
                  <a:srgbClr val="5F6368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55648"/>
            <a:ext cx="2880360" cy="1005840"/>
          </a:xfrm>
          <a:prstGeom prst="roundRect">
            <a:avLst/>
          </a:prstGeom>
          <a:solidFill>
            <a:srgbClr val="F0E9FF"/>
          </a:solidFill>
          <a:ln w="12700">
            <a:solidFill>
              <a:srgbClr val="D6C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731519" y="1828800"/>
            <a:ext cx="269747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Terraform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19" y="2029967"/>
            <a:ext cx="2697479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50" b="0">
                <a:solidFill>
                  <a:srgbClr val="171717"/>
                </a:solidFill>
                <a:latin typeface="Arial"/>
              </a:rPr>
              <a:t>Plan + apply sobre recursos expostos por APIs. A convergência acontece quando alguém ou um pipeline executa a mudança.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755648"/>
            <a:ext cx="2880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840479" y="1828800"/>
            <a:ext cx="269747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Chef 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79" y="2029967"/>
            <a:ext cx="2697479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50" b="0">
                <a:solidFill>
                  <a:srgbClr val="171717"/>
                </a:solidFill>
                <a:latin typeface="Arial"/>
              </a:rPr>
              <a:t>Centraliza cookbooks, políticas e metadados de nós registrados.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755648"/>
            <a:ext cx="3749039" cy="1005840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B6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7589519" y="1828800"/>
            <a:ext cx="356615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Chef Client nos nós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19" y="2029967"/>
            <a:ext cx="3566159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50" b="0">
                <a:solidFill>
                  <a:srgbClr val="171717"/>
                </a:solidFill>
                <a:latin typeface="Arial"/>
              </a:rPr>
              <a:t>O agente puxa políticas, avalia o estado local e converge receitas para atingir o esperado.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08960" y="2121408"/>
            <a:ext cx="320040" cy="228600"/>
          </a:xfrm>
          <a:prstGeom prst="rightArrow">
            <a:avLst/>
          </a:prstGeom>
          <a:solidFill>
            <a:srgbClr val="DFD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812280" y="2121408"/>
            <a:ext cx="320040" cy="228600"/>
          </a:xfrm>
          <a:prstGeom prst="rightArrow">
            <a:avLst/>
          </a:prstGeom>
          <a:solidFill>
            <a:srgbClr val="DFD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2798063"/>
            <a:ext cx="242316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050" b="1">
                <a:solidFill>
                  <a:srgbClr val="5F6368"/>
                </a:solidFill>
                <a:latin typeface="Arial"/>
              </a:rPr>
              <a:t>Exemplo mínimo Chef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999232"/>
            <a:ext cx="2423160" cy="1234440"/>
          </a:xfrm>
          <a:prstGeom prst="roundRect">
            <a:avLst/>
          </a:prstGeom>
          <a:solidFill>
            <a:srgbClr val="1C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/>
            <a:r>
              <a:rPr sz="1100">
                <a:solidFill>
                  <a:srgbClr val="FFFFFF"/>
                </a:solidFill>
                <a:latin typeface="Consolas"/>
              </a:rPr>
              <a:t>package 'nginx'
service 'nginx' do
  action [:enable, :start]
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926080"/>
            <a:ext cx="2743200" cy="132588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BB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4406" bIns="84406"/>
          <a:lstStyle/>
          <a:p>
            <a:pPr algn="l"/>
            <a:r>
              <a:rPr sz="1400" b="0">
                <a:solidFill>
                  <a:srgbClr val="171717"/>
                </a:solidFill>
                <a:latin typeface="Arial"/>
              </a:rPr>
              <a:t>Diferença operacional-chave:
Chef tende a ser recorrente no host — o agente pode rodar em intervalos regulares.
Terraform é orientado a execuções explícitas de mudança.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926080"/>
            <a:ext cx="4709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4406" bIns="84406"/>
          <a:lstStyle/>
          <a:p>
            <a:pPr algn="l"/>
            <a:r>
              <a:rPr sz="1400" b="0">
                <a:solidFill>
                  <a:srgbClr val="171717"/>
                </a:solidFill>
                <a:latin typeface="Arial"/>
              </a:rPr>
              <a:t>Consequência prática:
• Chef é forte para compliance, hardening e baseline em milhares de servidores.
• Terraform é forte para dependências entre recursos cloud e visão de impacto antes do apply.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0916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782312"/>
            <a:ext cx="23774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Agente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983480"/>
            <a:ext cx="2377439" cy="9052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20" b="0">
                <a:solidFill>
                  <a:srgbClr val="171717"/>
                </a:solidFill>
                <a:latin typeface="Arial"/>
              </a:rPr>
              <a:t>Chef normalmente opera com chef-client no nó; Terraform não instala agente para gerir recurso cloud.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470916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782312"/>
            <a:ext cx="23774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Foco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4983480"/>
            <a:ext cx="2377439" cy="9052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20" b="0">
                <a:solidFill>
                  <a:srgbClr val="171717"/>
                </a:solidFill>
                <a:latin typeface="Arial"/>
              </a:rPr>
              <a:t>Chef mantém configuração do sistema. Terraform mantém a topologia e os recursos.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70916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782312"/>
            <a:ext cx="23774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Quando combinar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983480"/>
            <a:ext cx="2377439" cy="9052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20" b="0">
                <a:solidFill>
                  <a:srgbClr val="171717"/>
                </a:solidFill>
                <a:latin typeface="Arial"/>
              </a:rPr>
              <a:t>Terraform cria a frota; Chef aplica baseline corporativo, compliance e serviços padrão.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4709160"/>
            <a:ext cx="2560320" cy="123444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BB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4782312"/>
            <a:ext cx="23774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Onde não comparar 1:1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4983480"/>
            <a:ext cx="2377439" cy="9052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171717"/>
                </a:solidFill>
                <a:latin typeface="Arial"/>
              </a:rPr>
              <a:t>Chef não foi desenhado como motor principal para VPC, IAM, subnets e bancos gerenciados multi-cloud.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914400" cy="27432"/>
          </a:xfrm>
          <a:prstGeom prst="rect">
            <a:avLst/>
          </a:prstGeom>
          <a:solidFill>
            <a:srgbClr val="7B4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93192"/>
            <a:ext cx="31546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950" b="0">
                <a:solidFill>
                  <a:srgbClr val="5F6368"/>
                </a:solidFill>
                <a:latin typeface="Arial"/>
              </a:rPr>
              <a:t>Terraform • história • sintaxe • execução • multi-cloud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01955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2000" b="1">
                <a:solidFill>
                  <a:srgbClr val="171717"/>
                </a:solidFill>
                <a:latin typeface="Arial"/>
              </a:rPr>
              <a:t>Terraform × Helm: base cloud e cluster versus release do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024128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1130">
                <a:solidFill>
                  <a:srgbClr val="5F6368"/>
                </a:solidFill>
                <a:latin typeface="Arial"/>
              </a:rPr>
              <a:t>Helm atua dentro do universo Kubernetes. Terraform normalmente atua antes dele, ao redor dele, ou nos dois níveis com responsabilidades diferentes.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50">
                <a:solidFill>
                  <a:srgbClr val="5F6368"/>
                </a:solidFill>
                <a:latin typeface="Arial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834640" cy="1005840"/>
          </a:xfrm>
          <a:prstGeom prst="roundRect">
            <a:avLst/>
          </a:prstGeom>
          <a:solidFill>
            <a:srgbClr val="F0E9FF"/>
          </a:solidFill>
          <a:ln w="12700">
            <a:solidFill>
              <a:srgbClr val="D6C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01952"/>
            <a:ext cx="265176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Terraform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03120"/>
            <a:ext cx="2651760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50" b="0">
                <a:solidFill>
                  <a:srgbClr val="171717"/>
                </a:solidFill>
                <a:latin typeface="Arial"/>
              </a:rPr>
              <a:t>Cria VPC, IAM, subnets, balanceadores, DNS e o cluster EKS/AKS/GKE.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94760" y="2176272"/>
            <a:ext cx="502920" cy="274320"/>
          </a:xfrm>
          <a:prstGeom prst="rightArrow">
            <a:avLst/>
          </a:prstGeom>
          <a:solidFill>
            <a:srgbClr val="DFD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2834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901952"/>
            <a:ext cx="265176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Cluster Kubernetes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103120"/>
            <a:ext cx="2651760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50" b="0">
                <a:solidFill>
                  <a:srgbClr val="171717"/>
                </a:solidFill>
                <a:latin typeface="Arial"/>
              </a:rPr>
              <a:t>Passa a existir como plataforma pronta para receber workloads e add-ons.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60920" y="2176272"/>
            <a:ext cx="502920" cy="274320"/>
          </a:xfrm>
          <a:prstGeom prst="rightArrow">
            <a:avLst/>
          </a:prstGeom>
          <a:solidFill>
            <a:srgbClr val="DFD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09560" y="1828800"/>
            <a:ext cx="2743200" cy="1005840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B6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901952"/>
            <a:ext cx="256032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Helm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103120"/>
            <a:ext cx="2560320" cy="676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50" b="0">
                <a:solidFill>
                  <a:srgbClr val="171717"/>
                </a:solidFill>
                <a:latin typeface="Arial"/>
              </a:rPr>
              <a:t>Instala charts, renderiza templates e registra releases no cluster.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246120"/>
            <a:ext cx="2788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4406" bIns="84406"/>
          <a:lstStyle/>
          <a:p>
            <a:pPr algn="l"/>
            <a:r>
              <a:rPr sz="1350" b="0">
                <a:solidFill>
                  <a:srgbClr val="171717"/>
                </a:solidFill>
                <a:latin typeface="Arial"/>
              </a:rPr>
              <a:t>O que Helm entende muito bem:
Deployments, Services, ConfigMaps, Secrets, Ingress, upgrades e rollbacks de app.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324612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4406" bIns="84406"/>
          <a:lstStyle/>
          <a:p>
            <a:pPr algn="l"/>
            <a:r>
              <a:rPr sz="1350" b="0">
                <a:solidFill>
                  <a:srgbClr val="171717"/>
                </a:solidFill>
                <a:latin typeface="Arial"/>
              </a:rPr>
              <a:t>O que Terraform entende muito bem:
Dependências externas ao cluster, contas, rede, identidade, storage e ordem de criação entre recursos.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980944"/>
            <a:ext cx="274320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050" b="1">
                <a:solidFill>
                  <a:srgbClr val="5F6368"/>
                </a:solidFill>
                <a:latin typeface="Arial"/>
              </a:rPr>
              <a:t>Exemplo mínimo Helm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182112"/>
            <a:ext cx="2743200" cy="1234440"/>
          </a:xfrm>
          <a:prstGeom prst="roundRect">
            <a:avLst/>
          </a:prstGeom>
          <a:solidFill>
            <a:srgbClr val="1C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/>
            <a:r>
              <a:rPr sz="1100">
                <a:solidFill>
                  <a:srgbClr val="FFFFFF"/>
                </a:solidFill>
                <a:latin typeface="Consolas"/>
              </a:rPr>
              <a:t>helm install app ./chart \
  -f values.yaml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0060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873752"/>
            <a:ext cx="23774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074920"/>
            <a:ext cx="2377439" cy="7680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20" b="0">
                <a:solidFill>
                  <a:srgbClr val="171717"/>
                </a:solidFill>
                <a:latin typeface="Arial"/>
              </a:rPr>
              <a:t>Terraform mantém tfstate; Helm mantém histórico e metadata da release.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480060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4873752"/>
            <a:ext cx="23774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Escopo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5074920"/>
            <a:ext cx="2377439" cy="7680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20" b="0">
                <a:solidFill>
                  <a:srgbClr val="171717"/>
                </a:solidFill>
                <a:latin typeface="Arial"/>
              </a:rPr>
              <a:t>Terraform olha o ecossistema inteiro; Helm olha o pacote de app em Kubernetes.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0060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355079" y="4873752"/>
            <a:ext cx="237743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Combinação comum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79" y="5074920"/>
            <a:ext cx="2377439" cy="7680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20" b="0">
                <a:solidFill>
                  <a:srgbClr val="171717"/>
                </a:solidFill>
                <a:latin typeface="Arial"/>
              </a:rPr>
              <a:t>Terraform cria o cluster e add-ons-base; Helm entrega aplicações, operadores e charts de times.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4800600"/>
            <a:ext cx="2194560" cy="109728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BB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4873752"/>
            <a:ext cx="201167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Cuidado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5074920"/>
            <a:ext cx="2011679" cy="7680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171717"/>
                </a:solidFill>
                <a:latin typeface="Arial"/>
              </a:rPr>
              <a:t>Usar Terraform para tudo dentro do cluster pode engessar o ciclo de vida de apps.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914400" cy="27432"/>
          </a:xfrm>
          <a:prstGeom prst="rect">
            <a:avLst/>
          </a:prstGeom>
          <a:solidFill>
            <a:srgbClr val="7B4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393192"/>
            <a:ext cx="31546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950">
                <a:solidFill>
                  <a:srgbClr val="5F6368"/>
                </a:solidFill>
                <a:latin typeface="Arial"/>
              </a:rPr>
              <a:t>Terraform • história • sintaxe • execução • multi-cloud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01955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2000" b="1">
                <a:solidFill>
                  <a:srgbClr val="171717"/>
                </a:solidFill>
                <a:latin typeface="Arial"/>
              </a:rPr>
              <a:t>Como escolher e combinar: Pulumi, CloudFormation e camadas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024128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7033" bIns="7033"/>
          <a:lstStyle/>
          <a:p>
            <a:pPr algn="l"/>
            <a:r>
              <a:rPr sz="1130">
                <a:solidFill>
                  <a:srgbClr val="5F6368"/>
                </a:solidFill>
                <a:latin typeface="Arial"/>
              </a:rPr>
              <a:t>Ferramentas parecidas competem em alguns pontos, mas a arquitetura de operação costuma ficar mais clara quando cada uma assume uma camada.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50">
                <a:solidFill>
                  <a:srgbClr val="5F6368"/>
                </a:solidFill>
                <a:latin typeface="Arial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880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56231"/>
            <a:ext cx="269747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Pulumi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2697479" cy="1088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60" b="0">
                <a:solidFill>
                  <a:srgbClr val="171717"/>
                </a:solidFill>
                <a:latin typeface="Arial"/>
              </a:rPr>
              <a:t>Resolve problema muito próximo ao do Terraform, mas com linguagens gerais e SDKs. É forte para times que preferem Python, TypeScript, Go, C# ou Java em vez de HCL.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2880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6270" bIns="56270"/>
          <a:lstStyle/>
          <a:p>
            <a:pPr algn="l"/>
            <a:r>
              <a:rPr sz="1800" b="0">
                <a:solidFill>
                  <a:srgbClr val="171717"/>
                </a:solidFill>
                <a:latin typeface="Arial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47872"/>
            <a:ext cx="2697479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1">
                <a:solidFill>
                  <a:srgbClr val="7B42F6"/>
                </a:solidFill>
                <a:latin typeface="Arial"/>
              </a:rPr>
              <a:t>CloudFormation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749039"/>
            <a:ext cx="2697479" cy="1088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60" b="0">
                <a:solidFill>
                  <a:srgbClr val="171717"/>
                </a:solidFill>
                <a:latin typeface="Arial"/>
              </a:rPr>
              <a:t>É nativo da AWS, usa stacks e integrações do ecossistema AWS. Em ambientes estritamente AWS, pode reduzir dependências externas e manter tudo dentro do provedor.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12080"/>
            <a:ext cx="2880360" cy="877824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B6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0338" bIns="70338"/>
          <a:lstStyle/>
          <a:p>
            <a:pPr algn="l"/>
            <a:r>
              <a:rPr sz="1150">
                <a:solidFill>
                  <a:srgbClr val="171717"/>
                </a:solidFill>
                <a:latin typeface="Arial"/>
              </a:rPr>
              <a:t>Leitura rápida:
• Multi-cloud + DSL → Terraform
• Multi-cloud + linguagem geral → Pulumi
• Somente AWS → CloudFormation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1737360"/>
            <a:ext cx="69951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80" b="1">
                <a:solidFill>
                  <a:srgbClr val="5F6368"/>
                </a:solidFill>
                <a:latin typeface="Arial"/>
              </a:rPr>
              <a:t>Exemplo de uso em camadas (sem sobrecarregar uma ferramenta com o trabalho da outra)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148840"/>
            <a:ext cx="5943600" cy="777240"/>
          </a:xfrm>
          <a:prstGeom prst="roundRect">
            <a:avLst/>
          </a:prstGeom>
          <a:solidFill>
            <a:srgbClr val="F0E9FF"/>
          </a:solidFill>
          <a:ln w="12700">
            <a:solidFill>
              <a:srgbClr val="D6C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0338" bIns="70338"/>
          <a:lstStyle/>
          <a:p>
            <a:pPr algn="l"/>
            <a:r>
              <a:rPr sz="1600" b="1">
                <a:solidFill>
                  <a:srgbClr val="171717"/>
                </a:solidFill>
                <a:latin typeface="Arial"/>
              </a:rPr>
              <a:t>Camada 1 — infraestrutura-base
Contas, rede, IAM, bancos, buckets, clusters, DNS e recursos gerenciados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08208" y="2304288"/>
            <a:ext cx="868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5169" bIns="35169"/>
          <a:lstStyle/>
          <a:p>
            <a:pPr algn="l"/>
            <a:r>
              <a:rPr sz="869" b="0">
                <a:solidFill>
                  <a:srgbClr val="171717"/>
                </a:solidFill>
                <a:latin typeface="Arial"/>
              </a:rPr>
              <a:t>Terraform
Pulumi
CloudFormation*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3246120"/>
            <a:ext cx="5349240" cy="777240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B6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0338" bIns="70338"/>
          <a:lstStyle/>
          <a:p>
            <a:pPr algn="l"/>
            <a:r>
              <a:rPr sz="1600" b="1">
                <a:solidFill>
                  <a:srgbClr val="171717"/>
                </a:solidFill>
                <a:latin typeface="Arial"/>
              </a:rPr>
              <a:t>Camada 2 — configuração do host
Pacotes, usuários, serviços, arquivos, hardening, middleware e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3401568"/>
            <a:ext cx="914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5169" bIns="35169"/>
          <a:lstStyle/>
          <a:p>
            <a:pPr algn="ctr"/>
            <a:r>
              <a:rPr sz="1050" b="0">
                <a:solidFill>
                  <a:srgbClr val="171717"/>
                </a:solidFill>
                <a:latin typeface="Arial"/>
              </a:rPr>
              <a:t>Ansible
Chef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4343400"/>
            <a:ext cx="4800600" cy="77724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BB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0338" bIns="70338"/>
          <a:lstStyle/>
          <a:p>
            <a:pPr algn="l"/>
            <a:r>
              <a:rPr sz="1600" b="1">
                <a:solidFill>
                  <a:srgbClr val="171717"/>
                </a:solidFill>
                <a:latin typeface="Arial"/>
              </a:rPr>
              <a:t>Camada 3 — aplicações em Kubernetes
Charts, valores por ambiente, upgrades e rollbacks de releases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4498848"/>
            <a:ext cx="8686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5169" bIns="35169"/>
          <a:lstStyle/>
          <a:p>
            <a:pPr algn="ctr"/>
            <a:r>
              <a:rPr sz="1100" b="1">
                <a:solidFill>
                  <a:srgbClr val="171717"/>
                </a:solidFill>
                <a:latin typeface="Arial"/>
              </a:rPr>
              <a:t>Helm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5486400"/>
            <a:ext cx="6903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0338" bIns="70338"/>
          <a:lstStyle/>
          <a:p>
            <a:pPr algn="l"/>
            <a:r>
              <a:rPr sz="1240" b="0">
                <a:solidFill>
                  <a:srgbClr val="171717"/>
                </a:solidFill>
                <a:latin typeface="Arial"/>
              </a:rPr>
              <a:t>* CloudFormation só ocupa bem a camada 1 quando o ambiente é essencialmente AWS.
Recomendação didática para a audiência: comparar sempre pelo mecanismo de operação e não apenas pela aparência do arquivo.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0"/>
          </a:xfrm>
          <a:prstGeom prst="line">
            <a:avLst/>
          </a:prstGeom>
          <a:noFill/>
          <a:ln w="27940">
            <a:solidFill>
              <a:srgbClr val="7B4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58200" y="393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• história • sintaxe • execução • multi-cloud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audiência lembrar destes pontos, já terá uma base forte para começar com Terraform de forma correta.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10287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Terraform nasceu para resolver o caos de operar infraestrutura por scripts e consoles isolados.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Seu modelo declarativo de IaC combina configuração legível, plano previsível e estado rastreável.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 fluxo essencial é: instalar → autenticar → escrever .tf → init → validate → plan → apply.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mesma lógica vale para uso local, AWS, Azure e GCP; o que muda principalmente é o provider e a autenticação.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Comparar scripts corretos com scripts incorretos acelera muito o aprendizado e o troubleshooting.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 equipes, backend remoto, módulos, revisão de plan e CI/CD são o caminho mais seguro para produção.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5577840"/>
            <a:ext cx="996696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57424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4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 sugerido: transformar um recurso simples do seu ambiente atual em código, executar terraform plan e comparar o resultado com o estado real.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950">
                <a:solidFill>
                  <a:srgbClr val="5F6368"/>
                </a:solidFill>
                <a:latin typeface="Arial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Terraform: história, conceitos e uso local, AWS, Azure e GCP</dc:title>
  <dc:subject>Terraform: história, conceitos e utilização local e multi-cloud</dc:subject>
  <dc:creator>OpenAI</dc:creator>
  <cp:lastModifiedBy>OpenAI</cp:lastModifiedBy>
  <cp:revision>1</cp:revision>
  <dcterms:created xsi:type="dcterms:W3CDTF">2026-04-16T16:55:24Z</dcterms:created>
  <dcterms:modified xsi:type="dcterms:W3CDTF">2026-04-16T16:55:24Z</dcterms:modified>
</cp:coreProperties>
</file>