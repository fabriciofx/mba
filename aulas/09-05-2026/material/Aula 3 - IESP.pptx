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Roboto Slab"/>
      <p:regular r:id="rId23"/>
      <p:bold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Century Schoolbook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glpqBnP+id8+Y4W0p+GZwAw54U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Slab-bold.fntdata"/><Relationship Id="rId23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CenturySchoolbook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enturySchoolbook-italic.fntdata"/><Relationship Id="rId30" Type="http://schemas.openxmlformats.org/officeDocument/2006/relationships/font" Target="fonts/CenturySchoolbook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CenturySchoolbook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" name="Google Shape;14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3" name="Google Shape;1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6" name="Google Shape;1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0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22" name="Google Shape;2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1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dk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30" name="Google Shape;3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3"/>
          <p:cNvSpPr txBox="1"/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" type="body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TitleHD.png" id="38" name="Google Shape;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4"/>
          <p:cNvSpPr txBox="1"/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subTitle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45" name="Google Shape;4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5"/>
          <p:cNvSpPr txBox="1"/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52" name="Google Shape;5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6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2" type="body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" type="body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27"/>
          <p:cNvSpPr txBox="1"/>
          <p:nvPr>
            <p:ph idx="2" type="body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3" type="body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27"/>
          <p:cNvSpPr txBox="1"/>
          <p:nvPr>
            <p:ph idx="4" type="body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9" name="Google Shape;6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74" name="Google Shape;7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9"/>
          <p:cNvSpPr txBox="1"/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/>
          <p:nvPr>
            <p:ph idx="2" type="pic"/>
          </p:nvPr>
        </p:nvSpPr>
        <p:spPr>
          <a:xfrm>
            <a:off x="7536253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sp>
      <p:sp>
        <p:nvSpPr>
          <p:cNvPr id="77" name="Google Shape;77;p29"/>
          <p:cNvSpPr txBox="1"/>
          <p:nvPr>
            <p:ph idx="1" type="body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2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82" name="Google Shape;8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0"/>
          <p:cNvSpPr txBox="1"/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/>
          <p:nvPr>
            <p:ph idx="2" type="pic"/>
          </p:nvPr>
        </p:nvSpPr>
        <p:spPr>
          <a:xfrm>
            <a:off x="1371600" y="932112"/>
            <a:ext cx="8759827" cy="3164976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sp>
      <p:sp>
        <p:nvSpPr>
          <p:cNvPr id="85" name="Google Shape;85;p30"/>
          <p:cNvSpPr txBox="1"/>
          <p:nvPr>
            <p:ph idx="1" type="body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6" name="Google Shape;86;p3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Legenda">
  <p:cSld name="Título e Legenda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90" name="Google Shape;9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1"/>
          <p:cNvSpPr txBox="1"/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3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97" name="Google Shape;9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9" name="Google Shape;99;p3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100" name="Google Shape;100;p32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2"/>
          <p:cNvSpPr txBox="1"/>
          <p:nvPr>
            <p:ph idx="1" type="body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32"/>
          <p:cNvSpPr txBox="1"/>
          <p:nvPr>
            <p:ph idx="2" type="body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32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2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2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07" name="Google Shape;10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3"/>
          <p:cNvSpPr txBox="1"/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3"/>
          <p:cNvSpPr txBox="1"/>
          <p:nvPr>
            <p:ph idx="1" type="body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3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o Cartão de Nome">
  <p:cSld name="Citar o Cartão de Nom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14" name="Google Shape;11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6" name="Google Shape;116;p34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117" name="Google Shape;117;p34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1" type="body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4"/>
          <p:cNvSpPr txBox="1"/>
          <p:nvPr>
            <p:ph idx="2" type="body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3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iro ou Falso">
  <p:cSld name="Verdadeiro ou Falso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24" name="Google Shape;12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5"/>
          <p:cNvSpPr txBox="1"/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5"/>
          <p:cNvSpPr txBox="1"/>
          <p:nvPr>
            <p:ph idx="1" type="body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5"/>
          <p:cNvSpPr txBox="1"/>
          <p:nvPr>
            <p:ph idx="2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3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2" name="Google Shape;13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6"/>
          <p:cNvSpPr txBox="1"/>
          <p:nvPr>
            <p:ph idx="1" type="body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3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36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9" name="Google Shape;13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7"/>
          <p:cNvSpPr txBox="1"/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7"/>
          <p:cNvSpPr txBox="1"/>
          <p:nvPr>
            <p:ph idx="1" type="body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"/>
          <p:cNvPicPr preferRelativeResize="0"/>
          <p:nvPr/>
        </p:nvPicPr>
        <p:blipFill rotWithShape="1">
          <a:blip r:embed="rId3">
            <a:alphaModFix amt="20000"/>
          </a:blip>
          <a:srcRect b="0" l="7198" r="3914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"/>
          <p:cNvSpPr txBox="1"/>
          <p:nvPr>
            <p:ph type="title"/>
          </p:nvPr>
        </p:nvSpPr>
        <p:spPr>
          <a:xfrm>
            <a:off x="1030287" y="3896497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1" lang="en-US" sz="4000" cap="none">
                <a:highlight>
                  <a:srgbClr val="000000"/>
                </a:highlight>
              </a:rPr>
              <a:t>CULTURA DEVOPS E ESTRATÉGIAS DE TESTE CONTÍNUO</a:t>
            </a:r>
            <a:endParaRPr b="1" sz="4000" cap="none"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type="title"/>
          </p:nvPr>
        </p:nvSpPr>
        <p:spPr>
          <a:xfrm>
            <a:off x="685800" y="609600"/>
            <a:ext cx="10131425" cy="145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CULTURA DEVOPS</a:t>
            </a:r>
            <a:endParaRPr/>
          </a:p>
        </p:txBody>
      </p:sp>
      <p:sp>
        <p:nvSpPr>
          <p:cNvPr id="158" name="Google Shape;158;p2"/>
          <p:cNvSpPr txBox="1"/>
          <p:nvPr>
            <p:ph idx="1" type="body"/>
          </p:nvPr>
        </p:nvSpPr>
        <p:spPr>
          <a:xfrm>
            <a:off x="685801" y="2141538"/>
            <a:ext cx="7812378" cy="3649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📌 O que é DevOps?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DevOps é uma abordagem que combina desenvolvimento (Dev) e operações (Ops) para acelerar entregas de software com automação, colaboração e monitoramento contínuo.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🎯 Princípios do DevOps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Automação: Infraestrutura como código, CI/CD, testes automatizados.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Colaboração: Equipes de Dev, QA e Ops trabalhando juntas.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Monitoramento Contínuo: Uso de logs, métricas e alertas para garantir estabilidade.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Feedback Rápido: Ciclos curtos de desenvolvimento e entrega contínua.</a:t>
            </a:r>
            <a:endParaRPr/>
          </a:p>
          <a:p>
            <a:pPr indent="-171450" lvl="0" marL="28575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59" name="Google Shape;159;p2"/>
          <p:cNvPicPr preferRelativeResize="0"/>
          <p:nvPr/>
        </p:nvPicPr>
        <p:blipFill rotWithShape="1">
          <a:blip r:embed="rId3">
            <a:alphaModFix/>
          </a:blip>
          <a:srcRect b="6928" l="19184" r="20191" t="30031"/>
          <a:stretch/>
        </p:blipFill>
        <p:spPr>
          <a:xfrm rot="-5400000">
            <a:off x="7358336" y="2130443"/>
            <a:ext cx="4800599" cy="2520914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/>
          <p:nvPr/>
        </p:nvSpPr>
        <p:spPr>
          <a:xfrm>
            <a:off x="5918886" y="4497859"/>
            <a:ext cx="5486400" cy="2224217"/>
          </a:xfrm>
          <a:prstGeom prst="rect">
            <a:avLst/>
          </a:prstGeom>
          <a:solidFill>
            <a:schemeClr val="lt1"/>
          </a:solidFill>
          <a:ln cap="rnd" cmpd="sng" w="19050">
            <a:solidFill>
              <a:srgbClr val="481A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>
            <p:ph type="title"/>
          </p:nvPr>
        </p:nvSpPr>
        <p:spPr>
          <a:xfrm>
            <a:off x="632651" y="643465"/>
            <a:ext cx="3746091" cy="5571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TESTES CONTÍNUOS (CONTINUOUS TESTING)</a:t>
            </a:r>
            <a:endParaRPr/>
          </a:p>
        </p:txBody>
      </p:sp>
      <p:sp>
        <p:nvSpPr>
          <p:cNvPr id="167" name="Google Shape;167;p3"/>
          <p:cNvSpPr txBox="1"/>
          <p:nvPr>
            <p:ph idx="1" type="body"/>
          </p:nvPr>
        </p:nvSpPr>
        <p:spPr>
          <a:xfrm>
            <a:off x="4709650" y="643464"/>
            <a:ext cx="6838883" cy="3731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/>
              <a:t>📌 O que é?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Testes contínuos são executados automaticamente em cada fase do ciclo de vida do software, garantindo qualidade desde o início.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/>
              <a:t>🎯 Benefícios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✅ Identificação rápida de defeitos.</a:t>
            </a:r>
            <a:br>
              <a:rPr lang="en-US" sz="1700"/>
            </a:br>
            <a:r>
              <a:rPr lang="en-US" sz="1700"/>
              <a:t>✅ Redução de retrabalho.</a:t>
            </a:r>
            <a:br>
              <a:rPr lang="en-US" sz="1700"/>
            </a:br>
            <a:r>
              <a:rPr lang="en-US" sz="1700"/>
              <a:t>✅ Integração direta ao pipeline CI/CD.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/>
              <a:t>🔧 Tipos de Testes em Continuous Testing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en-US" sz="1700"/>
              <a:t>Unitários:</a:t>
            </a:r>
            <a:r>
              <a:rPr lang="en-US" sz="1700"/>
              <a:t> Valida funções individuais do código.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en-US" sz="1700"/>
              <a:t>Integrados:</a:t>
            </a:r>
            <a:r>
              <a:rPr lang="en-US" sz="1700"/>
              <a:t> Testam a comunicação entre módulos.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en-US" sz="1700"/>
              <a:t>Funcionais:</a:t>
            </a:r>
            <a:r>
              <a:rPr lang="en-US" sz="1700"/>
              <a:t> Garantem que o software atende aos requisitos.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b="1" lang="en-US" sz="1700"/>
              <a:t>Performance &amp; Segurança:</a:t>
            </a:r>
            <a:r>
              <a:rPr lang="en-US" sz="1700"/>
              <a:t> Avaliam carga e vulnerabilidades.</a:t>
            </a:r>
            <a:endParaRPr/>
          </a:p>
        </p:txBody>
      </p:sp>
      <p:pic>
        <p:nvPicPr>
          <p:cNvPr descr="Testes contínuos: o que são e para que servem? - Blog Vericode" id="168" name="Google Shape;1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5217" y="4375355"/>
            <a:ext cx="5893316" cy="2302077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>
            <p:ph type="title"/>
          </p:nvPr>
        </p:nvSpPr>
        <p:spPr>
          <a:xfrm>
            <a:off x="685801" y="533400"/>
            <a:ext cx="10820400" cy="1177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/>
              <a:t>SHIFT-LEFT TESTING</a:t>
            </a:r>
            <a:endParaRPr/>
          </a:p>
        </p:txBody>
      </p:sp>
      <p:cxnSp>
        <p:nvCxnSpPr>
          <p:cNvPr id="175" name="Google Shape;175;p4"/>
          <p:cNvCxnSpPr/>
          <p:nvPr/>
        </p:nvCxnSpPr>
        <p:spPr>
          <a:xfrm>
            <a:off x="5845629" y="1850077"/>
            <a:ext cx="50074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4"/>
          <p:cNvSpPr txBox="1"/>
          <p:nvPr>
            <p:ph idx="1" type="body"/>
          </p:nvPr>
        </p:nvSpPr>
        <p:spPr>
          <a:xfrm>
            <a:off x="685801" y="2243892"/>
            <a:ext cx="10820400" cy="3547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📌 O que é?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É a estratégia de </a:t>
            </a:r>
            <a:r>
              <a:rPr b="1" lang="en-US" sz="2000"/>
              <a:t>antecipar os testes</a:t>
            </a:r>
            <a:r>
              <a:rPr lang="en-US" sz="2000"/>
              <a:t> para as fases iniciais do desenvolvimento, detectando problemas mais cedo.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Exemplo de Shift-Left Testing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Desenvolvedores escrevendo testes unitários desde o primeiro commit.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Testes sendo executados automaticamente em cada merge request.</a:t>
            </a:r>
            <a:endParaRPr/>
          </a:p>
          <a:p>
            <a:pPr indent="-158750" lvl="0" marL="285750" rtl="0" algn="l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5"/>
          <p:cNvGrpSpPr/>
          <p:nvPr/>
        </p:nvGrpSpPr>
        <p:grpSpPr>
          <a:xfrm>
            <a:off x="0" y="136727"/>
            <a:ext cx="5907590" cy="6584544"/>
            <a:chOff x="0" y="803"/>
            <a:chExt cx="5907590" cy="6584544"/>
          </a:xfrm>
        </p:grpSpPr>
        <p:cxnSp>
          <p:nvCxnSpPr>
            <p:cNvPr id="182" name="Google Shape;182;p5"/>
            <p:cNvCxnSpPr/>
            <p:nvPr/>
          </p:nvCxnSpPr>
          <p:spPr>
            <a:xfrm>
              <a:off x="0" y="803"/>
              <a:ext cx="5907590" cy="0"/>
            </a:xfrm>
            <a:prstGeom prst="straightConnector1">
              <a:avLst/>
            </a:prstGeom>
            <a:solidFill>
              <a:srgbClr val="AB3BC1"/>
            </a:solidFill>
            <a:ln cap="rnd" cmpd="sng" w="19050">
              <a:solidFill>
                <a:srgbClr val="AB3BC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3" name="Google Shape;183;p5"/>
            <p:cNvSpPr/>
            <p:nvPr/>
          </p:nvSpPr>
          <p:spPr>
            <a:xfrm>
              <a:off x="0" y="803"/>
              <a:ext cx="1181518" cy="1316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5"/>
            <p:cNvSpPr txBox="1"/>
            <p:nvPr/>
          </p:nvSpPr>
          <p:spPr>
            <a:xfrm>
              <a:off x="0" y="803"/>
              <a:ext cx="1181518" cy="1316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Custos reduzidos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1270131" y="60605"/>
              <a:ext cx="4637458" cy="1196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5"/>
            <p:cNvSpPr txBox="1"/>
            <p:nvPr/>
          </p:nvSpPr>
          <p:spPr>
            <a:xfrm>
              <a:off x="1270131" y="60605"/>
              <a:ext cx="4637458" cy="1196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 teste antecipado ajuda a esclarecer a especificação para as equipes antes de desenvolver da maneira errada. Isso reduziria todos os custos ao diminuir o tempo de investigação e corrigi-lo após uma implementação errada. 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5"/>
            <p:cNvCxnSpPr/>
            <p:nvPr/>
          </p:nvCxnSpPr>
          <p:spPr>
            <a:xfrm>
              <a:off x="1181518" y="1256625"/>
              <a:ext cx="4726072" cy="0"/>
            </a:xfrm>
            <a:prstGeom prst="straightConnector1">
              <a:avLst/>
            </a:prstGeom>
            <a:solidFill>
              <a:srgbClr val="AB3BC1"/>
            </a:solidFill>
            <a:ln cap="rnd" cmpd="sng" w="19050">
              <a:solidFill>
                <a:srgbClr val="DAB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5"/>
            <p:cNvCxnSpPr/>
            <p:nvPr/>
          </p:nvCxnSpPr>
          <p:spPr>
            <a:xfrm>
              <a:off x="0" y="1317712"/>
              <a:ext cx="5907590" cy="0"/>
            </a:xfrm>
            <a:prstGeom prst="straightConnector1">
              <a:avLst/>
            </a:prstGeom>
            <a:solidFill>
              <a:srgbClr val="AB3BC1"/>
            </a:solidFill>
            <a:ln cap="rnd" cmpd="sng" w="19050">
              <a:solidFill>
                <a:srgbClr val="AB3BC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9" name="Google Shape;189;p5"/>
            <p:cNvSpPr/>
            <p:nvPr/>
          </p:nvSpPr>
          <p:spPr>
            <a:xfrm>
              <a:off x="0" y="1317712"/>
              <a:ext cx="1181518" cy="1316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0" y="1317712"/>
              <a:ext cx="1181518" cy="1316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Eficiência aprimorada 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1270131" y="1377513"/>
              <a:ext cx="4637458" cy="1196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 txBox="1"/>
            <p:nvPr/>
          </p:nvSpPr>
          <p:spPr>
            <a:xfrm>
              <a:off x="1270131" y="1377513"/>
              <a:ext cx="4637458" cy="1196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Ao adotar tecnologias de teste shift-left, as empresas podem ajudar a aumentar a confiabilidade dos testes e acelerar a velocidade de lançamento no mercado. 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3" name="Google Shape;193;p5"/>
            <p:cNvCxnSpPr/>
            <p:nvPr/>
          </p:nvCxnSpPr>
          <p:spPr>
            <a:xfrm>
              <a:off x="1181518" y="2573534"/>
              <a:ext cx="4726072" cy="0"/>
            </a:xfrm>
            <a:prstGeom prst="straightConnector1">
              <a:avLst/>
            </a:prstGeom>
            <a:solidFill>
              <a:srgbClr val="AB3BC1"/>
            </a:solidFill>
            <a:ln cap="rnd" cmpd="sng" w="19050">
              <a:solidFill>
                <a:srgbClr val="DAB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5"/>
            <p:cNvCxnSpPr/>
            <p:nvPr/>
          </p:nvCxnSpPr>
          <p:spPr>
            <a:xfrm>
              <a:off x="0" y="2634621"/>
              <a:ext cx="5907590" cy="0"/>
            </a:xfrm>
            <a:prstGeom prst="straightConnector1">
              <a:avLst/>
            </a:prstGeom>
            <a:solidFill>
              <a:srgbClr val="AB3BC1"/>
            </a:solidFill>
            <a:ln cap="rnd" cmpd="sng" w="19050">
              <a:solidFill>
                <a:srgbClr val="AB3BC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5" name="Google Shape;195;p5"/>
            <p:cNvSpPr/>
            <p:nvPr/>
          </p:nvSpPr>
          <p:spPr>
            <a:xfrm>
              <a:off x="0" y="2634621"/>
              <a:ext cx="1181518" cy="1316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5"/>
            <p:cNvSpPr txBox="1"/>
            <p:nvPr/>
          </p:nvSpPr>
          <p:spPr>
            <a:xfrm>
              <a:off x="0" y="2634621"/>
              <a:ext cx="1181518" cy="1316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Vantagens competitivas 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1270131" y="2694422"/>
              <a:ext cx="4637458" cy="1196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5"/>
            <p:cNvSpPr txBox="1"/>
            <p:nvPr/>
          </p:nvSpPr>
          <p:spPr>
            <a:xfrm>
              <a:off x="1270131" y="2694422"/>
              <a:ext cx="4637458" cy="1196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 teste shift-left permite que as equipes de teste e controle de qualidade comecem os testes no início do ciclo. Portanto, a realização do teste shift-left ajuda a entregar software de alta qualidade, mantendo o custo e o tempo de lançamento no mercado. 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9" name="Google Shape;199;p5"/>
            <p:cNvCxnSpPr/>
            <p:nvPr/>
          </p:nvCxnSpPr>
          <p:spPr>
            <a:xfrm>
              <a:off x="1181518" y="3890443"/>
              <a:ext cx="4726072" cy="0"/>
            </a:xfrm>
            <a:prstGeom prst="straightConnector1">
              <a:avLst/>
            </a:prstGeom>
            <a:solidFill>
              <a:srgbClr val="AB3BC1"/>
            </a:solidFill>
            <a:ln cap="rnd" cmpd="sng" w="19050">
              <a:solidFill>
                <a:srgbClr val="DAB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5"/>
            <p:cNvCxnSpPr/>
            <p:nvPr/>
          </p:nvCxnSpPr>
          <p:spPr>
            <a:xfrm>
              <a:off x="0" y="3951530"/>
              <a:ext cx="5907590" cy="0"/>
            </a:xfrm>
            <a:prstGeom prst="straightConnector1">
              <a:avLst/>
            </a:prstGeom>
            <a:solidFill>
              <a:srgbClr val="AB3BC1"/>
            </a:solidFill>
            <a:ln cap="rnd" cmpd="sng" w="19050">
              <a:solidFill>
                <a:srgbClr val="AB3BC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" name="Google Shape;201;p5"/>
            <p:cNvSpPr/>
            <p:nvPr/>
          </p:nvSpPr>
          <p:spPr>
            <a:xfrm>
              <a:off x="0" y="3951530"/>
              <a:ext cx="1181518" cy="1316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5"/>
            <p:cNvSpPr txBox="1"/>
            <p:nvPr/>
          </p:nvSpPr>
          <p:spPr>
            <a:xfrm>
              <a:off x="0" y="3951530"/>
              <a:ext cx="1181518" cy="1316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Qualidade aprimorada 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1270131" y="4011331"/>
              <a:ext cx="4637458" cy="1196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5"/>
            <p:cNvSpPr txBox="1"/>
            <p:nvPr/>
          </p:nvSpPr>
          <p:spPr>
            <a:xfrm>
              <a:off x="1270131" y="4011331"/>
              <a:ext cx="4637458" cy="1196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 o teste antecipado, erros e falhas são identificados nos estágios iniciais, ajudando a corrigi-los mais cedo e economizando esforços e custos para resolver erros nos estágios posteriores. 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5" name="Google Shape;205;p5"/>
            <p:cNvCxnSpPr/>
            <p:nvPr/>
          </p:nvCxnSpPr>
          <p:spPr>
            <a:xfrm>
              <a:off x="1181518" y="5207352"/>
              <a:ext cx="4726072" cy="0"/>
            </a:xfrm>
            <a:prstGeom prst="straightConnector1">
              <a:avLst/>
            </a:prstGeom>
            <a:solidFill>
              <a:srgbClr val="AB3BC1"/>
            </a:solidFill>
            <a:ln cap="rnd" cmpd="sng" w="19050">
              <a:solidFill>
                <a:srgbClr val="DAB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5"/>
            <p:cNvCxnSpPr/>
            <p:nvPr/>
          </p:nvCxnSpPr>
          <p:spPr>
            <a:xfrm>
              <a:off x="0" y="5268439"/>
              <a:ext cx="5907590" cy="0"/>
            </a:xfrm>
            <a:prstGeom prst="straightConnector1">
              <a:avLst/>
            </a:prstGeom>
            <a:solidFill>
              <a:srgbClr val="AB3BC1"/>
            </a:solidFill>
            <a:ln cap="rnd" cmpd="sng" w="19050">
              <a:solidFill>
                <a:srgbClr val="AB3BC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7" name="Google Shape;207;p5"/>
            <p:cNvSpPr/>
            <p:nvPr/>
          </p:nvSpPr>
          <p:spPr>
            <a:xfrm>
              <a:off x="0" y="5268439"/>
              <a:ext cx="1181518" cy="1316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5"/>
            <p:cNvSpPr txBox="1"/>
            <p:nvPr/>
          </p:nvSpPr>
          <p:spPr>
            <a:xfrm>
              <a:off x="0" y="5268439"/>
              <a:ext cx="1181518" cy="1316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Outros benefícios do teste shift-left: 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270131" y="5328240"/>
              <a:ext cx="4637458" cy="1196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5"/>
            <p:cNvSpPr txBox="1"/>
            <p:nvPr/>
          </p:nvSpPr>
          <p:spPr>
            <a:xfrm>
              <a:off x="1270131" y="5328240"/>
              <a:ext cx="4637458" cy="1196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 abordagem shift-left permite que os desenvolvedores testem rapidamente o código por meio da integração contínua (CI) e da automação de testes. Isso permite que as equipes amadureçam seu SDLC ( Software Development Lifecycle) em direção aos testes contínuos e ao pipeline de CI/CD.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1" name="Google Shape;211;p5"/>
            <p:cNvCxnSpPr/>
            <p:nvPr/>
          </p:nvCxnSpPr>
          <p:spPr>
            <a:xfrm>
              <a:off x="1181518" y="6524260"/>
              <a:ext cx="4726072" cy="0"/>
            </a:xfrm>
            <a:prstGeom prst="straightConnector1">
              <a:avLst/>
            </a:prstGeom>
            <a:solidFill>
              <a:srgbClr val="AB3BC1"/>
            </a:solidFill>
            <a:ln cap="rnd" cmpd="sng" w="19050">
              <a:solidFill>
                <a:srgbClr val="DAB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Shift Left Testing Guide" id="212" name="Google Shape;2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7590" y="1714614"/>
            <a:ext cx="6095593" cy="3428771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pic>
      <p:sp>
        <p:nvSpPr>
          <p:cNvPr id="213" name="Google Shape;213;p5"/>
          <p:cNvSpPr txBox="1"/>
          <p:nvPr/>
        </p:nvSpPr>
        <p:spPr>
          <a:xfrm>
            <a:off x="6440960" y="921263"/>
            <a:ext cx="61598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Os principais benefícios do teste shift-left incluem: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 txBox="1"/>
          <p:nvPr>
            <p:ph type="title"/>
          </p:nvPr>
        </p:nvSpPr>
        <p:spPr>
          <a:xfrm>
            <a:off x="200033" y="1150076"/>
            <a:ext cx="4145156" cy="4557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ELEMENTOS CHAVE DO SHIFT-LEFT TESTING</a:t>
            </a:r>
            <a:endParaRPr/>
          </a:p>
        </p:txBody>
      </p:sp>
      <p:cxnSp>
        <p:nvCxnSpPr>
          <p:cNvPr id="220" name="Google Shape;220;p6"/>
          <p:cNvCxnSpPr/>
          <p:nvPr/>
        </p:nvCxnSpPr>
        <p:spPr>
          <a:xfrm>
            <a:off x="4666923" y="1668780"/>
            <a:ext cx="0" cy="352044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6"/>
          <p:cNvSpPr txBox="1"/>
          <p:nvPr>
            <p:ph idx="1" type="body"/>
          </p:nvPr>
        </p:nvSpPr>
        <p:spPr>
          <a:xfrm>
            <a:off x="4988658" y="1150076"/>
            <a:ext cx="6517543" cy="4557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500"/>
              <a:t>O </a:t>
            </a:r>
            <a:r>
              <a:rPr b="1" lang="en-US" sz="1500"/>
              <a:t>Shift-Left Testing</a:t>
            </a:r>
            <a:r>
              <a:rPr lang="en-US" sz="1500"/>
              <a:t> é uma abordagem que enfatiza a realização de testes desde as primeiras fases do ciclo de vida do desenvolvimento de software. Os principais elementos dessa estratégia incluem: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500"/>
              <a:t>✅ </a:t>
            </a:r>
            <a:r>
              <a:rPr b="1" lang="en-US" sz="1500"/>
              <a:t>Envolvimento Antecipado:</a:t>
            </a:r>
            <a:r>
              <a:rPr lang="en-US" sz="1500"/>
              <a:t> Incluir os testadores desde o início do projeto para que compreendam melhor os requisitos e possam identificar possíveis problemas mais cedo.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500"/>
              <a:t>✅ </a:t>
            </a:r>
            <a:r>
              <a:rPr b="1" lang="en-US" sz="1500"/>
              <a:t>Integração Contínua:</a:t>
            </a:r>
            <a:r>
              <a:rPr lang="en-US" sz="1500"/>
              <a:t> Integrar regularmente as mudanças no código e executar testes automatizados para detectar defeitos 	rapidamente.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500"/>
              <a:t>✅ </a:t>
            </a:r>
            <a:r>
              <a:rPr b="1" lang="en-US" sz="1500"/>
              <a:t>Automação de Testes:</a:t>
            </a:r>
            <a:r>
              <a:rPr lang="en-US" sz="1500"/>
              <a:t> Utilizar ferramentas de automação para executar testes com frequência e consistência, garantindo ciclos de feedback mais rápidos.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500"/>
              <a:t>✅ </a:t>
            </a:r>
            <a:r>
              <a:rPr b="1" lang="en-US" sz="1500"/>
              <a:t>Colaboração:</a:t>
            </a:r>
            <a:r>
              <a:rPr lang="en-US" sz="1500"/>
              <a:t> Promover a cooperação entre as equipes de desenvolvimento, testes e operações para melhorar a 	comunicação e a eficiência.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500"/>
              <a:t>✅ </a:t>
            </a:r>
            <a:r>
              <a:rPr b="1" lang="en-US" sz="1500"/>
              <a:t>Desenvolvimento Incremental:</a:t>
            </a:r>
            <a:r>
              <a:rPr lang="en-US" sz="1500"/>
              <a:t> Adotar uma abordagem incremental para desenvolvimento e testes, permitindo melhorias contínuas e a detecção precoce de falhas.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1500"/>
              <a:t>✅ </a:t>
            </a:r>
            <a:r>
              <a:rPr b="1" lang="en-US" sz="1500"/>
              <a:t>Testes de Performance Antecipados:</a:t>
            </a:r>
            <a:r>
              <a:rPr lang="en-US" sz="1500"/>
              <a:t> Incorporar testes de desempenho nas fases iniciais do ciclo de desenvolvimento para identificar e corrigir problemas antes que se tornem críticos.</a:t>
            </a:r>
            <a:endParaRPr/>
          </a:p>
          <a:p>
            <a:pPr indent="-197676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/>
          <p:nvPr>
            <p:ph type="title"/>
          </p:nvPr>
        </p:nvSpPr>
        <p:spPr>
          <a:xfrm>
            <a:off x="685801" y="533400"/>
            <a:ext cx="10820400" cy="1177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4400"/>
              <a:t>LIMITAÇÕES DO SHIFT-LEFT TESTING</a:t>
            </a:r>
            <a:endParaRPr/>
          </a:p>
        </p:txBody>
      </p:sp>
      <p:cxnSp>
        <p:nvCxnSpPr>
          <p:cNvPr id="228" name="Google Shape;228;p7"/>
          <p:cNvCxnSpPr/>
          <p:nvPr/>
        </p:nvCxnSpPr>
        <p:spPr>
          <a:xfrm>
            <a:off x="5845629" y="1850077"/>
            <a:ext cx="50074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7"/>
          <p:cNvSpPr txBox="1"/>
          <p:nvPr>
            <p:ph idx="1" type="body"/>
          </p:nvPr>
        </p:nvSpPr>
        <p:spPr>
          <a:xfrm>
            <a:off x="685801" y="2243892"/>
            <a:ext cx="10820400" cy="3547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Embora o </a:t>
            </a:r>
            <a:r>
              <a:rPr b="1" lang="en-US" sz="1400"/>
              <a:t>Shift-Left Testing</a:t>
            </a:r>
            <a:r>
              <a:rPr lang="en-US" sz="1400"/>
              <a:t> traga diversos benefícios, as organizações podem enfrentar alguns desafios na sua implementação: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🚧 </a:t>
            </a:r>
            <a:r>
              <a:rPr b="1" lang="en-US" sz="1400"/>
              <a:t>Resistência Cultural:</a:t>
            </a:r>
            <a:r>
              <a:rPr lang="en-US" sz="1400"/>
              <a:t> Equipes acostumadas a métodos tradicionais de teste podem resistir às mudanças necessárias para adotar o Shift-Left Testing.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🎓 </a:t>
            </a:r>
            <a:r>
              <a:rPr b="1" lang="en-US" sz="1400"/>
              <a:t>Lacunas de Habilidades:</a:t>
            </a:r>
            <a:r>
              <a:rPr lang="en-US" sz="1400"/>
              <a:t> Os membros da equipe podem precisar de treinamento adicional para utilizar eficazmente novas ferramentas e práticas associadas a essa abordagem.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🔗 </a:t>
            </a:r>
            <a:r>
              <a:rPr b="1" lang="en-US" sz="1400"/>
              <a:t>Integração de Ferramentas:</a:t>
            </a:r>
            <a:r>
              <a:rPr lang="en-US" sz="1400"/>
              <a:t> Integrar diversas ferramentas de teste ao pipeline de desenvolvimento pode ser um processo complexo e demorado.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⏳ </a:t>
            </a:r>
            <a:r>
              <a:rPr b="1" lang="en-US" sz="1400"/>
              <a:t>Alocação de Recursos:</a:t>
            </a:r>
            <a:r>
              <a:rPr lang="en-US" sz="1400"/>
              <a:t> Destinar tempo e pessoal suficientes para se concentrar nos testes antecipados pode ser um desafio.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🔄 </a:t>
            </a:r>
            <a:r>
              <a:rPr b="1" lang="en-US" sz="1400"/>
              <a:t>Manutenção da Automação de Testes:</a:t>
            </a:r>
            <a:r>
              <a:rPr lang="en-US" sz="1400"/>
              <a:t> Desenvolver e manter uma suíte abrangente de testes automatizados exige esforço contínuo e conhecimento especializado.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⚖️ </a:t>
            </a:r>
            <a:r>
              <a:rPr b="1" lang="en-US" sz="1400"/>
              <a:t>Equilíbrio entre Velocidade e Qualidade:</a:t>
            </a:r>
            <a:r>
              <a:rPr lang="en-US" sz="1400"/>
              <a:t> Garantir que a rapidez no desenvolvimento não comprometa a qualidade dos testes (e vice-versa) pode ser um desafio constante.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>
            <p:ph type="title"/>
          </p:nvPr>
        </p:nvSpPr>
        <p:spPr>
          <a:xfrm>
            <a:off x="685801" y="533400"/>
            <a:ext cx="10820400" cy="1177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4400"/>
              <a:t>SHIFT-RIGHT TESTING</a:t>
            </a:r>
            <a:endParaRPr b="1" sz="4400"/>
          </a:p>
        </p:txBody>
      </p:sp>
      <p:cxnSp>
        <p:nvCxnSpPr>
          <p:cNvPr id="236" name="Google Shape;236;p8"/>
          <p:cNvCxnSpPr/>
          <p:nvPr/>
        </p:nvCxnSpPr>
        <p:spPr>
          <a:xfrm>
            <a:off x="5845629" y="1850077"/>
            <a:ext cx="50074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8"/>
          <p:cNvSpPr txBox="1"/>
          <p:nvPr>
            <p:ph idx="1" type="body"/>
          </p:nvPr>
        </p:nvSpPr>
        <p:spPr>
          <a:xfrm>
            <a:off x="685801" y="2243892"/>
            <a:ext cx="10820400" cy="3547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📌 O que é?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É a prática de </a:t>
            </a:r>
            <a:r>
              <a:rPr b="1" lang="en-US" sz="2000"/>
              <a:t>realizar testes em produção</a:t>
            </a:r>
            <a:r>
              <a:rPr lang="en-US" sz="2000"/>
              <a:t> para garantir que o sistema funcione bem sob condições reais.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🎯 Tipos de Testes Shift-Right</a:t>
            </a:r>
            <a:endParaRPr b="1" sz="2000"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🔹 </a:t>
            </a:r>
            <a:r>
              <a:rPr b="1" lang="en-US" sz="2000"/>
              <a:t>Monitoramento de Produção:</a:t>
            </a:r>
            <a:r>
              <a:rPr lang="en-US" sz="2000"/>
              <a:t> Verificação de erros e logs.</a:t>
            </a:r>
            <a:br>
              <a:rPr lang="en-US" sz="2000"/>
            </a:br>
            <a:r>
              <a:rPr lang="en-US" sz="2000"/>
              <a:t>🔹 </a:t>
            </a:r>
            <a:r>
              <a:rPr b="1" lang="en-US" sz="2000"/>
              <a:t>Testes A/B:</a:t>
            </a:r>
            <a:r>
              <a:rPr lang="en-US" sz="2000"/>
              <a:t> Comparação entre duas versões do sistema.</a:t>
            </a:r>
            <a:br>
              <a:rPr lang="en-US" sz="2000"/>
            </a:br>
            <a:r>
              <a:rPr lang="en-US" sz="2000"/>
              <a:t>🔹 </a:t>
            </a:r>
            <a:r>
              <a:rPr b="1" lang="en-US" sz="2000"/>
              <a:t>Chaos Engineering:</a:t>
            </a:r>
            <a:r>
              <a:rPr lang="en-US" sz="2000"/>
              <a:t> Simulação de falhas para medir a resiliência.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Exemplo de Shift-Right Testing</a:t>
            </a:r>
            <a:endParaRPr b="1" sz="2000"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/>
              <a:t>Testes de carga sendo aplicados em um ambiente de produção controlado.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 txBox="1"/>
          <p:nvPr/>
        </p:nvSpPr>
        <p:spPr>
          <a:xfrm>
            <a:off x="293725" y="4048274"/>
            <a:ext cx="5668206" cy="21851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9FF"/>
              </a:buClr>
              <a:buSzPts val="1300"/>
              <a:buFont typeface="Roboto"/>
              <a:buNone/>
            </a:pPr>
            <a:r>
              <a:rPr b="1" lang="en-US" sz="1300">
                <a:solidFill>
                  <a:srgbClr val="60A9FF"/>
                </a:solidFill>
                <a:latin typeface="Roboto"/>
                <a:ea typeface="Roboto"/>
                <a:cs typeface="Roboto"/>
                <a:sym typeface="Roboto"/>
              </a:rPr>
              <a:t>Shift Left:</a:t>
            </a:r>
            <a:endParaRPr b="1" sz="1300">
              <a:solidFill>
                <a:srgbClr val="60A9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b="1" lang="en-US" sz="1300">
                <a:solidFill>
                  <a:srgbClr val="60A9FF"/>
                </a:solidFill>
                <a:latin typeface="Roboto"/>
                <a:ea typeface="Roboto"/>
                <a:cs typeface="Roboto"/>
                <a:sym typeface="Roboto"/>
              </a:rPr>
              <a:t>Antecipação: </a:t>
            </a:r>
            <a:r>
              <a:rPr lang="en-U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Envolve a realização de atividades, como testes, revisões e integrações, mais cedo no ciclo de desenvolvimento.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b="1" lang="en-US" sz="1300">
                <a:solidFill>
                  <a:srgbClr val="60A9FF"/>
                </a:solidFill>
                <a:latin typeface="Roboto"/>
                <a:ea typeface="Roboto"/>
                <a:cs typeface="Roboto"/>
                <a:sym typeface="Roboto"/>
              </a:rPr>
              <a:t>Foco na Qualidade: </a:t>
            </a:r>
            <a:r>
              <a:rPr lang="en-U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Identifica e corrige problemas mais cedo, reduzindo custos e melhorando a qualidade do produto final.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b="1" lang="en-US" sz="1300">
                <a:solidFill>
                  <a:srgbClr val="60A9FF"/>
                </a:solidFill>
                <a:latin typeface="Roboto"/>
                <a:ea typeface="Roboto"/>
                <a:cs typeface="Roboto"/>
                <a:sym typeface="Roboto"/>
              </a:rPr>
              <a:t>Prevenção de Defeitos: </a:t>
            </a:r>
            <a:r>
              <a:rPr lang="en-U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Ajuda a evitar defeitos ao longo do ciclo de desenvolvimento, em vez de apenas detectá-los na fase final.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0A9FF"/>
              </a:buClr>
              <a:buSzPts val="1300"/>
              <a:buFont typeface="Roboto"/>
              <a:buNone/>
            </a:pPr>
            <a:r>
              <a:rPr b="1" lang="en-US" sz="1300">
                <a:solidFill>
                  <a:srgbClr val="60A9FF"/>
                </a:solidFill>
                <a:latin typeface="Roboto"/>
                <a:ea typeface="Roboto"/>
                <a:cs typeface="Roboto"/>
                <a:sym typeface="Roboto"/>
              </a:rPr>
              <a:t>Exemplo: </a:t>
            </a:r>
            <a:r>
              <a:rPr lang="en-U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Testes unitários automatizados realizados durante a codificação para identificar bugs mais cedo.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6230067" y="3948224"/>
            <a:ext cx="5668207" cy="23852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9FF"/>
              </a:buClr>
              <a:buSzPts val="1300"/>
              <a:buFont typeface="Roboto"/>
              <a:buNone/>
            </a:pPr>
            <a:r>
              <a:rPr b="1" lang="en-US" sz="1300">
                <a:solidFill>
                  <a:srgbClr val="60A9FF"/>
                </a:solidFill>
                <a:latin typeface="Roboto"/>
                <a:ea typeface="Roboto"/>
                <a:cs typeface="Roboto"/>
                <a:sym typeface="Roboto"/>
              </a:rPr>
              <a:t>Shift Right:</a:t>
            </a:r>
            <a:endParaRPr b="1" sz="1300">
              <a:solidFill>
                <a:srgbClr val="60A9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b="1" lang="en-US" sz="1300">
                <a:solidFill>
                  <a:srgbClr val="60A9FF"/>
                </a:solidFill>
                <a:latin typeface="Roboto"/>
                <a:ea typeface="Roboto"/>
                <a:cs typeface="Roboto"/>
                <a:sym typeface="Roboto"/>
              </a:rPr>
              <a:t>Monitoramento Pós-Implementação: </a:t>
            </a:r>
            <a:r>
              <a:rPr lang="en-U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Envolve atividades como monitoramento de produção, feedback do usuário….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b="1" lang="en-US" sz="1300">
                <a:solidFill>
                  <a:srgbClr val="60A9FF"/>
                </a:solidFill>
                <a:latin typeface="Roboto"/>
                <a:ea typeface="Roboto"/>
                <a:cs typeface="Roboto"/>
                <a:sym typeface="Roboto"/>
              </a:rPr>
              <a:t>Foco na Experiência do Usuário: </a:t>
            </a:r>
            <a:r>
              <a:rPr lang="en-U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Prioriza a satisfação do cliente e a adaptação às necessidades do usuário.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b="1" lang="en-US" sz="1300">
                <a:solidFill>
                  <a:srgbClr val="60A9FF"/>
                </a:solidFill>
                <a:latin typeface="Roboto"/>
                <a:ea typeface="Roboto"/>
                <a:cs typeface="Roboto"/>
                <a:sym typeface="Roboto"/>
              </a:rPr>
              <a:t>Melhoria Contínua: </a:t>
            </a:r>
            <a:r>
              <a:rPr lang="en-U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Utiliza dados do mundo real para aprimorar o produto ao longo do tempo.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0A9FF"/>
              </a:buClr>
              <a:buSzPts val="1300"/>
              <a:buFont typeface="Roboto"/>
              <a:buNone/>
            </a:pPr>
            <a:r>
              <a:rPr b="1" lang="en-US" sz="1300">
                <a:solidFill>
                  <a:srgbClr val="60A9FF"/>
                </a:solidFill>
                <a:latin typeface="Roboto"/>
                <a:ea typeface="Roboto"/>
                <a:cs typeface="Roboto"/>
                <a:sym typeface="Roboto"/>
              </a:rPr>
              <a:t>Exemplo: </a:t>
            </a:r>
            <a:r>
              <a:rPr lang="en-US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Implementação de recursos de análise de uso para entender melhor como os usuários interagem com o produto após o lançamento.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Understanding Shift Left in Testing - Guide By CycleLabs"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6502" y="269612"/>
            <a:ext cx="5938996" cy="3436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Seven-spot ladybug climbing a grass blade" id="253" name="Google Shape;253;p10"/>
          <p:cNvPicPr preferRelativeResize="0"/>
          <p:nvPr/>
        </p:nvPicPr>
        <p:blipFill rotWithShape="1">
          <a:blip r:embed="rId3">
            <a:alphaModFix amt="35000"/>
          </a:blip>
          <a:srcRect b="15730" l="0" r="0" t="0"/>
          <a:stretch/>
        </p:blipFill>
        <p:spPr>
          <a:xfrm>
            <a:off x="15260" y="-1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 txBox="1"/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</a:pPr>
            <a:r>
              <a:rPr lang="en-US" sz="7200"/>
              <a:t>BUGS</a:t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2351" y="0"/>
            <a:ext cx="457200" cy="6858000"/>
          </a:xfrm>
          <a:prstGeom prst="rect">
            <a:avLst/>
          </a:prstGeom>
          <a:solidFill>
            <a:srgbClr val="30303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>
              <a:alpha val="8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6248400" y="5314950"/>
            <a:ext cx="38671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Schoolbook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Quanto custa um bug?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>
            <p:ph type="title"/>
          </p:nvPr>
        </p:nvSpPr>
        <p:spPr>
          <a:xfrm>
            <a:off x="8318090" y="-1"/>
            <a:ext cx="3121435" cy="6857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A9FF"/>
              </a:buClr>
              <a:buSzPts val="3645"/>
              <a:buFont typeface="Roboto Slab"/>
              <a:buNone/>
            </a:pPr>
            <a:r>
              <a:rPr lang="en-US" sz="3645">
                <a:solidFill>
                  <a:srgbClr val="60A9FF"/>
                </a:solidFill>
                <a:latin typeface="Roboto Slab"/>
                <a:ea typeface="Roboto Slab"/>
                <a:cs typeface="Roboto Slab"/>
                <a:sym typeface="Roboto Slab"/>
              </a:rPr>
              <a:t>É PRECISO ANALISAR E ENTENDER TODO O CONTEXTO ANTES DE COLOCAR A MÃO NA MASSA.</a:t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52283" y="0"/>
            <a:ext cx="756100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Dev Box Testing: como reduzir o custo de correção de um bug? | Sensedia" id="265" name="Google Shape;2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183" y="1869497"/>
            <a:ext cx="6616823" cy="3109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"/>
          <p:cNvSpPr txBox="1"/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A9FF"/>
              </a:buClr>
              <a:buSzPct val="111111"/>
              <a:buFont typeface="Roboto Slab"/>
              <a:buNone/>
            </a:pPr>
            <a:r>
              <a:rPr lang="en-US" sz="3645">
                <a:solidFill>
                  <a:srgbClr val="60A9FF"/>
                </a:solidFill>
                <a:latin typeface="Roboto Slab"/>
                <a:ea typeface="Roboto Slab"/>
                <a:cs typeface="Roboto Slab"/>
                <a:sym typeface="Roboto Slab"/>
              </a:rPr>
              <a:t>EQUAÇÃO GERAL DE TESTES </a:t>
            </a:r>
            <a:endParaRPr/>
          </a:p>
        </p:txBody>
      </p:sp>
      <p:sp>
        <p:nvSpPr>
          <p:cNvPr id="271" name="Google Shape;271;p12"/>
          <p:cNvSpPr txBox="1"/>
          <p:nvPr>
            <p:ph idx="1" type="body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0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0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0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040"/>
              <a:buNone/>
            </a:pPr>
            <a:r>
              <a:rPr lang="en-US"/>
              <a:t>Formula da Equivalência massa–energia??</a:t>
            </a:r>
            <a:endParaRPr/>
          </a:p>
        </p:txBody>
      </p:sp>
      <p:sp>
        <p:nvSpPr>
          <p:cNvPr id="272" name="Google Shape;272;p12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1279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descr="A Famosa Equação de Einstein E = mc^2 | Osvaldo Luiz dos Santos Pereira" id="273" name="Google Shape;2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6300" y="1562100"/>
            <a:ext cx="5715000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 txBox="1"/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A9FF"/>
              </a:buClr>
              <a:buSzPct val="111111"/>
              <a:buFont typeface="Roboto Slab"/>
              <a:buNone/>
            </a:pPr>
            <a:r>
              <a:rPr lang="en-US" sz="3645">
                <a:solidFill>
                  <a:srgbClr val="60A9FF"/>
                </a:solidFill>
                <a:latin typeface="Roboto Slab"/>
                <a:ea typeface="Roboto Slab"/>
                <a:cs typeface="Roboto Slab"/>
                <a:sym typeface="Roboto Slab"/>
              </a:rPr>
              <a:t>EQUAÇÃO GERAL DE TESTES </a:t>
            </a:r>
            <a:endParaRPr/>
          </a:p>
        </p:txBody>
      </p:sp>
      <p:sp>
        <p:nvSpPr>
          <p:cNvPr id="279" name="Google Shape;279;p13"/>
          <p:cNvSpPr txBox="1"/>
          <p:nvPr>
            <p:ph idx="1" type="body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0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0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0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040"/>
              <a:buNone/>
            </a:pPr>
            <a:r>
              <a:rPr lang="en-US"/>
              <a:t>Formula da Equivalência massa–energia??</a:t>
            </a:r>
            <a:endParaRPr/>
          </a:p>
        </p:txBody>
      </p:sp>
      <p:sp>
        <p:nvSpPr>
          <p:cNvPr id="280" name="Google Shape;280;p13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1279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descr="A Famosa Equação de Einstein E = mc^2 | Osvaldo Luiz dos Santos Pereira" id="281" name="Google Shape;2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6300" y="1562100"/>
            <a:ext cx="5715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 txBox="1"/>
          <p:nvPr/>
        </p:nvSpPr>
        <p:spPr>
          <a:xfrm>
            <a:off x="526075" y="4352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Schoolbook"/>
              <a:buNone/>
            </a:pPr>
            <a:r>
              <a:rPr lang="en-US" sz="18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Erro = Mais codigo²</a:t>
            </a:r>
            <a:endParaRPr sz="13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 txBox="1"/>
          <p:nvPr>
            <p:ph type="title"/>
          </p:nvPr>
        </p:nvSpPr>
        <p:spPr>
          <a:xfrm>
            <a:off x="95650" y="2514600"/>
            <a:ext cx="426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A9FF"/>
              </a:buClr>
              <a:buSzPct val="100000"/>
              <a:buFont typeface="Roboto Slab"/>
              <a:buNone/>
            </a:pPr>
            <a:r>
              <a:rPr lang="en-US" sz="4100">
                <a:solidFill>
                  <a:srgbClr val="60A9FF"/>
                </a:solidFill>
                <a:latin typeface="Roboto Slab"/>
                <a:ea typeface="Roboto Slab"/>
                <a:cs typeface="Roboto Slab"/>
                <a:sym typeface="Roboto Slab"/>
              </a:rPr>
              <a:t>O VELHO PROBLEMA DA COMUNICAÇÃO... </a:t>
            </a:r>
            <a:endParaRPr/>
          </a:p>
        </p:txBody>
      </p:sp>
      <p:pic>
        <p:nvPicPr>
          <p:cNvPr descr="Falta de comunicação e falha na comunicação" id="288" name="Google Shape;2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4267" y="1657350"/>
            <a:ext cx="6162675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/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Schoolbook"/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 txBox="1"/>
          <p:nvPr>
            <p:ph idx="1" type="body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40"/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1279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descr="Gestão das comunicações" id="296" name="Google Shape;2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5924" y="719137"/>
            <a:ext cx="9200151" cy="5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 txBox="1"/>
          <p:nvPr>
            <p:ph type="title"/>
          </p:nvPr>
        </p:nvSpPr>
        <p:spPr>
          <a:xfrm>
            <a:off x="8318090" y="758952"/>
            <a:ext cx="2715353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A9FF"/>
              </a:buClr>
              <a:buSzPts val="3700"/>
              <a:buFont typeface="Roboto Slab"/>
              <a:buNone/>
            </a:pPr>
            <a:r>
              <a:rPr lang="en-US" sz="3700">
                <a:solidFill>
                  <a:srgbClr val="60A9FF"/>
                </a:solidFill>
                <a:latin typeface="Roboto Slab"/>
                <a:ea typeface="Roboto Slab"/>
                <a:cs typeface="Roboto Slab"/>
                <a:sym typeface="Roboto Slab"/>
              </a:rPr>
              <a:t>CONCEITO “V” DE TESTE</a:t>
            </a:r>
            <a:br>
              <a:rPr lang="en-US" sz="3700">
                <a:solidFill>
                  <a:srgbClr val="60A9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br>
              <a:rPr lang="en-US" sz="3400"/>
            </a:br>
            <a:endParaRPr sz="3400"/>
          </a:p>
        </p:txBody>
      </p:sp>
      <p:pic>
        <p:nvPicPr>
          <p:cNvPr id="304" name="Google Shape;304;p1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183" y="1489030"/>
            <a:ext cx="6616823" cy="3870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>
            <p:ph type="title"/>
          </p:nvPr>
        </p:nvSpPr>
        <p:spPr>
          <a:xfrm>
            <a:off x="5459767" y="365760"/>
            <a:ext cx="55032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A9FF"/>
              </a:buClr>
              <a:buSzPct val="100000"/>
              <a:buFont typeface="Roboto Slab"/>
              <a:buNone/>
            </a:pPr>
            <a:r>
              <a:rPr lang="en-US" sz="3700">
                <a:solidFill>
                  <a:srgbClr val="60A9FF"/>
                </a:solidFill>
                <a:latin typeface="Roboto Slab"/>
                <a:ea typeface="Roboto Slab"/>
                <a:cs typeface="Roboto Slab"/>
                <a:sym typeface="Roboto Slab"/>
              </a:rPr>
              <a:t>PIRÂMIDE DE TESTES</a:t>
            </a:r>
            <a:br>
              <a:rPr lang="en-US" sz="2800"/>
            </a:br>
            <a:br>
              <a:rPr lang="en-US" sz="2800"/>
            </a:br>
            <a:endParaRPr sz="2800"/>
          </a:p>
        </p:txBody>
      </p:sp>
      <p:sp>
        <p:nvSpPr>
          <p:cNvPr id="310" name="Google Shape;310;p17"/>
          <p:cNvSpPr/>
          <p:nvPr/>
        </p:nvSpPr>
        <p:spPr>
          <a:xfrm>
            <a:off x="0" y="0"/>
            <a:ext cx="51055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Diagrama&#10;&#10;Descrição gerada automaticamente" id="311" name="Google Shape;3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99" y="2328820"/>
            <a:ext cx="4019312" cy="221062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7"/>
          <p:cNvSpPr txBox="1"/>
          <p:nvPr/>
        </p:nvSpPr>
        <p:spPr>
          <a:xfrm>
            <a:off x="5287310" y="1216605"/>
            <a:ext cx="646754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que é a Pirâmide de Testes?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A Pirâmide de Testes é um conceito que orienta a distribuição dos testes de software para garantir eficiência, velocidade e cobertura adequada. Ela é dividida em três camadas principais:</a:t>
            </a:r>
            <a:endParaRPr/>
          </a:p>
        </p:txBody>
      </p:sp>
      <p:sp>
        <p:nvSpPr>
          <p:cNvPr id="313" name="Google Shape;313;p17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14" name="Google Shape;314;p17"/>
          <p:cNvSpPr txBox="1"/>
          <p:nvPr/>
        </p:nvSpPr>
        <p:spPr>
          <a:xfrm>
            <a:off x="5146203" y="3171874"/>
            <a:ext cx="660864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📌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Importância da Pirâmide: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🔹 Quanto mais alto na pirâmide, mais caro e demorado o teste.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🔹 O ideal é priorizar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testes unitários e de integração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reduzindo a dependência de testes End-to-End.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🔹 Ajuda a manter um ciclo de desenvolvimento ágil e eficiente.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 txBox="1"/>
          <p:nvPr>
            <p:ph type="title"/>
          </p:nvPr>
        </p:nvSpPr>
        <p:spPr>
          <a:xfrm>
            <a:off x="1993805" y="1354668"/>
            <a:ext cx="8204391" cy="2346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OBRIGADO</a:t>
            </a:r>
            <a:endParaRPr/>
          </a:p>
        </p:txBody>
      </p:sp>
      <p:cxnSp>
        <p:nvCxnSpPr>
          <p:cNvPr id="322" name="Google Shape;322;p18"/>
          <p:cNvCxnSpPr/>
          <p:nvPr/>
        </p:nvCxnSpPr>
        <p:spPr>
          <a:xfrm>
            <a:off x="5845629" y="3810000"/>
            <a:ext cx="50074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2025-03-08T01:28:34Z</dcterms:created>
  <dc:creator>Thiago Vasconcelos</dc:creator>
</cp:coreProperties>
</file>