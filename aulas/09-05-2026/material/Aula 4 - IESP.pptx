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6858000" cx="12192000"/>
  <p:notesSz cx="6858000" cy="9144000"/>
  <p:embeddedFontLst>
    <p:embeddedFont>
      <p:font typeface="Old Standard TT"/>
      <p:regular r:id="rId51"/>
      <p:bold r:id="rId52"/>
      <p:italic r:id="rId53"/>
    </p:embeddedFont>
    <p:embeddedFont>
      <p:font typeface="Century Gothic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gLwKyz7AjQVyPwgCPyeQnRBFi9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ED24F8-E680-4E3D-818D-9C8FE9ECD911}">
  <a:tblStyle styleId="{3EED24F8-E680-4E3D-818D-9C8FE9ECD91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ldStandardTT-regular.fntdata"/><Relationship Id="rId50" Type="http://schemas.openxmlformats.org/officeDocument/2006/relationships/slide" Target="slides/slide44.xml"/><Relationship Id="rId53" Type="http://schemas.openxmlformats.org/officeDocument/2006/relationships/font" Target="fonts/OldStandardTT-italic.fntdata"/><Relationship Id="rId52" Type="http://schemas.openxmlformats.org/officeDocument/2006/relationships/font" Target="fonts/OldStandardTT-bold.fntdata"/><Relationship Id="rId11" Type="http://schemas.openxmlformats.org/officeDocument/2006/relationships/slide" Target="slides/slide5.xml"/><Relationship Id="rId55" Type="http://schemas.openxmlformats.org/officeDocument/2006/relationships/font" Target="fonts/CenturyGothic-bold.fntdata"/><Relationship Id="rId10" Type="http://schemas.openxmlformats.org/officeDocument/2006/relationships/slide" Target="slides/slide4.xml"/><Relationship Id="rId54" Type="http://schemas.openxmlformats.org/officeDocument/2006/relationships/font" Target="fonts/CenturyGothic-regular.fntdata"/><Relationship Id="rId13" Type="http://schemas.openxmlformats.org/officeDocument/2006/relationships/slide" Target="slides/slide7.xml"/><Relationship Id="rId57" Type="http://schemas.openxmlformats.org/officeDocument/2006/relationships/font" Target="fonts/CenturyGothic-boldItalic.fntdata"/><Relationship Id="rId12" Type="http://schemas.openxmlformats.org/officeDocument/2006/relationships/slide" Target="slides/slide6.xml"/><Relationship Id="rId56" Type="http://schemas.openxmlformats.org/officeDocument/2006/relationships/font" Target="fonts/CenturyGothic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fc85dda9e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dfc85dda9e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" name="Google Shape;1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45"/>
          <p:cNvSpPr txBox="1"/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5"/>
          <p:cNvSpPr txBox="1"/>
          <p:nvPr>
            <p:ph idx="1" type="body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4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9" name="Google Shape;1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7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" type="body"/>
          </p:nvPr>
        </p:nvSpPr>
        <p:spPr>
          <a:xfrm>
            <a:off x="415600" y="1562233"/>
            <a:ext cx="53331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28" name="Google Shape;28;p47"/>
          <p:cNvSpPr txBox="1"/>
          <p:nvPr>
            <p:ph idx="2" type="body"/>
          </p:nvPr>
        </p:nvSpPr>
        <p:spPr>
          <a:xfrm>
            <a:off x="6443200" y="1562233"/>
            <a:ext cx="53331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29" name="Google Shape;29;p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8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1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TitleHD.png" id="35" name="Google Shape;3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9"/>
          <p:cNvSpPr txBox="1"/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9"/>
          <p:cNvSpPr txBox="1"/>
          <p:nvPr>
            <p:ph idx="1" type="subTitle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49"/>
          <p:cNvSpPr txBox="1"/>
          <p:nvPr>
            <p:ph idx="10" type="dt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11" type="ftr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9"/>
          <p:cNvSpPr txBox="1"/>
          <p:nvPr>
            <p:ph idx="12" type="sldNum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42" name="Google Shape;42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0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" type="body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0"/>
          <p:cNvSpPr txBox="1"/>
          <p:nvPr>
            <p:ph idx="2" type="body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1"/>
          <p:cNvSpPr txBox="1"/>
          <p:nvPr>
            <p:ph idx="1" type="body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51"/>
          <p:cNvSpPr txBox="1"/>
          <p:nvPr>
            <p:ph idx="2" type="body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3" type="body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51"/>
          <p:cNvSpPr txBox="1"/>
          <p:nvPr>
            <p:ph idx="4" type="body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59" name="Google Shape;59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2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2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2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5" name="Google Shape;65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70" name="Google Shape;70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4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4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54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5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78" name="Google Shape;78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5"/>
          <p:cNvSpPr txBox="1"/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/>
          <p:nvPr>
            <p:ph idx="2" type="pic"/>
          </p:nvPr>
        </p:nvSpPr>
        <p:spPr>
          <a:xfrm>
            <a:off x="7536253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sp>
      <p:sp>
        <p:nvSpPr>
          <p:cNvPr id="81" name="Google Shape;81;p55"/>
          <p:cNvSpPr txBox="1"/>
          <p:nvPr>
            <p:ph idx="1" type="body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2" name="Google Shape;82;p5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6" name="Google Shape;8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6"/>
          <p:cNvSpPr txBox="1"/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6"/>
          <p:cNvSpPr/>
          <p:nvPr>
            <p:ph idx="2" type="pic"/>
          </p:nvPr>
        </p:nvSpPr>
        <p:spPr>
          <a:xfrm>
            <a:off x="1371600" y="932112"/>
            <a:ext cx="8759827" cy="3164976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sp>
      <p:sp>
        <p:nvSpPr>
          <p:cNvPr id="89" name="Google Shape;89;p56"/>
          <p:cNvSpPr txBox="1"/>
          <p:nvPr>
            <p:ph idx="1" type="body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0" name="Google Shape;90;p5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>
  <p:cSld name="Título e Legenda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94" name="Google Shape;94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7"/>
          <p:cNvSpPr txBox="1"/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7"/>
          <p:cNvSpPr txBox="1"/>
          <p:nvPr>
            <p:ph idx="1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5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1" name="Google Shape;101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8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pt-BR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3" name="Google Shape;103;p58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pt-BR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04" name="Google Shape;104;p58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8"/>
          <p:cNvSpPr txBox="1"/>
          <p:nvPr>
            <p:ph idx="1" type="body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58"/>
          <p:cNvSpPr txBox="1"/>
          <p:nvPr>
            <p:ph idx="2" type="body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5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11" name="Google Shape;11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9"/>
          <p:cNvSpPr txBox="1"/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9"/>
          <p:cNvSpPr txBox="1"/>
          <p:nvPr>
            <p:ph idx="1" type="body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5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o Cartão de Nome">
  <p:cSld name="Citar o Cartão de Nome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18" name="Google Shape;118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0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pt-BR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0" name="Google Shape;120;p6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pt-BR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21" name="Google Shape;121;p60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0"/>
          <p:cNvSpPr txBox="1"/>
          <p:nvPr>
            <p:ph idx="1" type="body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60"/>
          <p:cNvSpPr txBox="1"/>
          <p:nvPr>
            <p:ph idx="2" type="body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6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iro ou Falso">
  <p:cSld name="Verdadeiro ou Falso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8" name="Google Shape;128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1"/>
          <p:cNvSpPr txBox="1"/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1"/>
          <p:cNvSpPr txBox="1"/>
          <p:nvPr>
            <p:ph idx="1" type="body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61"/>
          <p:cNvSpPr txBox="1"/>
          <p:nvPr>
            <p:ph idx="2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6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6" name="Google Shape;136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2"/>
          <p:cNvSpPr txBox="1"/>
          <p:nvPr>
            <p:ph idx="1" type="body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62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2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2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1" name="Google Shape;141;p62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43" name="Google Shape;143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3"/>
          <p:cNvSpPr txBox="1"/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3"/>
          <p:cNvSpPr txBox="1"/>
          <p:nvPr>
            <p:ph idx="1" type="body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6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www.w3.org/TR/soap12-part1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json-schema.org/draft-06/json-schema-release-notes.html" TargetMode="External"/><Relationship Id="rId4" Type="http://schemas.openxmlformats.org/officeDocument/2006/relationships/image" Target="../media/image35.png"/><Relationship Id="rId5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reqres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"/>
          <p:cNvSpPr txBox="1"/>
          <p:nvPr>
            <p:ph type="title"/>
          </p:nvPr>
        </p:nvSpPr>
        <p:spPr>
          <a:xfrm>
            <a:off x="842275" y="2513500"/>
            <a:ext cx="9021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pt-BR"/>
              <a:t>TESTES AUTOMATIZADOS DE API COM JAVA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racle anuncia a disponibilidade do Java 19 com diversas melhorias -  Inforchannel" id="158" name="Google Shape;1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546625"/>
            <a:ext cx="8229600" cy="4609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FRAMEWORKS EM JAVA</a:t>
            </a:r>
            <a:endParaRPr/>
          </a:p>
        </p:txBody>
      </p:sp>
      <p:sp>
        <p:nvSpPr>
          <p:cNvPr id="164" name="Google Shape;164;p3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Os frameworks Java™ são grupos de </a:t>
            </a:r>
            <a:r>
              <a:rPr b="1" lang="pt-BR"/>
              <a:t>códigos previamente escritos</a:t>
            </a:r>
            <a:r>
              <a:rPr lang="pt-BR"/>
              <a:t> usados pelos desenvolvedores para criar aplicações por meio da linguagem de programação Java.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Os frameworks são projetados para serem utilizados várias vezes. Assim, os desenvolvedores </a:t>
            </a:r>
            <a:r>
              <a:rPr b="1" lang="pt-BR"/>
              <a:t>não precisam criar tudo do zero</a:t>
            </a:r>
            <a:r>
              <a:rPr lang="pt-BR"/>
              <a:t>, o que </a:t>
            </a:r>
            <a:r>
              <a:rPr b="1" lang="pt-BR"/>
              <a:t>elimina o trabalho manual</a:t>
            </a:r>
            <a:r>
              <a:rPr lang="pt-BR"/>
              <a:t> excessivo ao programar uma aplicação.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Top Java Web Frameworks for 2018" id="170" name="Google Shape;170;p4"/>
          <p:cNvPicPr preferRelativeResize="0"/>
          <p:nvPr/>
        </p:nvPicPr>
        <p:blipFill rotWithShape="1">
          <a:blip r:embed="rId3">
            <a:alphaModFix/>
          </a:blip>
          <a:srcRect b="0" l="0" r="0" t="13738"/>
          <a:stretch/>
        </p:blipFill>
        <p:spPr>
          <a:xfrm>
            <a:off x="0" y="597282"/>
            <a:ext cx="12192000" cy="5915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O conteúdo gerado por IA pode estar incorreto." id="171" name="Google Shape;171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7673" y="3156954"/>
            <a:ext cx="2606099" cy="79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8409" y="5134646"/>
            <a:ext cx="1378527" cy="1378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33321" y="932172"/>
            <a:ext cx="2452255" cy="620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6365278" y="4245852"/>
            <a:ext cx="5289224" cy="1701742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rgbClr val="481A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91127" y="1348509"/>
            <a:ext cx="5190837" cy="2447636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rgbClr val="481A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5"/>
          <p:cNvPicPr preferRelativeResize="0"/>
          <p:nvPr/>
        </p:nvPicPr>
        <p:blipFill rotWithShape="1">
          <a:blip r:embed="rId3">
            <a:alphaModFix/>
          </a:blip>
          <a:srcRect b="0" l="0" r="33101" t="0"/>
          <a:stretch/>
        </p:blipFill>
        <p:spPr>
          <a:xfrm>
            <a:off x="697051" y="1456096"/>
            <a:ext cx="5289224" cy="241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roduction to Rest API Testing using Rest Assured | by Haja Mohideen J |  Medium" id="181" name="Google Shape;1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2199" y="1550773"/>
            <a:ext cx="6096925" cy="212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Apache Maven logo.svg - Wikimedia Commons" id="182" name="Google Shape;18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939" y="4458098"/>
            <a:ext cx="5045901" cy="127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cle anuncia a disponibilidade do Java 19 com diversas melhorias -  Inforchannel" id="183" name="Google Shape;18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5480" y="4670344"/>
            <a:ext cx="2465549" cy="13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>
            <p:ph type="title"/>
          </p:nvPr>
        </p:nvSpPr>
        <p:spPr>
          <a:xfrm>
            <a:off x="685801" y="533400"/>
            <a:ext cx="10820400" cy="1177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 sz="4400"/>
              <a:t>JUNIT</a:t>
            </a:r>
            <a:endParaRPr/>
          </a:p>
        </p:txBody>
      </p:sp>
      <p:cxnSp>
        <p:nvCxnSpPr>
          <p:cNvPr id="190" name="Google Shape;190;p6"/>
          <p:cNvCxnSpPr/>
          <p:nvPr/>
        </p:nvCxnSpPr>
        <p:spPr>
          <a:xfrm>
            <a:off x="5845629" y="1850077"/>
            <a:ext cx="50074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6"/>
          <p:cNvSpPr txBox="1"/>
          <p:nvPr>
            <p:ph idx="1" type="body"/>
          </p:nvPr>
        </p:nvSpPr>
        <p:spPr>
          <a:xfrm>
            <a:off x="685801" y="2243891"/>
            <a:ext cx="10820400" cy="437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pt-BR" sz="2000"/>
              <a:t>O que é o JUnit?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 sz="2000"/>
              <a:t>	✅ JUnit é um framework de testes unitários para aplicações Java.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br>
              <a:rPr lang="pt-BR" sz="2000"/>
            </a:br>
            <a:r>
              <a:rPr lang="pt-BR" sz="2000"/>
              <a:t>	✅ Permite validar métodos e classes individualmente, garantindo qualidade e confiabilidade do código.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br>
              <a:rPr lang="pt-BR" sz="2000"/>
            </a:br>
            <a:r>
              <a:rPr lang="pt-BR" sz="2000"/>
              <a:t>	✅ Facilita a automação dos testes e é amplamente utilizado em metodologias ágeis.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 sz="2000"/>
              <a:t>📌 </a:t>
            </a:r>
            <a:r>
              <a:rPr b="1" lang="pt-BR" sz="2000"/>
              <a:t>Por que usar JUnit?</a:t>
            </a:r>
            <a:endParaRPr sz="2000"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pt-BR" sz="1800"/>
              <a:t>Detecta erros logo no início do desenvolvimento.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pt-BR" sz="1800"/>
              <a:t>Facilita refatorações e mudanças no código.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pt-BR" sz="1800"/>
              <a:t>Garante que o código funcione conforme o esperado após cada alteraçã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SzPct val="100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JUNIT</a:t>
            </a:r>
            <a:endParaRPr/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1" y="2669880"/>
            <a:ext cx="10299401" cy="40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685801" y="1721542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Passo a Passo para Configurar o JUnit no Projeto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✅ </a:t>
            </a: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Adicionando Dependência no Maven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ANOTAÇÕES</a:t>
            </a:r>
            <a:endParaRPr/>
          </a:p>
        </p:txBody>
      </p:sp>
      <p:sp>
        <p:nvSpPr>
          <p:cNvPr id="204" name="Google Shape;204;p8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As anotações do JUnit 5, como @Test, @BeforeEach, @AfterEach, @BeforeAll e @AfterAll, simplificam a estruturação e configuração dos testes.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Além disso, as extensões permitem a personalização e extensibilidade dos testes, adicionando funcionalidades extras de forma flexível e sem complicação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ESTRUTURA DE UM TESTE UNITÁRIO NO JUNIT</a:t>
            </a:r>
            <a:endParaRPr/>
          </a:p>
        </p:txBody>
      </p:sp>
      <p:pic>
        <p:nvPicPr>
          <p:cNvPr descr="Texto&#10;&#10;O conteúdo gerado por IA pode estar incorreto." id="210" name="Google Shape;210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4774" y="1642534"/>
            <a:ext cx="8940800" cy="31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 txBox="1"/>
          <p:nvPr/>
        </p:nvSpPr>
        <p:spPr>
          <a:xfrm>
            <a:off x="1191490" y="4947905"/>
            <a:ext cx="912408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Explicação: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@Test – Indica que o método é um teste.</a:t>
            </a:r>
            <a:b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assertEquals(expected, actual, message) – Valida se o resultado esperado é igual ao obtido.</a:t>
            </a:r>
            <a:b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O JUnit executará automaticamente os testes e mostrará falhas, se houver.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TESTANDO EXCEÇÕES NO JUNIT</a:t>
            </a:r>
            <a:endParaRPr b="1"/>
          </a:p>
        </p:txBody>
      </p:sp>
      <p:sp>
        <p:nvSpPr>
          <p:cNvPr id="217" name="Google Shape;217;p10"/>
          <p:cNvSpPr txBox="1"/>
          <p:nvPr/>
        </p:nvSpPr>
        <p:spPr>
          <a:xfrm>
            <a:off x="1191490" y="4947905"/>
            <a:ext cx="999374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Explicação: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 assertThrows(Exception.class, () -&gt; método()) – Verifica se uma exceção é lançada corretamente.</a:t>
            </a:r>
            <a:b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 Útil para validar erros esperados no código.</a:t>
            </a:r>
            <a:endParaRPr/>
          </a:p>
        </p:txBody>
      </p:sp>
      <p:pic>
        <p:nvPicPr>
          <p:cNvPr descr="Interface gráfica do usuário, Texto, Aplicativo&#10;&#10;O conteúdo gerado por IA pode estar incorreto." id="218" name="Google Shape;2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825831"/>
            <a:ext cx="11746558" cy="2422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TESTES PARAMETRIZADOS NO JUNIT</a:t>
            </a:r>
            <a:endParaRPr b="1"/>
          </a:p>
        </p:txBody>
      </p:sp>
      <p:sp>
        <p:nvSpPr>
          <p:cNvPr id="224" name="Google Shape;224;p11"/>
          <p:cNvSpPr txBox="1"/>
          <p:nvPr/>
        </p:nvSpPr>
        <p:spPr>
          <a:xfrm>
            <a:off x="332508" y="2306305"/>
            <a:ext cx="344516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Quando usar?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Quando há necessidade de rodar o mesmo teste com múltiplos valores.</a:t>
            </a:r>
            <a:endParaRPr/>
          </a:p>
        </p:txBody>
      </p:sp>
      <p:pic>
        <p:nvPicPr>
          <p:cNvPr id="225" name="Google Shape;2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7386" y="1910095"/>
            <a:ext cx="7772400" cy="4285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TESTES COM BEFOREEACH E AFTEREACH</a:t>
            </a:r>
            <a:endParaRPr b="1"/>
          </a:p>
        </p:txBody>
      </p:sp>
      <p:sp>
        <p:nvSpPr>
          <p:cNvPr id="231" name="Google Shape;231;p12"/>
          <p:cNvSpPr txBox="1"/>
          <p:nvPr/>
        </p:nvSpPr>
        <p:spPr>
          <a:xfrm>
            <a:off x="332508" y="2306305"/>
            <a:ext cx="34451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Configurando estados antes e depois de cada teste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o&#10;&#10;O conteúdo gerado por IA pode estar incorreto." id="232" name="Google Shape;2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8804" y="1849818"/>
            <a:ext cx="6382904" cy="439858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 txBox="1"/>
          <p:nvPr/>
        </p:nvSpPr>
        <p:spPr>
          <a:xfrm>
            <a:off x="110836" y="3810199"/>
            <a:ext cx="471978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📌 </a:t>
            </a: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Explicação:</a:t>
            </a: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@BeforeEach – Executado antes de cada teste, útil para inicializar objetos.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@AfterEach – Executado após cada teste, útil para liberar recursos.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TESTES COM BEFOREEACH E AFTEREACH</a:t>
            </a:r>
            <a:endParaRPr b="1"/>
          </a:p>
        </p:txBody>
      </p:sp>
      <p:sp>
        <p:nvSpPr>
          <p:cNvPr id="239" name="Google Shape;239;p13"/>
          <p:cNvSpPr txBox="1"/>
          <p:nvPr/>
        </p:nvSpPr>
        <p:spPr>
          <a:xfrm>
            <a:off x="332508" y="2306305"/>
            <a:ext cx="54864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Como testar métodos privados?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face gráfica do usuário, Texto, Aplicativo&#10;&#10;O conteúdo gerado por IA pode estar incorreto." id="240" name="Google Shape;2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454" y="2675637"/>
            <a:ext cx="9540864" cy="203490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3"/>
          <p:cNvSpPr txBox="1"/>
          <p:nvPr/>
        </p:nvSpPr>
        <p:spPr>
          <a:xfrm>
            <a:off x="2183245" y="4893734"/>
            <a:ext cx="813954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📌 </a:t>
            </a: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Explicação:</a:t>
            </a: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getDeclaredMethod() – Obtém um método privado pelo nome.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setAccessible(true) – Permite acessar o método privado.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invoke(obj, params) – Executa o método privado.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ANOTAÇÕES</a:t>
            </a:r>
            <a:endParaRPr/>
          </a:p>
        </p:txBody>
      </p:sp>
      <p:sp>
        <p:nvSpPr>
          <p:cNvPr id="247" name="Google Shape;247;p14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Sobre as anotações, as principais são: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pt-BR"/>
              <a:t>@Test</a:t>
            </a:r>
            <a:r>
              <a:rPr lang="pt-BR"/>
              <a:t> é usado para anotar os métodos para serem executados como um teste;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pt-BR"/>
              <a:t>@BeforeAll:</a:t>
            </a:r>
            <a:endParaRPr b="1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Um método anotado com essa anotação:</a:t>
            </a:r>
            <a:endParaRPr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Deve ser um método estático; </a:t>
            </a:r>
            <a:endParaRPr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Será executado uma vez antes de qualquer teste ser executado;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pt-BR"/>
              <a:t>@BeforeEach:</a:t>
            </a:r>
            <a:endParaRPr b="1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Um método anotado com essa anotação será executado uma vez antes de cada método de teste anotado com </a:t>
            </a:r>
            <a:r>
              <a:rPr b="1" lang="pt-BR"/>
              <a:t>@Test;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pt-BR"/>
              <a:t>@AfterAll</a:t>
            </a:r>
            <a:r>
              <a:rPr lang="pt-BR"/>
              <a:t> é semelhante ao @BeforeAll, mas será executado após a execução de todos os testes; 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pt-BR"/>
              <a:t>@AfterEach</a:t>
            </a:r>
            <a:r>
              <a:rPr lang="pt-BR"/>
              <a:t> é semelhante ao @BeforeEach, mas será executado uma vez após a execução de cada teste.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>
            <p:ph idx="1" type="body"/>
          </p:nvPr>
        </p:nvSpPr>
        <p:spPr>
          <a:xfrm>
            <a:off x="838200" y="1825625"/>
            <a:ext cx="8934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7"/>
              <a:buFont typeface="Arial"/>
              <a:buNone/>
            </a:pPr>
            <a:r>
              <a:rPr lang="pt-BR"/>
              <a:t>ANOTAÇÕES</a:t>
            </a:r>
            <a:endParaRPr/>
          </a:p>
          <a:p>
            <a:pPr indent="-410526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57"/>
              <a:buChar char="•"/>
            </a:pPr>
            <a:r>
              <a:rPr lang="pt-BR"/>
              <a:t>Para ignorar um método de teste utilizamos a anotação: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7"/>
              <a:buFont typeface="Arial"/>
              <a:buNone/>
            </a:pPr>
            <a:r>
              <a:rPr lang="pt-BR"/>
              <a:t>@Disabled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7"/>
              <a:buFont typeface="Arial"/>
              <a:buNone/>
            </a:pPr>
            <a:r>
              <a:rPr lang="pt-BR"/>
              <a:t>Exemplo: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7"/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99"/>
              <a:buFont typeface="Arial"/>
              <a:buNone/>
            </a:pPr>
            <a:r>
              <a:rPr lang="pt-BR" sz="2291">
                <a:latin typeface="Courier New"/>
                <a:ea typeface="Courier New"/>
                <a:cs typeface="Courier New"/>
                <a:sym typeface="Courier New"/>
              </a:rPr>
              <a:t>@Disabled</a:t>
            </a:r>
            <a:endParaRPr sz="229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99"/>
              <a:buFont typeface="Arial"/>
              <a:buNone/>
            </a:pPr>
            <a:r>
              <a:rPr lang="pt-BR" sz="2291">
                <a:latin typeface="Courier New"/>
                <a:ea typeface="Courier New"/>
                <a:cs typeface="Courier New"/>
                <a:sym typeface="Courier New"/>
              </a:rPr>
              <a:t>@Test</a:t>
            </a:r>
            <a:endParaRPr sz="229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99"/>
              <a:buFont typeface="Arial"/>
              <a:buNone/>
            </a:pPr>
            <a:r>
              <a:rPr lang="pt-BR" sz="2291">
                <a:latin typeface="Courier New"/>
                <a:ea typeface="Courier New"/>
                <a:cs typeface="Courier New"/>
                <a:sym typeface="Courier New"/>
              </a:rPr>
              <a:t>public void testName() {</a:t>
            </a:r>
            <a:endParaRPr sz="229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99"/>
              <a:buFont typeface="Arial"/>
              <a:buNone/>
            </a:pPr>
            <a:r>
              <a:t/>
            </a:r>
            <a:endParaRPr sz="229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99"/>
              <a:buFont typeface="Arial"/>
              <a:buNone/>
            </a:pPr>
            <a:r>
              <a:rPr lang="pt-BR" sz="2291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9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5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CONCLUSÃO</a:t>
            </a:r>
            <a:endParaRPr/>
          </a:p>
        </p:txBody>
      </p:sp>
      <p:sp>
        <p:nvSpPr>
          <p:cNvPr id="258" name="Google Shape;258;p16"/>
          <p:cNvSpPr txBox="1"/>
          <p:nvPr>
            <p:ph idx="1" type="body"/>
          </p:nvPr>
        </p:nvSpPr>
        <p:spPr>
          <a:xfrm>
            <a:off x="685801" y="2142067"/>
            <a:ext cx="10131425" cy="3916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180023" lvl="0" marL="28575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/>
              <a:t>📌 </a:t>
            </a:r>
            <a:r>
              <a:rPr b="1" lang="pt-BR"/>
              <a:t>Resumo da Aula: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/>
              <a:t>	✅ JUnit é essencial para garantir qualidade no desenvolvimento de software.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br>
              <a:rPr lang="pt-BR"/>
            </a:br>
            <a:r>
              <a:rPr lang="pt-BR"/>
              <a:t>	✅ Testes unitários devem ser rápidos e eficientes.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br>
              <a:rPr lang="pt-BR"/>
            </a:br>
            <a:r>
              <a:rPr lang="pt-BR"/>
              <a:t>	✅ O uso de exceções, testes parametrizados e lifecycle hooks melhora a cobertura dos testes.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br>
              <a:rPr lang="pt-BR"/>
            </a:br>
            <a:r>
              <a:rPr lang="pt-BR"/>
              <a:t>	✅ Métodos privados podem ser testados com reflection, se necessário.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/>
              <a:t>📌 </a:t>
            </a:r>
            <a:r>
              <a:rPr b="1" lang="pt-BR"/>
              <a:t>Pergunta para Reflexão:</a:t>
            </a:r>
            <a:r>
              <a:rPr lang="pt-BR"/>
              <a:t> ➡️ Como os testes automatizados podem melhorar a produtividade do seu time de desenvolvimento?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fc85dda9e_0_5"/>
          <p:cNvSpPr txBox="1"/>
          <p:nvPr>
            <p:ph type="title"/>
          </p:nvPr>
        </p:nvSpPr>
        <p:spPr>
          <a:xfrm>
            <a:off x="685801" y="609600"/>
            <a:ext cx="52197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pt-BR"/>
              <a:t>ATIVIDADE </a:t>
            </a:r>
            <a:endParaRPr/>
          </a:p>
        </p:txBody>
      </p:sp>
      <p:sp>
        <p:nvSpPr>
          <p:cNvPr id="264" name="Google Shape;264;g3dfc85dda9e_0_5"/>
          <p:cNvSpPr txBox="1"/>
          <p:nvPr>
            <p:ph idx="1" type="body"/>
          </p:nvPr>
        </p:nvSpPr>
        <p:spPr>
          <a:xfrm>
            <a:off x="685800" y="2142077"/>
            <a:ext cx="5219700" cy="45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pt-BR"/>
              <a:t>Atividade Prática – Criando Cenários com Java (calculadora)</a:t>
            </a:r>
            <a:endParaRPr b="1"/>
          </a:p>
          <a:p>
            <a:pPr indent="-334328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pt-BR"/>
              <a:t>Des</a:t>
            </a:r>
            <a:r>
              <a:rPr lang="pt-BR"/>
              <a:t>e</a:t>
            </a:r>
            <a:r>
              <a:rPr lang="pt-BR"/>
              <a:t>nvolva uma classe Calculadora em Java contendo os métodos: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/>
              <a:t>* Somar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/>
              <a:t>* Subtrair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/>
              <a:t>* Multiplicar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/>
              <a:t>* Dividir</a:t>
            </a:r>
            <a:endParaRPr/>
          </a:p>
          <a:p>
            <a:pPr indent="-334328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 startAt="2"/>
            </a:pPr>
            <a:r>
              <a:rPr lang="pt-BR"/>
              <a:t>Em seguida, crie uma classe de teste utilizando JUnit para validar o funcionamento de cada operação.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2"/>
            </a:pPr>
            <a:r>
              <a:rPr lang="pt-BR"/>
              <a:t>Utilize asserções (assertEquals, assertTrue, etc.) para verificar os resultados e implemente validações, incluindo testes para possíveis erros, como divisão por zero.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 startAt="2"/>
            </a:pPr>
            <a:r>
              <a:rPr lang="pt-BR"/>
              <a:t>Objetivo: praticar orientação a objetos, testes unitários, asserções e validações em Java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265" name="Google Shape;265;g3dfc85dda9e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6576" y="2354100"/>
            <a:ext cx="2409825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7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1" name="Google Shape;271;p17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Entenda o que é API para integração e como ela pode aumentar a  produtividade na sua instituição" id="272" name="Google Shape;2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5" y="0"/>
            <a:ext cx="1172404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O QUE SÃO TESTES DE API?</a:t>
            </a:r>
            <a:endParaRPr/>
          </a:p>
        </p:txBody>
      </p:sp>
      <p:sp>
        <p:nvSpPr>
          <p:cNvPr id="278" name="Google Shape;278;p18"/>
          <p:cNvSpPr txBox="1"/>
          <p:nvPr>
            <p:ph idx="1" type="body"/>
          </p:nvPr>
        </p:nvSpPr>
        <p:spPr>
          <a:xfrm>
            <a:off x="685801" y="1660358"/>
            <a:ext cx="11506199" cy="4588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 sz="2400"/>
              <a:t>✅ Testes de API validam se os endpoints de um sistema retornam as respostas esperadas.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br>
              <a:rPr lang="pt-BR" sz="2400"/>
            </a:br>
            <a:r>
              <a:rPr lang="pt-BR" sz="2400"/>
              <a:t>✅ Essenciais para garantir a integridade e funcionamento correto da comunicação entre serviços.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br>
              <a:rPr lang="pt-BR" sz="2400"/>
            </a:br>
            <a:r>
              <a:rPr lang="pt-BR" sz="2400"/>
              <a:t>✅ São mais rápidos e confiáveis do que testes de interface gráfica (UI).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pt-BR" sz="2400"/>
              <a:t>📌 </a:t>
            </a:r>
            <a:r>
              <a:rPr b="1" lang="pt-BR" sz="2400"/>
              <a:t>Tecnologias Utilizadas:</a:t>
            </a:r>
            <a:endParaRPr sz="2400"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pt-BR" sz="2000"/>
              <a:t>Java 20</a:t>
            </a:r>
            <a:r>
              <a:rPr lang="pt-BR" sz="2000"/>
              <a:t> – Linguagem de programação.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pt-BR" sz="2000"/>
              <a:t>JUnit 5</a:t>
            </a:r>
            <a:r>
              <a:rPr lang="pt-BR" sz="2000"/>
              <a:t> – Framework de testes unitários.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pt-BR" sz="2000"/>
              <a:t>RestAssured</a:t>
            </a:r>
            <a:r>
              <a:rPr lang="pt-BR" sz="2000"/>
              <a:t> – Biblioteca para automação de testes de API REST.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pt-BR" sz="2000"/>
              <a:t>Maven</a:t>
            </a:r>
            <a:r>
              <a:rPr lang="pt-BR" sz="2000"/>
              <a:t> – Gerenciador de dependências.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9"/>
          <p:cNvCxnSpPr/>
          <p:nvPr/>
        </p:nvCxnSpPr>
        <p:spPr>
          <a:xfrm>
            <a:off x="4666923" y="1668780"/>
            <a:ext cx="0" cy="352044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9"/>
          <p:cNvSpPr txBox="1"/>
          <p:nvPr>
            <p:ph idx="1" type="body"/>
          </p:nvPr>
        </p:nvSpPr>
        <p:spPr>
          <a:xfrm>
            <a:off x="4988658" y="1150076"/>
            <a:ext cx="6517543" cy="4557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1. O que é API e como funciona?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Application Programming Interface que, traduzida para o português, pode ser compreendida como uma interface de programação de aplicação.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2. Qual a função de uma API?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A função de uma API é, basicamente, facilitar e simplificar o trabalho de desenvolvedores, além de oferecer um padrão para a criação de novas plataformas.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3. Exemplos de API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https://api.whatsapp.com/send?1=pt_BR&amp;phone=+5583999999&amp;text=Esse+curso+é+muito+legal.+rsrsrsrs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1" name="Google Shape;291;p20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O que é uma API e para que ela serve ?" id="292" name="Google Shape;292;p20"/>
          <p:cNvPicPr preferRelativeResize="0"/>
          <p:nvPr/>
        </p:nvPicPr>
        <p:blipFill rotWithShape="1">
          <a:blip r:embed="rId3">
            <a:alphaModFix/>
          </a:blip>
          <a:srcRect b="11654" l="0" r="0" t="18346"/>
          <a:stretch/>
        </p:blipFill>
        <p:spPr>
          <a:xfrm>
            <a:off x="1918972" y="621901"/>
            <a:ext cx="8037625" cy="562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API Gateway Pattern. In this article, we are going to talk… | by Mehmet  Ozkaya | Design Microservices Architecture with Patterns &amp; Principles |  Medium" id="299" name="Google Shape;2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163" y="135675"/>
            <a:ext cx="10339676" cy="591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"/>
          <p:cNvSpPr txBox="1"/>
          <p:nvPr>
            <p:ph type="title"/>
          </p:nvPr>
        </p:nvSpPr>
        <p:spPr>
          <a:xfrm>
            <a:off x="825909" y="808055"/>
            <a:ext cx="3979205" cy="1453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VERBOS HTTP E SEUS USOS</a:t>
            </a:r>
            <a:endParaRPr/>
          </a:p>
        </p:txBody>
      </p:sp>
      <p:sp>
        <p:nvSpPr>
          <p:cNvPr id="305" name="Google Shape;305;p22"/>
          <p:cNvSpPr txBox="1"/>
          <p:nvPr>
            <p:ph idx="1" type="body"/>
          </p:nvPr>
        </p:nvSpPr>
        <p:spPr>
          <a:xfrm>
            <a:off x="421105" y="2261420"/>
            <a:ext cx="5161548" cy="441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pt-BR" sz="2000"/>
              <a:t>Os principais métodos de requisição HTTP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pt-BR" sz="2000"/>
              <a:t>✅ </a:t>
            </a:r>
            <a:r>
              <a:rPr b="1" lang="pt-BR" sz="2000"/>
              <a:t>GET</a:t>
            </a:r>
            <a:r>
              <a:rPr lang="pt-BR" sz="2000"/>
              <a:t> – Recupera informações do servidor.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br>
              <a:rPr lang="pt-BR" sz="2000"/>
            </a:br>
            <a:r>
              <a:rPr lang="pt-BR" sz="2000"/>
              <a:t>✅ </a:t>
            </a:r>
            <a:r>
              <a:rPr b="1" lang="pt-BR" sz="2000"/>
              <a:t>POST</a:t>
            </a:r>
            <a:r>
              <a:rPr lang="pt-BR" sz="2000"/>
              <a:t> – Envia dados para criar um novo recurso.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br>
              <a:rPr lang="pt-BR" sz="2000"/>
            </a:br>
            <a:r>
              <a:rPr lang="pt-BR" sz="2000"/>
              <a:t>✅ </a:t>
            </a:r>
            <a:r>
              <a:rPr b="1" lang="pt-BR" sz="2000"/>
              <a:t>PUT</a:t>
            </a:r>
            <a:r>
              <a:rPr lang="pt-BR" sz="2000"/>
              <a:t> – Atualiza completamente um recurso existente.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br>
              <a:rPr lang="pt-BR" sz="2000"/>
            </a:br>
            <a:r>
              <a:rPr lang="pt-BR" sz="2000"/>
              <a:t>✅ </a:t>
            </a:r>
            <a:r>
              <a:rPr b="1" lang="pt-BR" sz="2000"/>
              <a:t>PATCH</a:t>
            </a:r>
            <a:r>
              <a:rPr lang="pt-BR" sz="2000"/>
              <a:t> – Atualiza parcialmente um recurso existente.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br>
              <a:rPr lang="pt-BR" sz="2000"/>
            </a:br>
            <a:r>
              <a:rPr lang="pt-BR" sz="2000"/>
              <a:t>✅ </a:t>
            </a:r>
            <a:r>
              <a:rPr b="1" lang="pt-BR" sz="2000"/>
              <a:t>DELETE</a:t>
            </a:r>
            <a:r>
              <a:rPr lang="pt-BR" sz="2000"/>
              <a:t> – Remove um recurso.</a:t>
            </a:r>
            <a:endParaRPr/>
          </a:p>
        </p:txBody>
      </p:sp>
      <p:pic>
        <p:nvPicPr>
          <p:cNvPr descr="Texto&#10;&#10;O conteúdo gerado por IA pode estar incorreto." id="306" name="Google Shape;3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9436" y="1846417"/>
            <a:ext cx="6095593" cy="3794505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 txBox="1"/>
          <p:nvPr>
            <p:ph type="title"/>
          </p:nvPr>
        </p:nvSpPr>
        <p:spPr>
          <a:xfrm>
            <a:off x="856060" y="463889"/>
            <a:ext cx="7429500" cy="1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pt-BR"/>
              <a:t>REST - VERBOS</a:t>
            </a:r>
            <a:endParaRPr/>
          </a:p>
        </p:txBody>
      </p:sp>
      <p:sp>
        <p:nvSpPr>
          <p:cNvPr descr="REST Assured" id="312" name="Google Shape;312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13" name="Google Shape;313;p23"/>
          <p:cNvGraphicFramePr/>
          <p:nvPr/>
        </p:nvGraphicFramePr>
        <p:xfrm>
          <a:off x="2295453" y="11413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{3EED24F8-E680-4E3D-818D-9C8FE9ECD911}</a:tableStyleId>
              </a:tblPr>
              <a:tblGrid>
                <a:gridCol w="2245175"/>
                <a:gridCol w="6395275"/>
              </a:tblGrid>
              <a:tr h="65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pt-BR" sz="1900" u="none" cap="none" strike="noStrike"/>
                        <a:t>GET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Obter os dados de um recurso.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65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pt-BR" sz="1900" u="none" cap="none" strike="noStrike"/>
                        <a:t>POST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Criar um novo recurso.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65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pt-BR" sz="1900" u="none" cap="none" strike="noStrike"/>
                        <a:t>PUT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Substituir os dados de um determinado recurso.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65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pt-BR" sz="1900" u="none" cap="none" strike="noStrike"/>
                        <a:t>PATCH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Atualizar parcialmente um determinado recurso.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65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pt-BR" sz="1900" u="none" cap="none" strike="noStrike"/>
                        <a:t>DELETE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Excluir um determinado recurso.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65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pt-BR" sz="1900" u="none" cap="none" strike="noStrike"/>
                        <a:t>HEAD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Similar ao GET, mas utilizado apenas para se obter os cabeçalhos de resposta, sem os dados em si.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65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pt-BR" sz="1900" u="none" cap="none" strike="noStrike"/>
                        <a:t>OPTIONS</a:t>
                      </a:r>
                      <a:endParaRPr sz="15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i="0" lang="pt-BR" sz="19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Retorna os métodos HTTP que o servidor suporta para a URL especificada.</a:t>
                      </a:r>
                      <a:endParaRPr sz="1600" u="none" cap="none" strike="noStrike"/>
                    </a:p>
                  </a:txBody>
                  <a:tcPr marT="4675" marB="4675" marR="9325" marL="932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 txBox="1"/>
          <p:nvPr>
            <p:ph type="title"/>
          </p:nvPr>
        </p:nvSpPr>
        <p:spPr>
          <a:xfrm>
            <a:off x="856060" y="463889"/>
            <a:ext cx="7429500" cy="1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pt-BR"/>
              <a:t>REST – EXEMPLOS</a:t>
            </a:r>
            <a:endParaRPr/>
          </a:p>
        </p:txBody>
      </p:sp>
      <p:sp>
        <p:nvSpPr>
          <p:cNvPr descr="REST Assured" id="319" name="Google Shape;319;p2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20" name="Google Shape;320;p24"/>
          <p:cNvGraphicFramePr/>
          <p:nvPr/>
        </p:nvGraphicFramePr>
        <p:xfrm>
          <a:off x="2279374" y="20143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{3EED24F8-E680-4E3D-818D-9C8FE9ECD911}</a:tableStyleId>
              </a:tblPr>
              <a:tblGrid>
                <a:gridCol w="1489775"/>
                <a:gridCol w="1776275"/>
                <a:gridCol w="4698525"/>
              </a:tblGrid>
              <a:tr h="64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/>
                        <a:t>Método</a:t>
                      </a:r>
                      <a:endParaRPr sz="16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/>
                        <a:t>URI</a:t>
                      </a:r>
                      <a:endParaRPr sz="16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/>
                        <a:t>Utilização</a:t>
                      </a:r>
                      <a:endParaRPr sz="16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64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GET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/clientes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Recuperar os dados de todos os clientes.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64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GET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/clientes/id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Recuperar os dados de um determinado cliente.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64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POST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/clientes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Criar um novo cliente.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64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PUT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/clientes/id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Atualizar os dados de um determinado cliente.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64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DELETE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/clientes/id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Excluir um determinado cliente.</a:t>
                      </a:r>
                      <a:endParaRPr sz="1500" u="none" cap="none" strike="noStrike"/>
                    </a:p>
                  </a:txBody>
                  <a:tcPr marT="7100" marB="7100" marR="14200" marL="14200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 txBox="1"/>
          <p:nvPr>
            <p:ph type="title"/>
          </p:nvPr>
        </p:nvSpPr>
        <p:spPr>
          <a:xfrm>
            <a:off x="685801" y="533400"/>
            <a:ext cx="10820400" cy="1177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pt-BR" sz="4400"/>
              <a:t>STATUS CODES HTTP</a:t>
            </a:r>
            <a:endParaRPr/>
          </a:p>
        </p:txBody>
      </p:sp>
      <p:cxnSp>
        <p:nvCxnSpPr>
          <p:cNvPr id="327" name="Google Shape;327;p25"/>
          <p:cNvCxnSpPr/>
          <p:nvPr/>
        </p:nvCxnSpPr>
        <p:spPr>
          <a:xfrm>
            <a:off x="5845629" y="1850077"/>
            <a:ext cx="50074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25"/>
          <p:cNvSpPr txBox="1"/>
          <p:nvPr>
            <p:ph idx="1" type="body"/>
          </p:nvPr>
        </p:nvSpPr>
        <p:spPr>
          <a:xfrm>
            <a:off x="685801" y="1989663"/>
            <a:ext cx="10820400" cy="486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400"/>
              <a:t>✅ </a:t>
            </a:r>
            <a:r>
              <a:rPr b="1" lang="pt-BR" sz="2400"/>
              <a:t>1xx (Informativo)</a:t>
            </a:r>
            <a:r>
              <a:rPr lang="pt-BR" sz="2400"/>
              <a:t> – Indica que a solicitação foi recebida e está sendo processada.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br>
              <a:rPr lang="pt-BR" sz="2400"/>
            </a:br>
            <a:r>
              <a:rPr lang="pt-BR" sz="2400"/>
              <a:t>✅ </a:t>
            </a:r>
            <a:r>
              <a:rPr b="1" lang="pt-BR" sz="2400"/>
              <a:t>2xx (Sucesso)</a:t>
            </a:r>
            <a:r>
              <a:rPr lang="pt-BR" sz="2400"/>
              <a:t> – Indica que a requisição foi processada com sucesso.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/>
              <a:t>200 OK</a:t>
            </a:r>
            <a:r>
              <a:rPr lang="pt-BR" sz="2000"/>
              <a:t> – Sucesso na solicitação.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/>
              <a:t>201 Created</a:t>
            </a:r>
            <a:r>
              <a:rPr lang="pt-BR" sz="2000"/>
              <a:t> – Recurso criado com sucesso.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pt-BR" sz="2200"/>
              <a:t>✅ </a:t>
            </a:r>
            <a:r>
              <a:rPr b="1" lang="pt-BR" sz="2200"/>
              <a:t>3xx (Redirecionamento)</a:t>
            </a:r>
            <a:r>
              <a:rPr lang="pt-BR" sz="2200"/>
              <a:t> – Indica que é necessário mais ação para completar a requisição.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pt-BR" sz="2200"/>
              <a:t>✅ </a:t>
            </a:r>
            <a:r>
              <a:rPr b="1" lang="pt-BR" sz="2200"/>
              <a:t>4xx (Erro do Cliente)</a:t>
            </a:r>
            <a:r>
              <a:rPr lang="pt-BR" sz="2200"/>
              <a:t> – Indica que houve erro na solicitação feita pelo cliente.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/>
              <a:t>400 Bad Request</a:t>
            </a:r>
            <a:r>
              <a:rPr lang="pt-BR" sz="2000"/>
              <a:t> – Requisição inválida.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/>
              <a:t>401 Unauthorized</a:t>
            </a:r>
            <a:r>
              <a:rPr lang="pt-BR" sz="2000"/>
              <a:t> – Usuário não autenticado.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/>
              <a:t>404 Not Found</a:t>
            </a:r>
            <a:r>
              <a:rPr lang="pt-BR" sz="2000"/>
              <a:t> – Recurso não encontrado.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pt-BR" sz="2200"/>
              <a:t>✅ </a:t>
            </a:r>
            <a:r>
              <a:rPr b="1" lang="pt-BR" sz="2200"/>
              <a:t>5xx (Erro do Servidor)</a:t>
            </a:r>
            <a:r>
              <a:rPr lang="pt-BR" sz="2200"/>
              <a:t> – Indica que o erro ocorreu no lado do servidor.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pt-BR" sz="2000"/>
              <a:t>500 Internal Server Error</a:t>
            </a:r>
            <a:r>
              <a:rPr lang="pt-BR" sz="2000"/>
              <a:t> – Erro inesperado no servidor.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ST Assured" id="333" name="Google Shape;333;p2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34" name="Google Shape;334;p26"/>
          <p:cNvGraphicFramePr/>
          <p:nvPr/>
        </p:nvGraphicFramePr>
        <p:xfrm>
          <a:off x="1530627" y="135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{3EED24F8-E680-4E3D-818D-9C8FE9ECD911}</a:tableStyleId>
              </a:tblPr>
              <a:tblGrid>
                <a:gridCol w="1013400"/>
                <a:gridCol w="1836775"/>
                <a:gridCol w="7579275"/>
              </a:tblGrid>
              <a:tr h="27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/>
                        <a:t>Código</a:t>
                      </a:r>
                      <a:endParaRPr sz="16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/>
                        <a:t>Descrição</a:t>
                      </a:r>
                      <a:endParaRPr sz="16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/>
                        <a:t>Quando utilizar</a:t>
                      </a:r>
                      <a:endParaRPr sz="16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26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200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OK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GET, PUT e DELETE executadas com sucesso.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44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201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Created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POST, quando um novo recurso é criado com sucesso.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52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206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Partial Content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GET que devolvem apenas uma parte do conteúdo de um recurso.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26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302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Found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feitas à URI’s antigas, que foram alteradas.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44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400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Bad Request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cujas informações enviadas pelo cliente sejam invalidas.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52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401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Unauthorized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que exigem autenticação, mas seus dados não foram fornecidos.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52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403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Forbidden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que o cliente não tem permissão de acesso ao recurso solicitado.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26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404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Not Found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cuja URI de um determinado recurso seja inválida.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52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405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Method Not Allowed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cujo método HTTP indicado pelo cliente não seja suportado.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52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406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Not Acceptable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cujo formato da representação do recurso requisitado pelo cliente não seja suportado.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52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415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Unsupported Media Type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cujo formato da representação do recurso enviado pelo cliente não seja suportado.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52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429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Too Many Requests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No caso do serviço ter um limite de requisições que pode ser feita por um cliente, e ele já tiver sido atingido.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  <a:tr h="52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500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Internal Server Error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onde um erro tenha ocorrido no servidor.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DEDDD9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0"/>
                    </a:solidFill>
                  </a:tcPr>
                </a:tc>
              </a:tr>
              <a:tr h="52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503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Service Unavailable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/>
                        <a:t>Em requisições feitas a um serviço que está fora do ar, para manutenção ou sobrecarga.</a:t>
                      </a:r>
                      <a:endParaRPr sz="1500" u="none" cap="none" strike="noStrike"/>
                    </a:p>
                  </a:txBody>
                  <a:tcPr marT="2875" marB="2875" marR="5775" marL="5775">
                    <a:lnL cap="flat" cmpd="sng" w="9525">
                      <a:solidFill>
                        <a:srgbClr val="EAEAEA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AEA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 txBox="1"/>
          <p:nvPr>
            <p:ph type="title"/>
          </p:nvPr>
        </p:nvSpPr>
        <p:spPr>
          <a:xfrm>
            <a:off x="856060" y="463889"/>
            <a:ext cx="7429500" cy="1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340" name="Google Shape;340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4603" y="2119588"/>
            <a:ext cx="9522900" cy="26187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ST Assured" id="341" name="Google Shape;341;p2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INTRODUÇÃO AO RESTASSURED</a:t>
            </a:r>
            <a:endParaRPr/>
          </a:p>
        </p:txBody>
      </p:sp>
      <p:sp>
        <p:nvSpPr>
          <p:cNvPr id="347" name="Google Shape;347;p28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rPr lang="pt-BR"/>
              <a:t>Rest-Assured é uma ferramenta que foi desenvolvida para </a:t>
            </a:r>
            <a:r>
              <a:rPr b="1" lang="pt-BR"/>
              <a:t>facilitar</a:t>
            </a:r>
            <a:r>
              <a:rPr lang="pt-BR"/>
              <a:t> a criação de </a:t>
            </a:r>
            <a:r>
              <a:rPr b="1" lang="pt-BR"/>
              <a:t>testes</a:t>
            </a:r>
            <a:r>
              <a:rPr lang="pt-BR"/>
              <a:t> automatizados para </a:t>
            </a:r>
            <a:r>
              <a:rPr b="1" lang="pt-BR"/>
              <a:t>APIs</a:t>
            </a:r>
            <a:r>
              <a:rPr lang="pt-BR"/>
              <a:t> </a:t>
            </a:r>
            <a:r>
              <a:rPr b="1" lang="pt-BR"/>
              <a:t>REST</a:t>
            </a:r>
            <a:r>
              <a:rPr lang="pt-BR"/>
              <a:t>. Esta oferece suporte para validar protocolo </a:t>
            </a:r>
            <a:r>
              <a:rPr b="1" lang="pt-BR"/>
              <a:t>HTTP</a:t>
            </a:r>
            <a:r>
              <a:rPr lang="pt-BR"/>
              <a:t> e requisições em </a:t>
            </a:r>
            <a:r>
              <a:rPr b="1" lang="pt-BR"/>
              <a:t>JSON</a:t>
            </a:r>
            <a:r>
              <a:rPr lang="pt-BR"/>
              <a:t>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rPr lang="pt-BR"/>
              <a:t>O Rest Assured oferece também extensas opções de </a:t>
            </a:r>
            <a:r>
              <a:rPr b="1" lang="pt-BR"/>
              <a:t>validações</a:t>
            </a:r>
            <a:r>
              <a:rPr lang="pt-BR"/>
              <a:t> das requisições que são enviadas nos serviços REST, tais como: </a:t>
            </a:r>
            <a:r>
              <a:rPr b="1" lang="pt-BR"/>
              <a:t>Status Code, Headers e também elementos do Body</a:t>
            </a:r>
            <a:r>
              <a:rPr lang="pt-BR"/>
              <a:t>. Tornando a ferramenta extremamente flexível para utilizar na criação de testes automatizados de API.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rPr lang="pt-BR"/>
              <a:t>Agora que temos uma pequena base do que é e para que serve o Rest Assured, podemos começar a explorar coisas mais práticas com esta ferramenta.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61"/>
              <a:buNone/>
            </a:pPr>
            <a:r>
              <a:t/>
            </a:r>
            <a:endParaRPr/>
          </a:p>
        </p:txBody>
      </p:sp>
      <p:pic>
        <p:nvPicPr>
          <p:cNvPr id="348" name="Google Shape;348;p28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7013" y="468313"/>
            <a:ext cx="4344987" cy="119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pt-BR"/>
              <a:t>INTRODUÇÃO AO RESTASSURED</a:t>
            </a:r>
            <a:endParaRPr/>
          </a:p>
        </p:txBody>
      </p:sp>
      <p:sp>
        <p:nvSpPr>
          <p:cNvPr id="354" name="Google Shape;354;p29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400"/>
              <a:t>✅ Biblioteca Java para automação de testes de APIs REST.</a:t>
            </a:r>
            <a:br>
              <a:rPr lang="pt-BR" sz="2400"/>
            </a:br>
            <a:r>
              <a:rPr lang="pt-BR" sz="2400"/>
              <a:t>✅ Simplifica a escrita e execução de testes HTTP, integrando-se ao JUnit.</a:t>
            </a:r>
            <a:br>
              <a:rPr lang="pt-BR" sz="2400"/>
            </a:br>
            <a:r>
              <a:rPr lang="pt-BR" sz="2400"/>
              <a:t>✅ Permite validações avançadas de respostas de API usando matchers e expressões fluentes.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pt-BR" sz="2400"/>
              <a:t>📌 </a:t>
            </a:r>
            <a:r>
              <a:rPr b="1" lang="pt-BR" sz="2400"/>
              <a:t>Principais Recursos do RestAssured:</a:t>
            </a:r>
            <a:endParaRPr sz="2400"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 sz="2000"/>
              <a:t>Suporte nativo para métodos HTTP (GET, POST, PUT, DELETE, PATCH).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 sz="2000"/>
              <a:t>Validações de resposta simplificadas.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 sz="2000"/>
              <a:t>Suporte para autenticação e manipulação de cabeçalhos.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 sz="2000"/>
              <a:t>Integração fácil com JUnit e CI/CD.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pt-BR"/>
              <a:t>REST VS SOAP</a:t>
            </a:r>
            <a:endParaRPr/>
          </a:p>
        </p:txBody>
      </p:sp>
      <p:sp>
        <p:nvSpPr>
          <p:cNvPr id="360" name="Google Shape;360;p30"/>
          <p:cNvSpPr txBox="1"/>
          <p:nvPr>
            <p:ph idx="1" type="body"/>
          </p:nvPr>
        </p:nvSpPr>
        <p:spPr>
          <a:xfrm>
            <a:off x="415600" y="1562233"/>
            <a:ext cx="53331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545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pt-BR"/>
              <a:t>REST é outro um protocolo de comunicação, baseado no protocolo HTTP. Porém ele não impõe restrições ao formato da mensagem, apenas no comportamento dos componentes envolvidos.</a:t>
            </a:r>
            <a:endParaRPr/>
          </a:p>
          <a:p>
            <a:pPr indent="-42545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pt-BR"/>
              <a:t>A maior vantagem do protocolo REST é sua flexibilidade.</a:t>
            </a:r>
            <a:endParaRPr/>
          </a:p>
          <a:p>
            <a:pPr indent="-42545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pt-BR"/>
              <a:t>Os formatos mais comuns são JSON, XML e texto puro, mas em teoria qualquer formato pode ser usado.</a:t>
            </a:r>
            <a:endParaRPr/>
          </a:p>
          <a:p>
            <a:pPr indent="-42545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pt-BR"/>
              <a:t>Isso nos leva a outra vantagem: quase sempre Web Services que usam REST são mais "leves" e, portanto, mais rápidos.</a:t>
            </a:r>
            <a:endParaRPr/>
          </a:p>
        </p:txBody>
      </p:sp>
      <p:sp>
        <p:nvSpPr>
          <p:cNvPr id="361" name="Google Shape;361;p30"/>
          <p:cNvSpPr txBox="1"/>
          <p:nvPr>
            <p:ph idx="2" type="body"/>
          </p:nvPr>
        </p:nvSpPr>
        <p:spPr>
          <a:xfrm>
            <a:off x="6443200" y="1562233"/>
            <a:ext cx="53331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25450" lvl="0" marL="609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pt-BR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SOAP</a:t>
            </a:r>
            <a:r>
              <a:rPr lang="pt-BR">
                <a:latin typeface="Arial"/>
                <a:ea typeface="Arial"/>
                <a:cs typeface="Arial"/>
                <a:sym typeface="Arial"/>
              </a:rPr>
              <a:t> é um protocolo de transferência de mensagens em formato XML para uso em ambientes distribuídos.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25450" lvl="0" marL="609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Aplicando este padrão em Web Services, geralmente usa-se o WSDL para descrever a estrutura das mensagens SOAP e as ações possíveis em um endpoint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25450" lvl="0" marL="609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O problema desse padrão, é que ele adiciona um overhead considerável, tanto por ser em XML quanto por adicionar muitas tags de meta-informação. Além disso, a serialização e desserialização das mensagens pode consumir um tempo considerável.</a:t>
            </a:r>
            <a:endParaRPr/>
          </a:p>
        </p:txBody>
      </p:sp>
      <p:sp>
        <p:nvSpPr>
          <p:cNvPr descr="REST Assured" id="362" name="Google Shape;362;p30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63" name="Google Shape;363;p30"/>
          <p:cNvCxnSpPr/>
          <p:nvPr/>
        </p:nvCxnSpPr>
        <p:spPr>
          <a:xfrm>
            <a:off x="6187167" y="1587433"/>
            <a:ext cx="0" cy="4479300"/>
          </a:xfrm>
          <a:prstGeom prst="straightConnector1">
            <a:avLst/>
          </a:prstGeom>
          <a:noFill/>
          <a:ln cap="rnd" cmpd="sng" w="9525">
            <a:solidFill>
              <a:srgbClr val="9D2D0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 txBox="1"/>
          <p:nvPr>
            <p:ph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9" name="Google Shape;369;p31"/>
          <p:cNvSpPr txBox="1"/>
          <p:nvPr>
            <p:ph idx="1" type="body"/>
          </p:nvPr>
        </p:nvSpPr>
        <p:spPr>
          <a:xfrm>
            <a:off x="415600" y="1562233"/>
            <a:ext cx="53331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  <p:sp>
        <p:nvSpPr>
          <p:cNvPr id="370" name="Google Shape;370;p31"/>
          <p:cNvSpPr txBox="1"/>
          <p:nvPr>
            <p:ph idx="2" type="body"/>
          </p:nvPr>
        </p:nvSpPr>
        <p:spPr>
          <a:xfrm>
            <a:off x="6443200" y="1562233"/>
            <a:ext cx="5333100" cy="4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  <p:pic>
        <p:nvPicPr>
          <p:cNvPr id="371" name="Google Shape;3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9275" y="704850"/>
            <a:ext cx="8553450" cy="54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1"/>
          <p:cNvSpPr/>
          <p:nvPr/>
        </p:nvSpPr>
        <p:spPr>
          <a:xfrm>
            <a:off x="3632800" y="3340400"/>
            <a:ext cx="5803500" cy="2064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"/>
          <p:cNvSpPr txBox="1"/>
          <p:nvPr>
            <p:ph type="title"/>
          </p:nvPr>
        </p:nvSpPr>
        <p:spPr>
          <a:xfrm>
            <a:off x="846510" y="148239"/>
            <a:ext cx="7429500" cy="1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pt-BR"/>
              <a:t>REST </a:t>
            </a:r>
            <a:endParaRPr/>
          </a:p>
        </p:txBody>
      </p:sp>
      <p:sp>
        <p:nvSpPr>
          <p:cNvPr descr="REST Assured" id="378" name="Google Shape;378;p3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1878000" y="1737850"/>
            <a:ext cx="6447000" cy="68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1768800" y="1737850"/>
            <a:ext cx="8406000" cy="90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14696"/>
            <a:ext cx="12192000" cy="566945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/>
          <p:nvPr/>
        </p:nvSpPr>
        <p:spPr>
          <a:xfrm>
            <a:off x="114775" y="1004300"/>
            <a:ext cx="11984700" cy="6408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7088275" y="4705250"/>
            <a:ext cx="5011200" cy="6408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3"/>
          <p:cNvSpPr txBox="1"/>
          <p:nvPr>
            <p:ph type="title"/>
          </p:nvPr>
        </p:nvSpPr>
        <p:spPr>
          <a:xfrm>
            <a:off x="1117600" y="486833"/>
            <a:ext cx="140208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ESCRITA DO TESTE</a:t>
            </a:r>
            <a:endParaRPr/>
          </a:p>
        </p:txBody>
      </p:sp>
      <p:pic>
        <p:nvPicPr>
          <p:cNvPr id="389" name="Google Shape;3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341122"/>
            <a:ext cx="88646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3"/>
          <p:cNvSpPr txBox="1"/>
          <p:nvPr/>
        </p:nvSpPr>
        <p:spPr>
          <a:xfrm>
            <a:off x="193900" y="3143267"/>
            <a:ext cx="171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Pré-condição do request</a:t>
            </a:r>
            <a:endParaRPr b="0" i="0" sz="19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391" name="Google Shape;391;p33"/>
          <p:cNvCxnSpPr>
            <a:stCxn id="390" idx="3"/>
          </p:cNvCxnSpPr>
          <p:nvPr/>
        </p:nvCxnSpPr>
        <p:spPr>
          <a:xfrm>
            <a:off x="1910200" y="3558767"/>
            <a:ext cx="1592100" cy="508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"/>
          <p:cNvSpPr txBox="1"/>
          <p:nvPr>
            <p:ph type="title"/>
          </p:nvPr>
        </p:nvSpPr>
        <p:spPr>
          <a:xfrm>
            <a:off x="1117600" y="486833"/>
            <a:ext cx="140208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ESCRITA DO TESTE</a:t>
            </a:r>
            <a:endParaRPr/>
          </a:p>
        </p:txBody>
      </p:sp>
      <p:pic>
        <p:nvPicPr>
          <p:cNvPr id="397" name="Google Shape;39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6000" y="2174867"/>
            <a:ext cx="88646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4"/>
          <p:cNvSpPr txBox="1"/>
          <p:nvPr/>
        </p:nvSpPr>
        <p:spPr>
          <a:xfrm>
            <a:off x="193900" y="3143267"/>
            <a:ext cx="171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Ação do Request</a:t>
            </a:r>
            <a:endParaRPr b="0" i="0" sz="19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399" name="Google Shape;399;p34"/>
          <p:cNvCxnSpPr>
            <a:stCxn id="398" idx="3"/>
          </p:cNvCxnSpPr>
          <p:nvPr/>
        </p:nvCxnSpPr>
        <p:spPr>
          <a:xfrm>
            <a:off x="1910200" y="3558767"/>
            <a:ext cx="1638900" cy="119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/>
          <p:nvPr>
            <p:ph type="title"/>
          </p:nvPr>
        </p:nvSpPr>
        <p:spPr>
          <a:xfrm>
            <a:off x="1117600" y="486833"/>
            <a:ext cx="140208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ESCRITA DO TESTE</a:t>
            </a:r>
            <a:endParaRPr/>
          </a:p>
        </p:txBody>
      </p:sp>
      <p:sp>
        <p:nvSpPr>
          <p:cNvPr id="405" name="Google Shape;405;p35"/>
          <p:cNvSpPr txBox="1"/>
          <p:nvPr>
            <p:ph idx="1" type="body"/>
          </p:nvPr>
        </p:nvSpPr>
        <p:spPr>
          <a:xfrm>
            <a:off x="1117600" y="2434167"/>
            <a:ext cx="14020800" cy="58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06" name="Google Shape;40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6000" y="2174867"/>
            <a:ext cx="8864600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5"/>
          <p:cNvSpPr txBox="1"/>
          <p:nvPr/>
        </p:nvSpPr>
        <p:spPr>
          <a:xfrm>
            <a:off x="193900" y="3143267"/>
            <a:ext cx="17163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asserção do resultado do boby</a:t>
            </a:r>
            <a:endParaRPr b="0" i="0" sz="1900" u="none" cap="none" strike="noStrike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408" name="Google Shape;408;p35"/>
          <p:cNvCxnSpPr>
            <a:stCxn id="407" idx="3"/>
          </p:cNvCxnSpPr>
          <p:nvPr/>
        </p:nvCxnSpPr>
        <p:spPr>
          <a:xfrm>
            <a:off x="1910200" y="3705017"/>
            <a:ext cx="1847700" cy="1717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4" name="Google Shape;414;p36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rPr lang="pt-BR"/>
              <a:t>Como podemos notar, utiliza a sintaxe da linguagem GHERKIN (Given, When, Then), amplamente utilizada em práticas como BDD. Essa sintaxe é utilizada para dividir o código em seções para demonstrar seu comportamento. Abaixo explico resumidamente cada uma delas: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rPr b="1" lang="pt-BR"/>
              <a:t>Given: </a:t>
            </a:r>
            <a:r>
              <a:rPr lang="pt-BR"/>
              <a:t>Define o contexto da aplicação, como por exemplo destacar quais headers, parâmetros, portas e tokens que a aplicação deve ter para ser inicializada.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rPr b="1" lang="pt-BR"/>
              <a:t>When: </a:t>
            </a:r>
            <a:r>
              <a:rPr lang="pt-BR"/>
              <a:t>Este trecho identifica a proposta de seu cenário. “Quando” você insere um dado algo deve acontecer.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rPr b="1" lang="pt-BR"/>
              <a:t>Method: </a:t>
            </a:r>
            <a:r>
              <a:rPr lang="pt-BR"/>
              <a:t>Este campo logo após o “when” define o método que será executado na aplicação, podendo ser um POST, PATCH, GET e entre outros.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7"/>
              <a:buFont typeface="Arial"/>
              <a:buNone/>
            </a:pPr>
            <a:r>
              <a:rPr b="1" lang="pt-BR"/>
              <a:t>Then:</a:t>
            </a:r>
            <a:r>
              <a:rPr lang="pt-BR"/>
              <a:t> Será o resultado a ser exibido. Nele você pode validar qual foi a resposta da aplicação.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93"/>
              <a:buNone/>
            </a:pPr>
            <a:r>
              <a:t/>
            </a:r>
            <a:endParaRPr/>
          </a:p>
        </p:txBody>
      </p:sp>
      <p:pic>
        <p:nvPicPr>
          <p:cNvPr id="415" name="Google Shape;415;p36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5125"/>
            <a:ext cx="4344988" cy="1195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7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1" name="Google Shape;421;p37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22" name="Google Shape;42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" y="1066800"/>
            <a:ext cx="962025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8"/>
          <p:cNvSpPr txBox="1"/>
          <p:nvPr>
            <p:ph type="title"/>
          </p:nvPr>
        </p:nvSpPr>
        <p:spPr>
          <a:xfrm>
            <a:off x="1117600" y="486833"/>
            <a:ext cx="140208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TESTE DE CONTRATO</a:t>
            </a:r>
            <a:endParaRPr/>
          </a:p>
        </p:txBody>
      </p:sp>
      <p:sp>
        <p:nvSpPr>
          <p:cNvPr id="428" name="Google Shape;428;p38"/>
          <p:cNvSpPr txBox="1"/>
          <p:nvPr>
            <p:ph idx="1" type="body"/>
          </p:nvPr>
        </p:nvSpPr>
        <p:spPr>
          <a:xfrm>
            <a:off x="1117600" y="2434167"/>
            <a:ext cx="14020800" cy="58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429" name="Google Shape;42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6067" y="2202867"/>
            <a:ext cx="3976667" cy="3976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300" y="708850"/>
            <a:ext cx="8915400" cy="60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0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pt-BR"/>
              <a:t>TESTE DE CONTRATO</a:t>
            </a:r>
            <a:endParaRPr/>
          </a:p>
        </p:txBody>
      </p:sp>
      <p:sp>
        <p:nvSpPr>
          <p:cNvPr id="440" name="Google Shape;440;p40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Tem como objetivo garantir que o conteúdo fornecido não tenha sido modificado, podemos dizer que tem a finalidade de validar se o contrato acordado foi ou não quebrado; deve validar se o schema permanece o mesmo garantindo assim a integridade dos dados na comunicação entre client/server;</a:t>
            </a:r>
            <a:endParaRPr/>
          </a:p>
          <a:p>
            <a:pPr indent="-4191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possível validar se os dados continuam do mesmo tipo, como os valores limites, a restrição de valores recebidos, se a estrutura foi ou não modificada, etc.</a:t>
            </a:r>
            <a:endParaRPr/>
          </a:p>
          <a:p>
            <a:pPr indent="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1"/>
          <p:cNvSpPr txBox="1"/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6" name="Google Shape;446;p41"/>
          <p:cNvSpPr txBox="1"/>
          <p:nvPr>
            <p:ph idx="1" type="body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47" name="Google Shape;447;p41"/>
          <p:cNvSpPr txBox="1"/>
          <p:nvPr>
            <p:ph idx="4294967295" type="body"/>
          </p:nvPr>
        </p:nvSpPr>
        <p:spPr>
          <a:xfrm>
            <a:off x="1676400" y="1709738"/>
            <a:ext cx="10515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pt-BR" sz="3100"/>
              <a:t>https://gitlab.com/thiagoovcf/minhalojinhaqa</a:t>
            </a:r>
            <a:endParaRPr sz="3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2"/>
          <p:cNvSpPr txBox="1"/>
          <p:nvPr>
            <p:ph type="title"/>
          </p:nvPr>
        </p:nvSpPr>
        <p:spPr>
          <a:xfrm>
            <a:off x="554133" y="791156"/>
            <a:ext cx="151476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453" name="Google Shape;453;p42"/>
          <p:cNvSpPr txBox="1"/>
          <p:nvPr>
            <p:ph idx="1" type="body"/>
          </p:nvPr>
        </p:nvSpPr>
        <p:spPr>
          <a:xfrm>
            <a:off x="554133" y="2082844"/>
            <a:ext cx="15147600" cy="6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pt-BR" sz="1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https://json-schema.org/draft-06/json-schema-release-notes.html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pt-BR" sz="1900">
                <a:latin typeface="Arial"/>
                <a:ea typeface="Arial"/>
                <a:cs typeface="Arial"/>
                <a:sym typeface="Arial"/>
              </a:rPr>
              <a:t>https://jsonformatter.org/json-to-jsonschema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" name="Google Shape;454;p42"/>
          <p:cNvPicPr preferRelativeResize="0"/>
          <p:nvPr/>
        </p:nvPicPr>
        <p:blipFill rotWithShape="1">
          <a:blip r:embed="rId4">
            <a:alphaModFix/>
          </a:blip>
          <a:srcRect b="13240" l="6593" r="35616" t="13239"/>
          <a:stretch/>
        </p:blipFill>
        <p:spPr>
          <a:xfrm>
            <a:off x="415600" y="3172058"/>
            <a:ext cx="7045901" cy="24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7125" y="1511625"/>
            <a:ext cx="4104866" cy="5346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3"/>
          <p:cNvSpPr txBox="1"/>
          <p:nvPr>
            <p:ph type="title"/>
          </p:nvPr>
        </p:nvSpPr>
        <p:spPr>
          <a:xfrm>
            <a:off x="554133" y="791156"/>
            <a:ext cx="151476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pt-BR"/>
              <a:t>DESAFIO</a:t>
            </a:r>
            <a:endParaRPr/>
          </a:p>
        </p:txBody>
      </p:sp>
      <p:sp>
        <p:nvSpPr>
          <p:cNvPr id="461" name="Google Shape;461;p43"/>
          <p:cNvSpPr txBox="1"/>
          <p:nvPr>
            <p:ph idx="1" type="body"/>
          </p:nvPr>
        </p:nvSpPr>
        <p:spPr>
          <a:xfrm>
            <a:off x="554133" y="2082844"/>
            <a:ext cx="15147600" cy="60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Realizar ao menos uma requisição GET, POST, PUT, DELETE</a:t>
            </a:r>
            <a:endParaRPr/>
          </a:p>
          <a:p>
            <a:pPr indent="-4826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API para desafio: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https://reqres.in/</a:t>
            </a:r>
            <a:endParaRPr/>
          </a:p>
          <a:p>
            <a:pPr indent="-4826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Aplicar validação de Status code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pt-BR"/>
              <a:t>Boa Sorte!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