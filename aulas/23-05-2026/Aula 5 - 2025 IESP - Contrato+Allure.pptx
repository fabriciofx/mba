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i0IP9G9w2aSpEvLwO8rsam85w0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4203a831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e4203a83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2" name="Google Shape;1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3"/>
          <p:cNvSpPr txBox="1"/>
          <p:nvPr>
            <p:ph type="title"/>
          </p:nvPr>
        </p:nvSpPr>
        <p:spPr>
          <a:xfrm>
            <a:off x="685800" y="3308581"/>
            <a:ext cx="10131427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" type="body"/>
          </p:nvPr>
        </p:nvSpPr>
        <p:spPr>
          <a:xfrm>
            <a:off x="685799" y="4777381"/>
            <a:ext cx="1013142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3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3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9" name="Google Shape;19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4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type="title"/>
          </p:nvPr>
        </p:nvSpPr>
        <p:spPr>
          <a:xfrm>
            <a:off x="415600" y="593367"/>
            <a:ext cx="113607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" type="body"/>
          </p:nvPr>
        </p:nvSpPr>
        <p:spPr>
          <a:xfrm>
            <a:off x="415600" y="1562133"/>
            <a:ext cx="11360700" cy="45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TitleHD.png" id="30" name="Google Shape;3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6"/>
          <p:cNvSpPr txBox="1"/>
          <p:nvPr>
            <p:ph type="ctrTitle"/>
          </p:nvPr>
        </p:nvSpPr>
        <p:spPr>
          <a:xfrm>
            <a:off x="3962399" y="1964267"/>
            <a:ext cx="7197726" cy="24214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" type="subTitle"/>
          </p:nvPr>
        </p:nvSpPr>
        <p:spPr>
          <a:xfrm>
            <a:off x="3962399" y="4385732"/>
            <a:ext cx="7197726" cy="1405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10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26"/>
          <p:cNvSpPr txBox="1"/>
          <p:nvPr>
            <p:ph idx="10" type="dt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11" type="ftr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2" type="sldNum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37" name="Google Shape;37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7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" type="body"/>
          </p:nvPr>
        </p:nvSpPr>
        <p:spPr>
          <a:xfrm>
            <a:off x="685802" y="2142067"/>
            <a:ext cx="4995334" cy="3649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2" type="body"/>
          </p:nvPr>
        </p:nvSpPr>
        <p:spPr>
          <a:xfrm>
            <a:off x="5821895" y="2142067"/>
            <a:ext cx="4995332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7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973670" y="2218267"/>
            <a:ext cx="470905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sz="2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8"/>
          <p:cNvSpPr txBox="1"/>
          <p:nvPr>
            <p:ph idx="2" type="body"/>
          </p:nvPr>
        </p:nvSpPr>
        <p:spPr>
          <a:xfrm>
            <a:off x="685801" y="2870201"/>
            <a:ext cx="4996923" cy="2920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3" type="body"/>
          </p:nvPr>
        </p:nvSpPr>
        <p:spPr>
          <a:xfrm>
            <a:off x="6096003" y="2226734"/>
            <a:ext cx="47228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sz="2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8"/>
          <p:cNvSpPr txBox="1"/>
          <p:nvPr>
            <p:ph idx="4" type="body"/>
          </p:nvPr>
        </p:nvSpPr>
        <p:spPr>
          <a:xfrm>
            <a:off x="5823483" y="2870201"/>
            <a:ext cx="4995334" cy="2920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8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54" name="Google Shape;54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9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9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60" name="Google Shape;6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0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0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65" name="Google Shape;6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1"/>
          <p:cNvSpPr txBox="1"/>
          <p:nvPr>
            <p:ph type="title"/>
          </p:nvPr>
        </p:nvSpPr>
        <p:spPr>
          <a:xfrm>
            <a:off x="685800" y="2074333"/>
            <a:ext cx="368088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" type="body"/>
          </p:nvPr>
        </p:nvSpPr>
        <p:spPr>
          <a:xfrm>
            <a:off x="4648201" y="609601"/>
            <a:ext cx="6169026" cy="5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31"/>
          <p:cNvSpPr txBox="1"/>
          <p:nvPr>
            <p:ph idx="2" type="body"/>
          </p:nvPr>
        </p:nvSpPr>
        <p:spPr>
          <a:xfrm>
            <a:off x="685800" y="3445933"/>
            <a:ext cx="368088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1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73" name="Google Shape;73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2"/>
          <p:cNvSpPr txBox="1"/>
          <p:nvPr>
            <p:ph type="title"/>
          </p:nvPr>
        </p:nvSpPr>
        <p:spPr>
          <a:xfrm>
            <a:off x="685800" y="1600200"/>
            <a:ext cx="6164653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2"/>
          <p:cNvSpPr/>
          <p:nvPr>
            <p:ph idx="2" type="pic"/>
          </p:nvPr>
        </p:nvSpPr>
        <p:spPr>
          <a:xfrm>
            <a:off x="7536253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sq" cmpd="dbl" w="508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42745"/>
              </a:srgbClr>
            </a:outerShdw>
          </a:effectLst>
        </p:spPr>
      </p:sp>
      <p:sp>
        <p:nvSpPr>
          <p:cNvPr id="76" name="Google Shape;76;p32"/>
          <p:cNvSpPr txBox="1"/>
          <p:nvPr>
            <p:ph idx="1" type="body"/>
          </p:nvPr>
        </p:nvSpPr>
        <p:spPr>
          <a:xfrm>
            <a:off x="685800" y="2971800"/>
            <a:ext cx="6164653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Panorâmica com Legenda">
  <p:cSld name="Foto Panorâmica com Legenda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81" name="Google Shape;81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3"/>
          <p:cNvSpPr txBox="1"/>
          <p:nvPr>
            <p:ph type="title"/>
          </p:nvPr>
        </p:nvSpPr>
        <p:spPr>
          <a:xfrm>
            <a:off x="685800" y="4732865"/>
            <a:ext cx="1013142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3"/>
          <p:cNvSpPr/>
          <p:nvPr>
            <p:ph idx="2" type="pic"/>
          </p:nvPr>
        </p:nvSpPr>
        <p:spPr>
          <a:xfrm>
            <a:off x="1371600" y="932112"/>
            <a:ext cx="8759827" cy="3164976"/>
          </a:xfrm>
          <a:prstGeom prst="roundRect">
            <a:avLst>
              <a:gd fmla="val 4380" name="adj"/>
            </a:avLst>
          </a:prstGeom>
          <a:noFill/>
          <a:ln cap="sq" cmpd="dbl" w="508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42745"/>
              </a:srgbClr>
            </a:outerShdw>
          </a:effectLst>
        </p:spPr>
      </p:sp>
      <p:sp>
        <p:nvSpPr>
          <p:cNvPr id="84" name="Google Shape;84;p33"/>
          <p:cNvSpPr txBox="1"/>
          <p:nvPr>
            <p:ph idx="1" type="body"/>
          </p:nvPr>
        </p:nvSpPr>
        <p:spPr>
          <a:xfrm>
            <a:off x="685800" y="5299603"/>
            <a:ext cx="10131427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5" name="Google Shape;85;p33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3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3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Legenda">
  <p:cSld name="Título e Legenda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89" name="Google Shape;89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4"/>
          <p:cNvSpPr txBox="1"/>
          <p:nvPr>
            <p:ph type="title"/>
          </p:nvPr>
        </p:nvSpPr>
        <p:spPr>
          <a:xfrm>
            <a:off x="685801" y="609601"/>
            <a:ext cx="10131427" cy="3124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4"/>
          <p:cNvSpPr txBox="1"/>
          <p:nvPr>
            <p:ph idx="1" type="body"/>
          </p:nvPr>
        </p:nvSpPr>
        <p:spPr>
          <a:xfrm>
            <a:off x="685800" y="4343400"/>
            <a:ext cx="10131428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34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4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4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ção com Legenda">
  <p:cSld name="Citação com Legenda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96" name="Google Shape;96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5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b="0" lang="pt-BR" sz="80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98" name="Google Shape;98;p35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b="0" lang="pt-BR" sz="80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/>
          </a:p>
        </p:txBody>
      </p:sp>
      <p:sp>
        <p:nvSpPr>
          <p:cNvPr id="99" name="Google Shape;99;p35"/>
          <p:cNvSpPr txBox="1"/>
          <p:nvPr>
            <p:ph type="title"/>
          </p:nvPr>
        </p:nvSpPr>
        <p:spPr>
          <a:xfrm>
            <a:off x="992267" y="609601"/>
            <a:ext cx="9550399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b="0" sz="320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5"/>
          <p:cNvSpPr txBox="1"/>
          <p:nvPr>
            <p:ph idx="1" type="body"/>
          </p:nvPr>
        </p:nvSpPr>
        <p:spPr>
          <a:xfrm>
            <a:off x="1097875" y="3352800"/>
            <a:ext cx="933918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alibri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alibri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alibri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35"/>
          <p:cNvSpPr txBox="1"/>
          <p:nvPr>
            <p:ph idx="2" type="body"/>
          </p:nvPr>
        </p:nvSpPr>
        <p:spPr>
          <a:xfrm>
            <a:off x="687465" y="4343400"/>
            <a:ext cx="10152367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" name="Google Shape;102;p35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5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5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tão de Nome">
  <p:cSld name="Cartão de Nome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06" name="Google Shape;106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6"/>
          <p:cNvSpPr txBox="1"/>
          <p:nvPr>
            <p:ph type="title"/>
          </p:nvPr>
        </p:nvSpPr>
        <p:spPr>
          <a:xfrm>
            <a:off x="685802" y="3308581"/>
            <a:ext cx="10131425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6"/>
          <p:cNvSpPr txBox="1"/>
          <p:nvPr>
            <p:ph idx="1" type="body"/>
          </p:nvPr>
        </p:nvSpPr>
        <p:spPr>
          <a:xfrm>
            <a:off x="685801" y="4777381"/>
            <a:ext cx="10131426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36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6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6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r o Cartão de Nome">
  <p:cSld name="Citar o Cartão de Nome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13" name="Google Shape;113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7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b="0" lang="pt-BR" sz="80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15" name="Google Shape;115;p37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b="0" lang="pt-BR" sz="80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/>
          </a:p>
        </p:txBody>
      </p:sp>
      <p:sp>
        <p:nvSpPr>
          <p:cNvPr id="116" name="Google Shape;116;p37"/>
          <p:cNvSpPr txBox="1"/>
          <p:nvPr>
            <p:ph type="title"/>
          </p:nvPr>
        </p:nvSpPr>
        <p:spPr>
          <a:xfrm>
            <a:off x="992267" y="609601"/>
            <a:ext cx="9550399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b="0" sz="320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7"/>
          <p:cNvSpPr txBox="1"/>
          <p:nvPr>
            <p:ph idx="1" type="body"/>
          </p:nvPr>
        </p:nvSpPr>
        <p:spPr>
          <a:xfrm>
            <a:off x="685800" y="3886200"/>
            <a:ext cx="10135436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400"/>
              <a:buNone/>
              <a:defRPr b="0" sz="2400" cap="none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37"/>
          <p:cNvSpPr txBox="1"/>
          <p:nvPr>
            <p:ph idx="2" type="body"/>
          </p:nvPr>
        </p:nvSpPr>
        <p:spPr>
          <a:xfrm>
            <a:off x="685799" y="4775200"/>
            <a:ext cx="10135436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37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7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7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dadeiro ou Falso">
  <p:cSld name="Verdadeiro ou Falso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23" name="Google Shape;123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8"/>
          <p:cNvSpPr txBox="1"/>
          <p:nvPr>
            <p:ph type="title"/>
          </p:nvPr>
        </p:nvSpPr>
        <p:spPr>
          <a:xfrm>
            <a:off x="685801" y="609601"/>
            <a:ext cx="10131427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8"/>
          <p:cNvSpPr txBox="1"/>
          <p:nvPr>
            <p:ph idx="1" type="body"/>
          </p:nvPr>
        </p:nvSpPr>
        <p:spPr>
          <a:xfrm>
            <a:off x="685801" y="3505200"/>
            <a:ext cx="10131428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sz="2800" cap="none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38"/>
          <p:cNvSpPr txBox="1"/>
          <p:nvPr>
            <p:ph idx="2" type="body"/>
          </p:nvPr>
        </p:nvSpPr>
        <p:spPr>
          <a:xfrm>
            <a:off x="685800" y="4343400"/>
            <a:ext cx="10131428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38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8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8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31" name="Google Shape;131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9"/>
          <p:cNvSpPr txBox="1"/>
          <p:nvPr>
            <p:ph idx="1" type="body"/>
          </p:nvPr>
        </p:nvSpPr>
        <p:spPr>
          <a:xfrm rot="5400000">
            <a:off x="3926947" y="-1099079"/>
            <a:ext cx="3649133" cy="10131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39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9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9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6" name="Google Shape;136;p39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38" name="Google Shape;138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40"/>
          <p:cNvSpPr txBox="1"/>
          <p:nvPr>
            <p:ph type="title"/>
          </p:nvPr>
        </p:nvSpPr>
        <p:spPr>
          <a:xfrm rot="5400000">
            <a:off x="7147151" y="2121124"/>
            <a:ext cx="5181601" cy="2158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40"/>
          <p:cNvSpPr txBox="1"/>
          <p:nvPr>
            <p:ph idx="1" type="body"/>
          </p:nvPr>
        </p:nvSpPr>
        <p:spPr>
          <a:xfrm rot="5400000">
            <a:off x="2011058" y="-715658"/>
            <a:ext cx="5181600" cy="78321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40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40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40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b="0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json-schema.org/draft-06/json-schema-release-notes.html" TargetMode="External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serverest.dev/#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"/>
          <p:cNvSpPr txBox="1"/>
          <p:nvPr>
            <p:ph type="title"/>
          </p:nvPr>
        </p:nvSpPr>
        <p:spPr>
          <a:xfrm>
            <a:off x="842275" y="2513500"/>
            <a:ext cx="90219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1" lang="pt-BR"/>
              <a:t>AULA: AUTOMAÇÃO DE TESTES DE API REST COM JAVA, JUNIT E RESTASSURED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>
            <p:ph type="title"/>
          </p:nvPr>
        </p:nvSpPr>
        <p:spPr>
          <a:xfrm>
            <a:off x="685799" y="1150076"/>
            <a:ext cx="3659389" cy="45578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pt-BR"/>
              <a:t>INTRODUÇÃO</a:t>
            </a:r>
            <a:endParaRPr/>
          </a:p>
        </p:txBody>
      </p:sp>
      <p:cxnSp>
        <p:nvCxnSpPr>
          <p:cNvPr id="155" name="Google Shape;155;p2"/>
          <p:cNvCxnSpPr/>
          <p:nvPr/>
        </p:nvCxnSpPr>
        <p:spPr>
          <a:xfrm>
            <a:off x="4666923" y="1668780"/>
            <a:ext cx="0" cy="352044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2"/>
          <p:cNvSpPr txBox="1"/>
          <p:nvPr>
            <p:ph idx="1" type="body"/>
          </p:nvPr>
        </p:nvSpPr>
        <p:spPr>
          <a:xfrm>
            <a:off x="4988658" y="1150076"/>
            <a:ext cx="6517543" cy="45578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pt-BR" sz="2400"/>
              <a:t>Objetivo:</a:t>
            </a:r>
            <a:r>
              <a:rPr lang="pt-BR" sz="2400"/>
              <a:t> Demonstrar como realizar automação de testes em APIs REST utilizando Java com JUnit e RestAssured.</a:t>
            </a:r>
            <a:endParaRPr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pt-BR" sz="2400"/>
              <a:t>Benefícios:</a:t>
            </a:r>
            <a:endParaRPr sz="2400"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pt-BR" sz="2000"/>
              <a:t>Detecção rápida de falhas;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pt-BR" sz="2000"/>
              <a:t>Aumento na </a:t>
            </a:r>
            <a:r>
              <a:rPr lang="pt-BR" sz="2400"/>
              <a:t>qualidade</a:t>
            </a:r>
            <a:r>
              <a:rPr lang="pt-BR" sz="2000"/>
              <a:t> do software;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1000"/>
              </a:spcAft>
              <a:buSzPts val="2000"/>
              <a:buFont typeface="Arial"/>
              <a:buChar char="•"/>
            </a:pPr>
            <a:r>
              <a:rPr lang="pt-BR" sz="2000"/>
              <a:t>Agilidade no processo de desenvolvimento.</a:t>
            </a:r>
            <a:endParaRPr/>
          </a:p>
        </p:txBody>
      </p:sp>
      <p:sp>
        <p:nvSpPr>
          <p:cNvPr id="157" name="Google Shape;157;p2"/>
          <p:cNvSpPr txBox="1"/>
          <p:nvPr/>
        </p:nvSpPr>
        <p:spPr>
          <a:xfrm>
            <a:off x="1540937" y="5838944"/>
            <a:ext cx="748452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https://github.com/prof2131/lojavirtualtest.git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pt-BR"/>
              <a:t>ESTRUTURA DO PROJETO</a:t>
            </a:r>
            <a:endParaRPr/>
          </a:p>
        </p:txBody>
      </p:sp>
      <p:pic>
        <p:nvPicPr>
          <p:cNvPr descr="Texto&#10;&#10;O conteúdo gerado por IA pode estar incorreto." id="163" name="Google Shape;163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5519" y="2029979"/>
            <a:ext cx="6270744" cy="4008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pt-BR"/>
              <a:t>BASETEST</a:t>
            </a:r>
            <a:endParaRPr/>
          </a:p>
        </p:txBody>
      </p:sp>
      <p:pic>
        <p:nvPicPr>
          <p:cNvPr descr="Texto&#10;&#10;O conteúdo gerado por IA pode estar incorreto." id="169" name="Google Shape;169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2604" y="1584240"/>
            <a:ext cx="10279395" cy="5128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pt-BR"/>
              <a:t>CADASTRO NOVO USUÁRIO</a:t>
            </a:r>
            <a:endParaRPr/>
          </a:p>
        </p:txBody>
      </p:sp>
      <p:sp>
        <p:nvSpPr>
          <p:cNvPr id="175" name="Google Shape;175;p5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71450" lvl="0" marL="28575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Tela de computador com texto preto sobre fundo branco&#10;&#10;O conteúdo gerado por IA pode estar incorreto." id="176" name="Google Shape;17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07875"/>
            <a:ext cx="12402867" cy="2995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pt-BR"/>
              <a:t>BOAS PRÁTICAS</a:t>
            </a:r>
            <a:endParaRPr/>
          </a:p>
        </p:txBody>
      </p:sp>
      <p:sp>
        <p:nvSpPr>
          <p:cNvPr id="182" name="Google Shape;182;p6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pt-BR" sz="2800"/>
              <a:t>Testes independentes e repetíveis;</a:t>
            </a:r>
            <a:endParaRPr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pt-BR" sz="2800"/>
              <a:t>Utilizar asserts claros e objetivos;</a:t>
            </a:r>
            <a:endParaRPr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pt-BR" sz="2800"/>
              <a:t>Integrar a execução na pipeline CI/CD.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 txBox="1"/>
          <p:nvPr>
            <p:ph type="title"/>
          </p:nvPr>
        </p:nvSpPr>
        <p:spPr>
          <a:xfrm>
            <a:off x="1117600" y="486833"/>
            <a:ext cx="14020800" cy="17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pt-BR"/>
              <a:t>TESTE DE CONTRATO</a:t>
            </a:r>
            <a:endParaRPr/>
          </a:p>
        </p:txBody>
      </p:sp>
      <p:sp>
        <p:nvSpPr>
          <p:cNvPr id="188" name="Google Shape;188;p7"/>
          <p:cNvSpPr txBox="1"/>
          <p:nvPr>
            <p:ph idx="1" type="body"/>
          </p:nvPr>
        </p:nvSpPr>
        <p:spPr>
          <a:xfrm>
            <a:off x="1117600" y="2434167"/>
            <a:ext cx="14020800" cy="58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89" name="Google Shape;18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6067" y="2202867"/>
            <a:ext cx="3976667" cy="3976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lt1"/>
          </a:solidFill>
          <a:ln cap="rnd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6716" y="857250"/>
            <a:ext cx="8915400" cy="600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pt-BR"/>
              <a:t>TESTE DE CONTRATO</a:t>
            </a:r>
            <a:endParaRPr/>
          </a:p>
        </p:txBody>
      </p:sp>
      <p:sp>
        <p:nvSpPr>
          <p:cNvPr id="201" name="Google Shape;201;p9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9100" lvl="0" marL="609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Tem como objetivo garantir que o conteúdo fornecido não tenha sido modificado, podemos dizer que tem a finalidade de validar se o contrato acordado foi ou não quebrado; deve validar se o schema permanece o mesmo garantindo assim a integridade dos dados na comunicação entre client/server;</a:t>
            </a:r>
            <a:endParaRPr/>
          </a:p>
          <a:p>
            <a:pPr indent="0" lvl="0" marL="190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4191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É possível validar se os dados continuam do mesmo tipo, como os valores limites, a restrição de valores recebidos, se a estrutura foi ou não modificada, etc.</a:t>
            </a:r>
            <a:endParaRPr/>
          </a:p>
          <a:p>
            <a:pPr indent="0" lvl="0" marL="609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/>
          <p:nvPr>
            <p:ph type="title"/>
          </p:nvPr>
        </p:nvSpPr>
        <p:spPr>
          <a:xfrm>
            <a:off x="554133" y="791156"/>
            <a:ext cx="15147600" cy="10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pt-BR"/>
              <a:t>EXEMPLO</a:t>
            </a:r>
            <a:endParaRPr/>
          </a:p>
        </p:txBody>
      </p:sp>
      <p:sp>
        <p:nvSpPr>
          <p:cNvPr id="207" name="Google Shape;207;p10"/>
          <p:cNvSpPr txBox="1"/>
          <p:nvPr>
            <p:ph idx="1" type="body"/>
          </p:nvPr>
        </p:nvSpPr>
        <p:spPr>
          <a:xfrm>
            <a:off x="0" y="1957145"/>
            <a:ext cx="15147600" cy="60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pt-BR" sz="1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https://json-schema.org/draft-06/json-schema-release-notes.html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pt-BR" sz="1900">
                <a:latin typeface="Arial"/>
                <a:ea typeface="Arial"/>
                <a:cs typeface="Arial"/>
                <a:sym typeface="Arial"/>
              </a:rPr>
              <a:t>https://jsonformatter.org/json-to-jsonschema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exto&#10;&#10;O conteúdo gerado por IA pode estar incorreto." id="208" name="Google Shape;208;p10"/>
          <p:cNvPicPr preferRelativeResize="0"/>
          <p:nvPr/>
        </p:nvPicPr>
        <p:blipFill rotWithShape="1">
          <a:blip r:embed="rId4">
            <a:alphaModFix/>
          </a:blip>
          <a:srcRect b="0" l="2557" r="0" t="4979"/>
          <a:stretch/>
        </p:blipFill>
        <p:spPr>
          <a:xfrm>
            <a:off x="1557867" y="3429000"/>
            <a:ext cx="3871383" cy="29082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o&#10;&#10;O conteúdo gerado por IA pode estar incorreto." id="209" name="Google Shape;20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04415" y="2455333"/>
            <a:ext cx="6347315" cy="425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4203a831a_0_0"/>
          <p:cNvSpPr txBox="1"/>
          <p:nvPr>
            <p:ph type="title"/>
          </p:nvPr>
        </p:nvSpPr>
        <p:spPr>
          <a:xfrm>
            <a:off x="415600" y="593367"/>
            <a:ext cx="11360700" cy="817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e4203a831a_0_0"/>
          <p:cNvSpPr txBox="1"/>
          <p:nvPr>
            <p:ph idx="1" type="body"/>
          </p:nvPr>
        </p:nvSpPr>
        <p:spPr>
          <a:xfrm>
            <a:off x="415600" y="1562133"/>
            <a:ext cx="11360700" cy="452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g3e4203a831a_0_0" title="Captura de Tela 2026-05-23 às 08.08.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0" y="1128701"/>
            <a:ext cx="12191999" cy="3683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pt-BR"/>
              <a:t>CONCLUSÃO</a:t>
            </a:r>
            <a:endParaRPr/>
          </a:p>
        </p:txBody>
      </p:sp>
      <p:sp>
        <p:nvSpPr>
          <p:cNvPr id="222" name="Google Shape;222;p11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2400"/>
              <a:t>Automatizar testes com RestAssured, JUnit e JSON Schema Validator:</a:t>
            </a:r>
            <a:endParaRPr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pt-BR" sz="2400"/>
              <a:t>Melhora a confiabilidade do sistema;</a:t>
            </a:r>
            <a:endParaRPr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pt-BR" sz="2400"/>
              <a:t>Reduz tempo em atividades repetitivas;</a:t>
            </a:r>
            <a:endParaRPr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pt-BR" sz="2400"/>
              <a:t>Facilita a manutenção futura das APIs;</a:t>
            </a:r>
            <a:endParaRPr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pt-BR" sz="2400"/>
              <a:t>Garantia do contrato API reduzindo erros de integração.</a:t>
            </a:r>
            <a:endParaRPr/>
          </a:p>
          <a:p>
            <a:pPr indent="-171450" lvl="0" marL="28575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243012"/>
            <a:ext cx="7772400" cy="437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 txBox="1"/>
          <p:nvPr>
            <p:ph type="title"/>
          </p:nvPr>
        </p:nvSpPr>
        <p:spPr>
          <a:xfrm>
            <a:off x="685799" y="1150076"/>
            <a:ext cx="3659389" cy="45578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pt-BR"/>
              <a:t>INTRODUÇÃO AO ALLURE</a:t>
            </a:r>
            <a:endParaRPr/>
          </a:p>
        </p:txBody>
      </p:sp>
      <p:cxnSp>
        <p:nvCxnSpPr>
          <p:cNvPr id="235" name="Google Shape;235;p13"/>
          <p:cNvCxnSpPr/>
          <p:nvPr/>
        </p:nvCxnSpPr>
        <p:spPr>
          <a:xfrm>
            <a:off x="4666923" y="1668780"/>
            <a:ext cx="0" cy="352044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13"/>
          <p:cNvSpPr txBox="1"/>
          <p:nvPr>
            <p:ph idx="1" type="body"/>
          </p:nvPr>
        </p:nvSpPr>
        <p:spPr>
          <a:xfrm>
            <a:off x="4988658" y="1150076"/>
            <a:ext cx="6517543" cy="45578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SzPts val="2800"/>
              <a:buChar char="•"/>
            </a:pPr>
            <a:r>
              <a:rPr lang="pt-BR" sz="2800"/>
              <a:t>Allure é uma ferramenta poderosa para gerar relatórios detalhados e interativos para testes automatizados. É amplamente utilizado em testes de API backend para facilitar a visualização e análise dos resultados.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"/>
          <p:cNvSpPr txBox="1"/>
          <p:nvPr>
            <p:ph type="title"/>
          </p:nvPr>
        </p:nvSpPr>
        <p:spPr>
          <a:xfrm>
            <a:off x="415600" y="593367"/>
            <a:ext cx="113607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2" name="Google Shape;242;p14"/>
          <p:cNvSpPr txBox="1"/>
          <p:nvPr>
            <p:ph idx="1" type="body"/>
          </p:nvPr>
        </p:nvSpPr>
        <p:spPr>
          <a:xfrm>
            <a:off x="415600" y="1562133"/>
            <a:ext cx="11360700" cy="45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43" name="Google Shape;24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5"/>
          <p:cNvSpPr txBox="1"/>
          <p:nvPr>
            <p:ph type="title"/>
          </p:nvPr>
        </p:nvSpPr>
        <p:spPr>
          <a:xfrm>
            <a:off x="685801" y="609600"/>
            <a:ext cx="5219699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pt-BR"/>
              <a:t>CONFIGURAÇÃO DO AMBIENTE</a:t>
            </a:r>
            <a:endParaRPr/>
          </a:p>
        </p:txBody>
      </p:sp>
      <p:sp>
        <p:nvSpPr>
          <p:cNvPr id="250" name="Google Shape;250;p15"/>
          <p:cNvSpPr txBox="1"/>
          <p:nvPr>
            <p:ph idx="1" type="body"/>
          </p:nvPr>
        </p:nvSpPr>
        <p:spPr>
          <a:xfrm>
            <a:off x="685801" y="2142067"/>
            <a:ext cx="5219699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92100" lvl="0" marL="457200" rtl="0" algn="l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Texto&#10;&#10;O conteúdo gerado por IA pode estar incorreto." id="251" name="Google Shape;251;p15"/>
          <p:cNvPicPr preferRelativeResize="0"/>
          <p:nvPr/>
        </p:nvPicPr>
        <p:blipFill rotWithShape="1">
          <a:blip r:embed="rId5">
            <a:alphaModFix/>
          </a:blip>
          <a:srcRect b="-1" l="0" r="40865" t="0"/>
          <a:stretch/>
        </p:blipFill>
        <p:spPr>
          <a:xfrm>
            <a:off x="5194081" y="115772"/>
            <a:ext cx="6994744" cy="6742227"/>
          </a:xfrm>
          <a:prstGeom prst="roundRect">
            <a:avLst>
              <a:gd fmla="val 4380" name="adj"/>
            </a:avLst>
          </a:prstGeom>
          <a:noFill/>
          <a:ln cap="sq" cmpd="dbl" w="508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"/>
          <p:cNvSpPr txBox="1"/>
          <p:nvPr>
            <p:ph type="title"/>
          </p:nvPr>
        </p:nvSpPr>
        <p:spPr>
          <a:xfrm>
            <a:off x="415600" y="593367"/>
            <a:ext cx="113607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pt-BR"/>
              <a:t>CONTRATOTEST.JAVA</a:t>
            </a:r>
            <a:endParaRPr/>
          </a:p>
        </p:txBody>
      </p:sp>
      <p:sp>
        <p:nvSpPr>
          <p:cNvPr id="257" name="Google Shape;257;p16"/>
          <p:cNvSpPr txBox="1"/>
          <p:nvPr>
            <p:ph idx="1" type="body"/>
          </p:nvPr>
        </p:nvSpPr>
        <p:spPr>
          <a:xfrm>
            <a:off x="415600" y="1562133"/>
            <a:ext cx="11360700" cy="45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Interface gráfica do usuário, Texto, Aplicativo&#10;&#10;O conteúdo gerado por IA pode estar incorreto." id="258" name="Google Shape;25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600" y="1562133"/>
            <a:ext cx="11278029" cy="452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7"/>
          <p:cNvSpPr txBox="1"/>
          <p:nvPr>
            <p:ph type="title"/>
          </p:nvPr>
        </p:nvSpPr>
        <p:spPr>
          <a:xfrm>
            <a:off x="415600" y="593367"/>
            <a:ext cx="113607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pt-BR"/>
              <a:t>COMO USAR TAGS NOS CASOS DE TESTES</a:t>
            </a:r>
            <a:endParaRPr/>
          </a:p>
        </p:txBody>
      </p:sp>
      <p:sp>
        <p:nvSpPr>
          <p:cNvPr id="264" name="Google Shape;264;p17"/>
          <p:cNvSpPr txBox="1"/>
          <p:nvPr>
            <p:ph idx="1" type="body"/>
          </p:nvPr>
        </p:nvSpPr>
        <p:spPr>
          <a:xfrm>
            <a:off x="415600" y="1562133"/>
            <a:ext cx="11360700" cy="45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pt-BR"/>
              <a:t>O Allure fornece anotações úteis para categorizar e detalhar testes: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1" lang="pt-BR"/>
              <a:t>@Epic:</a:t>
            </a:r>
            <a:r>
              <a:rPr lang="pt-BR"/>
              <a:t> Define a temática geral dos testes.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1" lang="pt-BR"/>
              <a:t>@Feature:</a:t>
            </a:r>
            <a:r>
              <a:rPr lang="pt-BR"/>
              <a:t> Define funcionalidades específicas.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1" lang="pt-BR"/>
              <a:t>@Story:</a:t>
            </a:r>
            <a:r>
              <a:rPr lang="pt-BR"/>
              <a:t> Define cenários de negócios ou casos específicos.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1" lang="pt-BR"/>
              <a:t>@Severity:</a:t>
            </a:r>
            <a:r>
              <a:rPr lang="pt-BR"/>
              <a:t> Define prioridade dos testes (CRITICAL, NORMAL, MINOR).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1" lang="pt-BR"/>
              <a:t>@Description:</a:t>
            </a:r>
            <a:r>
              <a:rPr lang="pt-BR"/>
              <a:t> Documenta detalhes do teste.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8"/>
          <p:cNvSpPr txBox="1"/>
          <p:nvPr>
            <p:ph type="title"/>
          </p:nvPr>
        </p:nvSpPr>
        <p:spPr>
          <a:xfrm>
            <a:off x="7919015" y="236885"/>
            <a:ext cx="3903739" cy="1182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pt-BR" sz="2500"/>
              <a:t>EXEMPLO DE USO DAS TAGS</a:t>
            </a:r>
            <a:endParaRPr sz="2500"/>
          </a:p>
        </p:txBody>
      </p:sp>
      <p:pic>
        <p:nvPicPr>
          <p:cNvPr descr="Texto&#10;&#10;O conteúdo gerado por IA pode estar incorreto." id="271" name="Google Shape;271;p18"/>
          <p:cNvPicPr preferRelativeResize="0"/>
          <p:nvPr/>
        </p:nvPicPr>
        <p:blipFill rotWithShape="1">
          <a:blip r:embed="rId5">
            <a:alphaModFix/>
          </a:blip>
          <a:srcRect b="-2" l="0" r="37499" t="0"/>
          <a:stretch/>
        </p:blipFill>
        <p:spPr>
          <a:xfrm>
            <a:off x="0" y="467553"/>
            <a:ext cx="6521096" cy="5921108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8"/>
          <p:cNvSpPr txBox="1"/>
          <p:nvPr/>
        </p:nvSpPr>
        <p:spPr>
          <a:xfrm>
            <a:off x="6713622" y="1656611"/>
            <a:ext cx="5528320" cy="45858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lang="pt-BR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Allure fornece anotações úteis para categorizar e detalhar testes: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1" i="0" lang="pt-BR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@Epic:</a:t>
            </a:r>
            <a:r>
              <a:rPr b="0" i="0" lang="pt-BR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Define a temática geral dos testes.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1" i="0" lang="pt-BR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@Feature:</a:t>
            </a:r>
            <a:r>
              <a:rPr b="0" i="0" lang="pt-BR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Define funcionalidades específicas.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1" i="0" lang="pt-BR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@Story:</a:t>
            </a:r>
            <a:r>
              <a:rPr b="0" i="0" lang="pt-BR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Define cenários de negócios ou casos específicos.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1" i="0" lang="pt-BR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@Severity:</a:t>
            </a:r>
            <a:r>
              <a:rPr b="0" i="0" lang="pt-BR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Define prioridade dos testes (CRITICAL, NORMAL, MINOR).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1" i="0" lang="pt-BR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@Description:</a:t>
            </a:r>
            <a:r>
              <a:rPr b="0" i="0" lang="pt-BR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Documenta detalhes do teste.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9"/>
          <p:cNvSpPr txBox="1"/>
          <p:nvPr>
            <p:ph type="title"/>
          </p:nvPr>
        </p:nvSpPr>
        <p:spPr>
          <a:xfrm>
            <a:off x="415600" y="593367"/>
            <a:ext cx="113607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pt-BR"/>
              <a:t>COMO ADICIONAR LOGS AOS CASOS DE TESTES</a:t>
            </a:r>
            <a:endParaRPr/>
          </a:p>
        </p:txBody>
      </p:sp>
      <p:sp>
        <p:nvSpPr>
          <p:cNvPr id="278" name="Google Shape;278;p19"/>
          <p:cNvSpPr txBox="1"/>
          <p:nvPr>
            <p:ph idx="1" type="body"/>
          </p:nvPr>
        </p:nvSpPr>
        <p:spPr>
          <a:xfrm>
            <a:off x="415600" y="1562133"/>
            <a:ext cx="11360700" cy="45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Texto&#10;&#10;O conteúdo gerado por IA pode estar incorreto." id="279" name="Google Shape;2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159" y="2239466"/>
            <a:ext cx="10779582" cy="3568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0"/>
          <p:cNvSpPr txBox="1"/>
          <p:nvPr>
            <p:ph type="title"/>
          </p:nvPr>
        </p:nvSpPr>
        <p:spPr>
          <a:xfrm>
            <a:off x="415600" y="593367"/>
            <a:ext cx="113607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pt-BR"/>
              <a:t>EXIBINDO RELATÓRIOS DO ALLURE</a:t>
            </a:r>
            <a:endParaRPr/>
          </a:p>
        </p:txBody>
      </p:sp>
      <p:sp>
        <p:nvSpPr>
          <p:cNvPr id="285" name="Google Shape;285;p20"/>
          <p:cNvSpPr txBox="1"/>
          <p:nvPr>
            <p:ph idx="1" type="body"/>
          </p:nvPr>
        </p:nvSpPr>
        <p:spPr>
          <a:xfrm>
            <a:off x="415600" y="1562133"/>
            <a:ext cx="11360700" cy="45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pt-BR" sz="3200"/>
              <a:t>Execute os testes e gere o relatório: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pt-BR" sz="2800"/>
              <a:t>mvn clean test</a:t>
            </a:r>
            <a:endParaRPr sz="2800"/>
          </a:p>
          <a:p>
            <a:pPr indent="0" lvl="1" marL="533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800"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pt-BR" sz="2800"/>
              <a:t>Copie a pasta allure-results para o target.</a:t>
            </a:r>
            <a:endParaRPr/>
          </a:p>
          <a:p>
            <a:pPr indent="0" lvl="1" marL="533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800"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pt-BR" sz="2800"/>
              <a:t>mvn allure:serve</a:t>
            </a:r>
            <a:endParaRPr sz="2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1"/>
          <p:cNvSpPr txBox="1"/>
          <p:nvPr>
            <p:ph type="title"/>
          </p:nvPr>
        </p:nvSpPr>
        <p:spPr>
          <a:xfrm>
            <a:off x="554130" y="791150"/>
            <a:ext cx="5066100" cy="10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pt-BR"/>
              <a:t>DESAFIO</a:t>
            </a:r>
            <a:endParaRPr/>
          </a:p>
        </p:txBody>
      </p:sp>
      <p:sp>
        <p:nvSpPr>
          <p:cNvPr id="291" name="Google Shape;291;p21"/>
          <p:cNvSpPr txBox="1"/>
          <p:nvPr>
            <p:ph idx="1" type="body"/>
          </p:nvPr>
        </p:nvSpPr>
        <p:spPr>
          <a:xfrm>
            <a:off x="554133" y="2082844"/>
            <a:ext cx="15147600" cy="60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82600" lvl="0" marL="609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pt-BR"/>
              <a:t>Monte seu grupo e implemente os testes dentro de carrinho onde tenha testes de GET, POST e DELETE</a:t>
            </a:r>
            <a:endParaRPr/>
          </a:p>
          <a:p>
            <a:pPr indent="-482600" lvl="0" marL="609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pt-BR"/>
              <a:t>API para desafio: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https://serverest.dev/#/</a:t>
            </a:r>
            <a:endParaRPr u="sng">
              <a:solidFill>
                <a:schemeClr val="hlink"/>
              </a:solidFill>
            </a:endParaRPr>
          </a:p>
          <a:p>
            <a:pPr indent="-482600" lvl="0" marL="609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pt-BR"/>
              <a:t>Aplicar validação de Status code, teste de contrato e Allure Reports</a:t>
            </a:r>
            <a:endParaRPr/>
          </a:p>
          <a:p>
            <a:pPr indent="-482600" lvl="0" marL="609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pt-BR"/>
              <a:t>Apresentar em sala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pt-BR"/>
              <a:t>Boa Sorte!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elestial">
  <a:themeElements>
    <a:clrScheme name="Celestial">
      <a:dk1>
        <a:srgbClr val="000000"/>
      </a:dk1>
      <a:lt1>
        <a:srgbClr val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